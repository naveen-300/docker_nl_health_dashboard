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246120"/>
            <a:ext cx="12188952"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94960" y="822960"/>
            <a:ext cx="1371600" cy="1188720"/>
          </a:xfrm>
          <a:prstGeom prst="rect">
            <a:avLst/>
          </a:prstGeom>
          <a:noFill/>
        </p:spPr>
        <p:txBody>
          <a:bodyPr wrap="square">
            <a:spAutoFit/>
          </a:bodyPr>
          <a:lstStyle/>
          <a:p>
            <a:pPr algn="ctr"/>
            <a:r>
              <a:rPr sz="6400" b="0" i="0">
                <a:solidFill>
                  <a:srgbClr val="FFFFFF"/>
                </a:solidFill>
              </a:rPr>
              <a:t>🐳</a:t>
            </a:r>
          </a:p>
        </p:txBody>
      </p:sp>
      <p:sp>
        <p:nvSpPr>
          <p:cNvPr id="6" name="TextBox 5"/>
          <p:cNvSpPr txBox="1"/>
          <p:nvPr/>
        </p:nvSpPr>
        <p:spPr>
          <a:xfrm>
            <a:off x="457200" y="2011680"/>
            <a:ext cx="11247120" cy="914400"/>
          </a:xfrm>
          <a:prstGeom prst="rect">
            <a:avLst/>
          </a:prstGeom>
          <a:noFill/>
        </p:spPr>
        <p:txBody>
          <a:bodyPr wrap="square">
            <a:spAutoFit/>
          </a:bodyPr>
          <a:lstStyle/>
          <a:p>
            <a:pPr algn="ctr"/>
            <a:r>
              <a:rPr sz="3800" b="1" i="0">
                <a:solidFill>
                  <a:srgbClr val="FFFFFF"/>
                </a:solidFill>
              </a:rPr>
              <a:t>AI Docker NL Health Dashboard</a:t>
            </a:r>
          </a:p>
        </p:txBody>
      </p:sp>
      <p:sp>
        <p:nvSpPr>
          <p:cNvPr id="7" name="TextBox 6"/>
          <p:cNvSpPr txBox="1"/>
          <p:nvPr/>
        </p:nvSpPr>
        <p:spPr>
          <a:xfrm>
            <a:off x="1371600" y="2971800"/>
            <a:ext cx="9418320" cy="502920"/>
          </a:xfrm>
          <a:prstGeom prst="rect">
            <a:avLst/>
          </a:prstGeom>
          <a:noFill/>
        </p:spPr>
        <p:txBody>
          <a:bodyPr wrap="square">
            <a:spAutoFit/>
          </a:bodyPr>
          <a:lstStyle/>
          <a:p>
            <a:pPr algn="ctr"/>
            <a:r>
              <a:rPr sz="1700" b="0" i="1">
                <a:solidFill>
                  <a:srgbClr val="27AE60"/>
                </a:solidFill>
              </a:rPr>
              <a:t>Intelligent Container Management Through Natural Language</a:t>
            </a:r>
          </a:p>
        </p:txBody>
      </p:sp>
      <p:sp>
        <p:nvSpPr>
          <p:cNvPr id="8" name="TextBox 7"/>
          <p:cNvSpPr txBox="1"/>
          <p:nvPr/>
        </p:nvSpPr>
        <p:spPr>
          <a:xfrm>
            <a:off x="1828800" y="3429000"/>
            <a:ext cx="8531352" cy="457200"/>
          </a:xfrm>
          <a:prstGeom prst="rect">
            <a:avLst/>
          </a:prstGeom>
          <a:noFill/>
        </p:spPr>
        <p:txBody>
          <a:bodyPr wrap="square">
            <a:spAutoFit/>
          </a:bodyPr>
          <a:lstStyle/>
          <a:p>
            <a:pPr algn="ctr"/>
            <a:r>
              <a:rPr sz="1300" b="0" i="0">
                <a:solidFill>
                  <a:srgbClr val="ECF0F1"/>
                </a:solidFill>
              </a:rPr>
              <a:t>Powered by  Groq AI  •  Streamlit  •  Docker SDK  •  Python 3.13</a:t>
            </a:r>
          </a:p>
        </p:txBody>
      </p:sp>
      <p:sp>
        <p:nvSpPr>
          <p:cNvPr id="9" name="TextBox 8"/>
          <p:cNvSpPr txBox="1"/>
          <p:nvPr/>
        </p:nvSpPr>
        <p:spPr>
          <a:xfrm>
            <a:off x="1371600" y="4023360"/>
            <a:ext cx="9445752" cy="457200"/>
          </a:xfrm>
          <a:prstGeom prst="rect">
            <a:avLst/>
          </a:prstGeom>
          <a:noFill/>
        </p:spPr>
        <p:txBody>
          <a:bodyPr wrap="square">
            <a:spAutoFit/>
          </a:bodyPr>
          <a:lstStyle/>
          <a:p>
            <a:pPr algn="ctr"/>
            <a:r>
              <a:rPr sz="1200" b="0" i="1">
                <a:solidFill>
                  <a:srgbClr val="7F8C8D"/>
                </a:solidFill>
              </a:rPr>
              <a:t>A Full-Stack AI Dashboard for Real-Time Docker Monitoring &amp; Control</a:t>
            </a:r>
          </a:p>
        </p:txBody>
      </p:sp>
      <p:sp>
        <p:nvSpPr>
          <p:cNvPr id="10" name="TextBox 9"/>
          <p:cNvSpPr txBox="1"/>
          <p:nvPr/>
        </p:nvSpPr>
        <p:spPr>
          <a:xfrm>
            <a:off x="914400" y="6126480"/>
            <a:ext cx="10360152" cy="365760"/>
          </a:xfrm>
          <a:prstGeom prst="rect">
            <a:avLst/>
          </a:prstGeom>
          <a:noFill/>
        </p:spPr>
        <p:txBody>
          <a:bodyPr wrap="square">
            <a:spAutoFit/>
          </a:bodyPr>
          <a:lstStyle/>
          <a:p>
            <a:pPr algn="ctr"/>
            <a:r>
              <a:rPr sz="1100" b="0" i="0">
                <a:solidFill>
                  <a:srgbClr val="7F8C8D"/>
                </a:solidFill>
              </a:rPr>
              <a:t>Developed by Naveen-300  |  GitHub: Naveen-300/Docker_NL_Health_Dashboard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Table of Contents</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Overview of all 20 presentation slides</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143000"/>
            <a:ext cx="539496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0" y="1143000"/>
            <a:ext cx="594360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0" y="1143000"/>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179576"/>
            <a:ext cx="502920" cy="329184"/>
          </a:xfrm>
          <a:prstGeom prst="rect">
            <a:avLst/>
          </a:prstGeom>
          <a:noFill/>
        </p:spPr>
        <p:txBody>
          <a:bodyPr wrap="square">
            <a:spAutoFit/>
          </a:bodyPr>
          <a:lstStyle/>
          <a:p>
            <a:pPr algn="ctr"/>
            <a:r>
              <a:rPr sz="1100" b="1" i="0">
                <a:solidFill>
                  <a:srgbClr val="FFFFFF"/>
                </a:solidFill>
              </a:rPr>
              <a:t>01</a:t>
            </a:r>
          </a:p>
        </p:txBody>
      </p:sp>
      <p:sp>
        <p:nvSpPr>
          <p:cNvPr id="12" name="TextBox 11"/>
          <p:cNvSpPr txBox="1"/>
          <p:nvPr/>
        </p:nvSpPr>
        <p:spPr>
          <a:xfrm>
            <a:off x="868680" y="1216152"/>
            <a:ext cx="4663440" cy="292608"/>
          </a:xfrm>
          <a:prstGeom prst="rect">
            <a:avLst/>
          </a:prstGeom>
          <a:noFill/>
        </p:spPr>
        <p:txBody>
          <a:bodyPr wrap="square">
            <a:spAutoFit/>
          </a:bodyPr>
          <a:lstStyle/>
          <a:p>
            <a:pPr algn="l"/>
            <a:r>
              <a:rPr sz="1100" b="0" i="0">
                <a:solidFill>
                  <a:srgbClr val="ECF0F1"/>
                </a:solidFill>
              </a:rPr>
              <a:t>Title Slide</a:t>
            </a:r>
          </a:p>
        </p:txBody>
      </p:sp>
      <p:sp>
        <p:nvSpPr>
          <p:cNvPr id="13" name="TextBox 12"/>
          <p:cNvSpPr txBox="1"/>
          <p:nvPr/>
        </p:nvSpPr>
        <p:spPr>
          <a:xfrm>
            <a:off x="5943600" y="1179576"/>
            <a:ext cx="502920" cy="329184"/>
          </a:xfrm>
          <a:prstGeom prst="rect">
            <a:avLst/>
          </a:prstGeom>
          <a:noFill/>
        </p:spPr>
        <p:txBody>
          <a:bodyPr wrap="square">
            <a:spAutoFit/>
          </a:bodyPr>
          <a:lstStyle/>
          <a:p>
            <a:pPr algn="ctr"/>
            <a:r>
              <a:rPr sz="1100" b="1" i="0">
                <a:solidFill>
                  <a:srgbClr val="FFFFFF"/>
                </a:solidFill>
              </a:rPr>
              <a:t>06</a:t>
            </a:r>
          </a:p>
        </p:txBody>
      </p:sp>
      <p:sp>
        <p:nvSpPr>
          <p:cNvPr id="14" name="TextBox 13"/>
          <p:cNvSpPr txBox="1"/>
          <p:nvPr/>
        </p:nvSpPr>
        <p:spPr>
          <a:xfrm>
            <a:off x="6537960" y="1216152"/>
            <a:ext cx="5212080" cy="292608"/>
          </a:xfrm>
          <a:prstGeom prst="rect">
            <a:avLst/>
          </a:prstGeom>
          <a:noFill/>
        </p:spPr>
        <p:txBody>
          <a:bodyPr wrap="square">
            <a:spAutoFit/>
          </a:bodyPr>
          <a:lstStyle/>
          <a:p>
            <a:pPr algn="l"/>
            <a:r>
              <a:rPr sz="1100" b="0" i="0">
                <a:solidFill>
                  <a:srgbClr val="ECF0F1"/>
                </a:solidFill>
              </a:rPr>
              <a:t>Dashboard Page Deep Dive</a:t>
            </a:r>
          </a:p>
        </p:txBody>
      </p:sp>
      <p:sp>
        <p:nvSpPr>
          <p:cNvPr id="15" name="Rectangle 14"/>
          <p:cNvSpPr/>
          <p:nvPr/>
        </p:nvSpPr>
        <p:spPr>
          <a:xfrm>
            <a:off x="274320" y="1618488"/>
            <a:ext cx="539496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0" y="1618488"/>
            <a:ext cx="594360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1618488"/>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0" y="1618488"/>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1655064"/>
            <a:ext cx="502920" cy="329184"/>
          </a:xfrm>
          <a:prstGeom prst="rect">
            <a:avLst/>
          </a:prstGeom>
          <a:noFill/>
        </p:spPr>
        <p:txBody>
          <a:bodyPr wrap="square">
            <a:spAutoFit/>
          </a:bodyPr>
          <a:lstStyle/>
          <a:p>
            <a:pPr algn="ctr"/>
            <a:r>
              <a:rPr sz="1100" b="1" i="0">
                <a:solidFill>
                  <a:srgbClr val="FFFFFF"/>
                </a:solidFill>
              </a:rPr>
              <a:t>02</a:t>
            </a:r>
          </a:p>
        </p:txBody>
      </p:sp>
      <p:sp>
        <p:nvSpPr>
          <p:cNvPr id="20" name="TextBox 19"/>
          <p:cNvSpPr txBox="1"/>
          <p:nvPr/>
        </p:nvSpPr>
        <p:spPr>
          <a:xfrm>
            <a:off x="868680" y="1691640"/>
            <a:ext cx="4663440" cy="292608"/>
          </a:xfrm>
          <a:prstGeom prst="rect">
            <a:avLst/>
          </a:prstGeom>
          <a:noFill/>
        </p:spPr>
        <p:txBody>
          <a:bodyPr wrap="square">
            <a:spAutoFit/>
          </a:bodyPr>
          <a:lstStyle/>
          <a:p>
            <a:pPr algn="l"/>
            <a:r>
              <a:rPr sz="1100" b="0" i="0">
                <a:solidFill>
                  <a:srgbClr val="ECF0F1"/>
                </a:solidFill>
              </a:rPr>
              <a:t>Table of Contents</a:t>
            </a:r>
          </a:p>
        </p:txBody>
      </p:sp>
      <p:sp>
        <p:nvSpPr>
          <p:cNvPr id="21" name="TextBox 20"/>
          <p:cNvSpPr txBox="1"/>
          <p:nvPr/>
        </p:nvSpPr>
        <p:spPr>
          <a:xfrm>
            <a:off x="5943600" y="1655064"/>
            <a:ext cx="502920" cy="329184"/>
          </a:xfrm>
          <a:prstGeom prst="rect">
            <a:avLst/>
          </a:prstGeom>
          <a:noFill/>
        </p:spPr>
        <p:txBody>
          <a:bodyPr wrap="square">
            <a:spAutoFit/>
          </a:bodyPr>
          <a:lstStyle/>
          <a:p>
            <a:pPr algn="ctr"/>
            <a:r>
              <a:rPr sz="1100" b="1" i="0">
                <a:solidFill>
                  <a:srgbClr val="FFFFFF"/>
                </a:solidFill>
              </a:rPr>
              <a:t>07</a:t>
            </a:r>
          </a:p>
        </p:txBody>
      </p:sp>
      <p:sp>
        <p:nvSpPr>
          <p:cNvPr id="22" name="TextBox 21"/>
          <p:cNvSpPr txBox="1"/>
          <p:nvPr/>
        </p:nvSpPr>
        <p:spPr>
          <a:xfrm>
            <a:off x="6537960" y="1691640"/>
            <a:ext cx="5212080" cy="292608"/>
          </a:xfrm>
          <a:prstGeom prst="rect">
            <a:avLst/>
          </a:prstGeom>
          <a:noFill/>
        </p:spPr>
        <p:txBody>
          <a:bodyPr wrap="square">
            <a:spAutoFit/>
          </a:bodyPr>
          <a:lstStyle/>
          <a:p>
            <a:pPr algn="l"/>
            <a:r>
              <a:rPr sz="1100" b="0" i="0">
                <a:solidFill>
                  <a:srgbClr val="ECF0F1"/>
                </a:solidFill>
              </a:rPr>
              <a:t>Container Management Page</a:t>
            </a:r>
          </a:p>
        </p:txBody>
      </p:sp>
      <p:sp>
        <p:nvSpPr>
          <p:cNvPr id="23" name="Rectangle 22"/>
          <p:cNvSpPr/>
          <p:nvPr/>
        </p:nvSpPr>
        <p:spPr>
          <a:xfrm>
            <a:off x="274320" y="2093976"/>
            <a:ext cx="539496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0" y="2093976"/>
            <a:ext cx="594360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2093976"/>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2093976"/>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2130552"/>
            <a:ext cx="502920" cy="329184"/>
          </a:xfrm>
          <a:prstGeom prst="rect">
            <a:avLst/>
          </a:prstGeom>
          <a:noFill/>
        </p:spPr>
        <p:txBody>
          <a:bodyPr wrap="square">
            <a:spAutoFit/>
          </a:bodyPr>
          <a:lstStyle/>
          <a:p>
            <a:pPr algn="ctr"/>
            <a:r>
              <a:rPr sz="1100" b="1" i="0">
                <a:solidFill>
                  <a:srgbClr val="FFFFFF"/>
                </a:solidFill>
              </a:rPr>
              <a:t>03</a:t>
            </a:r>
          </a:p>
        </p:txBody>
      </p:sp>
      <p:sp>
        <p:nvSpPr>
          <p:cNvPr id="28" name="TextBox 27"/>
          <p:cNvSpPr txBox="1"/>
          <p:nvPr/>
        </p:nvSpPr>
        <p:spPr>
          <a:xfrm>
            <a:off x="868680" y="2167128"/>
            <a:ext cx="4663440" cy="292608"/>
          </a:xfrm>
          <a:prstGeom prst="rect">
            <a:avLst/>
          </a:prstGeom>
          <a:noFill/>
        </p:spPr>
        <p:txBody>
          <a:bodyPr wrap="square">
            <a:spAutoFit/>
          </a:bodyPr>
          <a:lstStyle/>
          <a:p>
            <a:pPr algn="l"/>
            <a:r>
              <a:rPr sz="1100" b="0" i="0">
                <a:solidFill>
                  <a:srgbClr val="ECF0F1"/>
                </a:solidFill>
              </a:rPr>
              <a:t>Project Overview</a:t>
            </a:r>
          </a:p>
        </p:txBody>
      </p:sp>
      <p:sp>
        <p:nvSpPr>
          <p:cNvPr id="29" name="TextBox 28"/>
          <p:cNvSpPr txBox="1"/>
          <p:nvPr/>
        </p:nvSpPr>
        <p:spPr>
          <a:xfrm>
            <a:off x="5943600" y="2130552"/>
            <a:ext cx="502920" cy="329184"/>
          </a:xfrm>
          <a:prstGeom prst="rect">
            <a:avLst/>
          </a:prstGeom>
          <a:noFill/>
        </p:spPr>
        <p:txBody>
          <a:bodyPr wrap="square">
            <a:spAutoFit/>
          </a:bodyPr>
          <a:lstStyle/>
          <a:p>
            <a:pPr algn="ctr"/>
            <a:r>
              <a:rPr sz="1100" b="1" i="0">
                <a:solidFill>
                  <a:srgbClr val="FFFFFF"/>
                </a:solidFill>
              </a:rPr>
              <a:t>08</a:t>
            </a:r>
          </a:p>
        </p:txBody>
      </p:sp>
      <p:sp>
        <p:nvSpPr>
          <p:cNvPr id="30" name="TextBox 29"/>
          <p:cNvSpPr txBox="1"/>
          <p:nvPr/>
        </p:nvSpPr>
        <p:spPr>
          <a:xfrm>
            <a:off x="6537960" y="2167128"/>
            <a:ext cx="5212080" cy="292608"/>
          </a:xfrm>
          <a:prstGeom prst="rect">
            <a:avLst/>
          </a:prstGeom>
          <a:noFill/>
        </p:spPr>
        <p:txBody>
          <a:bodyPr wrap="square">
            <a:spAutoFit/>
          </a:bodyPr>
          <a:lstStyle/>
          <a:p>
            <a:pPr algn="l"/>
            <a:r>
              <a:rPr sz="1100" b="0" i="0">
                <a:solidFill>
                  <a:srgbClr val="ECF0F1"/>
                </a:solidFill>
              </a:rPr>
              <a:t>AI Agent — How It Works</a:t>
            </a:r>
          </a:p>
        </p:txBody>
      </p:sp>
      <p:sp>
        <p:nvSpPr>
          <p:cNvPr id="31" name="Rectangle 30"/>
          <p:cNvSpPr/>
          <p:nvPr/>
        </p:nvSpPr>
        <p:spPr>
          <a:xfrm>
            <a:off x="274320" y="2569464"/>
            <a:ext cx="539496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43600" y="2569464"/>
            <a:ext cx="594360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 y="2569464"/>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43600" y="2569464"/>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4320" y="2606040"/>
            <a:ext cx="502920" cy="329184"/>
          </a:xfrm>
          <a:prstGeom prst="rect">
            <a:avLst/>
          </a:prstGeom>
          <a:noFill/>
        </p:spPr>
        <p:txBody>
          <a:bodyPr wrap="square">
            <a:spAutoFit/>
          </a:bodyPr>
          <a:lstStyle/>
          <a:p>
            <a:pPr algn="ctr"/>
            <a:r>
              <a:rPr sz="1100" b="1" i="0">
                <a:solidFill>
                  <a:srgbClr val="FFFFFF"/>
                </a:solidFill>
              </a:rPr>
              <a:t>04</a:t>
            </a:r>
          </a:p>
        </p:txBody>
      </p:sp>
      <p:sp>
        <p:nvSpPr>
          <p:cNvPr id="36" name="TextBox 35"/>
          <p:cNvSpPr txBox="1"/>
          <p:nvPr/>
        </p:nvSpPr>
        <p:spPr>
          <a:xfrm>
            <a:off x="868680" y="2642616"/>
            <a:ext cx="4663440" cy="292608"/>
          </a:xfrm>
          <a:prstGeom prst="rect">
            <a:avLst/>
          </a:prstGeom>
          <a:noFill/>
        </p:spPr>
        <p:txBody>
          <a:bodyPr wrap="square">
            <a:spAutoFit/>
          </a:bodyPr>
          <a:lstStyle/>
          <a:p>
            <a:pPr algn="l"/>
            <a:r>
              <a:rPr sz="1100" b="0" i="0">
                <a:solidFill>
                  <a:srgbClr val="ECF0F1"/>
                </a:solidFill>
              </a:rPr>
              <a:t>Problem Statement</a:t>
            </a:r>
          </a:p>
        </p:txBody>
      </p:sp>
      <p:sp>
        <p:nvSpPr>
          <p:cNvPr id="37" name="TextBox 36"/>
          <p:cNvSpPr txBox="1"/>
          <p:nvPr/>
        </p:nvSpPr>
        <p:spPr>
          <a:xfrm>
            <a:off x="5943600" y="2606040"/>
            <a:ext cx="502920" cy="329184"/>
          </a:xfrm>
          <a:prstGeom prst="rect">
            <a:avLst/>
          </a:prstGeom>
          <a:noFill/>
        </p:spPr>
        <p:txBody>
          <a:bodyPr wrap="square">
            <a:spAutoFit/>
          </a:bodyPr>
          <a:lstStyle/>
          <a:p>
            <a:pPr algn="ctr"/>
            <a:r>
              <a:rPr sz="1100" b="1" i="0">
                <a:solidFill>
                  <a:srgbClr val="FFFFFF"/>
                </a:solidFill>
              </a:rPr>
              <a:t>09</a:t>
            </a:r>
          </a:p>
        </p:txBody>
      </p:sp>
      <p:sp>
        <p:nvSpPr>
          <p:cNvPr id="38" name="TextBox 37"/>
          <p:cNvSpPr txBox="1"/>
          <p:nvPr/>
        </p:nvSpPr>
        <p:spPr>
          <a:xfrm>
            <a:off x="6537960" y="2642616"/>
            <a:ext cx="5212080" cy="292608"/>
          </a:xfrm>
          <a:prstGeom prst="rect">
            <a:avLst/>
          </a:prstGeom>
          <a:noFill/>
        </p:spPr>
        <p:txBody>
          <a:bodyPr wrap="square">
            <a:spAutoFit/>
          </a:bodyPr>
          <a:lstStyle/>
          <a:p>
            <a:pPr algn="l"/>
            <a:r>
              <a:rPr sz="1100" b="0" i="0">
                <a:solidFill>
                  <a:srgbClr val="ECF0F1"/>
                </a:solidFill>
              </a:rPr>
              <a:t>Logs &amp; Analytics Pages</a:t>
            </a:r>
          </a:p>
        </p:txBody>
      </p:sp>
      <p:sp>
        <p:nvSpPr>
          <p:cNvPr id="39" name="Rectangle 38"/>
          <p:cNvSpPr/>
          <p:nvPr/>
        </p:nvSpPr>
        <p:spPr>
          <a:xfrm>
            <a:off x="274320" y="3044952"/>
            <a:ext cx="539496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43600" y="3044952"/>
            <a:ext cx="594360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74320" y="3044952"/>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943600" y="3044952"/>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4320" y="3081528"/>
            <a:ext cx="502920" cy="329184"/>
          </a:xfrm>
          <a:prstGeom prst="rect">
            <a:avLst/>
          </a:prstGeom>
          <a:noFill/>
        </p:spPr>
        <p:txBody>
          <a:bodyPr wrap="square">
            <a:spAutoFit/>
          </a:bodyPr>
          <a:lstStyle/>
          <a:p>
            <a:pPr algn="ctr"/>
            <a:r>
              <a:rPr sz="1100" b="1" i="0">
                <a:solidFill>
                  <a:srgbClr val="FFFFFF"/>
                </a:solidFill>
              </a:rPr>
              <a:t>05</a:t>
            </a:r>
          </a:p>
        </p:txBody>
      </p:sp>
      <p:sp>
        <p:nvSpPr>
          <p:cNvPr id="44" name="TextBox 43"/>
          <p:cNvSpPr txBox="1"/>
          <p:nvPr/>
        </p:nvSpPr>
        <p:spPr>
          <a:xfrm>
            <a:off x="868680" y="3118104"/>
            <a:ext cx="4663440" cy="292608"/>
          </a:xfrm>
          <a:prstGeom prst="rect">
            <a:avLst/>
          </a:prstGeom>
          <a:noFill/>
        </p:spPr>
        <p:txBody>
          <a:bodyPr wrap="square">
            <a:spAutoFit/>
          </a:bodyPr>
          <a:lstStyle/>
          <a:p>
            <a:pPr algn="l"/>
            <a:r>
              <a:rPr sz="1100" b="0" i="0">
                <a:solidFill>
                  <a:srgbClr val="ECF0F1"/>
                </a:solidFill>
              </a:rPr>
              <a:t>System Architecture</a:t>
            </a:r>
          </a:p>
        </p:txBody>
      </p:sp>
      <p:sp>
        <p:nvSpPr>
          <p:cNvPr id="45" name="TextBox 44"/>
          <p:cNvSpPr txBox="1"/>
          <p:nvPr/>
        </p:nvSpPr>
        <p:spPr>
          <a:xfrm>
            <a:off x="5943600" y="3081528"/>
            <a:ext cx="502920" cy="329184"/>
          </a:xfrm>
          <a:prstGeom prst="rect">
            <a:avLst/>
          </a:prstGeom>
          <a:noFill/>
        </p:spPr>
        <p:txBody>
          <a:bodyPr wrap="square">
            <a:spAutoFit/>
          </a:bodyPr>
          <a:lstStyle/>
          <a:p>
            <a:pPr algn="ctr"/>
            <a:r>
              <a:rPr sz="1100" b="1" i="0">
                <a:solidFill>
                  <a:srgbClr val="FFFFFF"/>
                </a:solidFill>
              </a:rPr>
              <a:t>10</a:t>
            </a:r>
          </a:p>
        </p:txBody>
      </p:sp>
      <p:sp>
        <p:nvSpPr>
          <p:cNvPr id="46" name="TextBox 45"/>
          <p:cNvSpPr txBox="1"/>
          <p:nvPr/>
        </p:nvSpPr>
        <p:spPr>
          <a:xfrm>
            <a:off x="6537960" y="3118104"/>
            <a:ext cx="5212080" cy="292608"/>
          </a:xfrm>
          <a:prstGeom prst="rect">
            <a:avLst/>
          </a:prstGeom>
          <a:noFill/>
        </p:spPr>
        <p:txBody>
          <a:bodyPr wrap="square">
            <a:spAutoFit/>
          </a:bodyPr>
          <a:lstStyle/>
          <a:p>
            <a:pPr algn="l"/>
            <a:r>
              <a:rPr sz="1100" b="0" i="0">
                <a:solidFill>
                  <a:srgbClr val="ECF0F1"/>
                </a:solidFill>
              </a:rPr>
              <a:t>GitHub API &amp; Settings</a:t>
            </a:r>
          </a:p>
        </p:txBody>
      </p:sp>
      <p:sp>
        <p:nvSpPr>
          <p:cNvPr id="47" name="Rectangle 46"/>
          <p:cNvSpPr/>
          <p:nvPr/>
        </p:nvSpPr>
        <p:spPr>
          <a:xfrm>
            <a:off x="274320" y="3520440"/>
            <a:ext cx="539496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943600" y="3520440"/>
            <a:ext cx="594360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74320" y="3520440"/>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943600" y="3520440"/>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4320" y="3557016"/>
            <a:ext cx="502920" cy="329184"/>
          </a:xfrm>
          <a:prstGeom prst="rect">
            <a:avLst/>
          </a:prstGeom>
          <a:noFill/>
        </p:spPr>
        <p:txBody>
          <a:bodyPr wrap="square">
            <a:spAutoFit/>
          </a:bodyPr>
          <a:lstStyle/>
          <a:p>
            <a:pPr algn="ctr"/>
            <a:r>
              <a:rPr sz="1100" b="1" i="0">
                <a:solidFill>
                  <a:srgbClr val="FFFFFF"/>
                </a:solidFill>
              </a:rPr>
              <a:t>11</a:t>
            </a:r>
          </a:p>
        </p:txBody>
      </p:sp>
      <p:sp>
        <p:nvSpPr>
          <p:cNvPr id="52" name="TextBox 51"/>
          <p:cNvSpPr txBox="1"/>
          <p:nvPr/>
        </p:nvSpPr>
        <p:spPr>
          <a:xfrm>
            <a:off x="868680" y="3593592"/>
            <a:ext cx="4663440" cy="292608"/>
          </a:xfrm>
          <a:prstGeom prst="rect">
            <a:avLst/>
          </a:prstGeom>
          <a:noFill/>
        </p:spPr>
        <p:txBody>
          <a:bodyPr wrap="square">
            <a:spAutoFit/>
          </a:bodyPr>
          <a:lstStyle/>
          <a:p>
            <a:pPr algn="l"/>
            <a:r>
              <a:rPr sz="1100" b="0" i="0">
                <a:solidFill>
                  <a:srgbClr val="ECF0F1"/>
                </a:solidFill>
              </a:rPr>
              <a:t>Technology Stack</a:t>
            </a:r>
          </a:p>
        </p:txBody>
      </p:sp>
      <p:sp>
        <p:nvSpPr>
          <p:cNvPr id="53" name="TextBox 52"/>
          <p:cNvSpPr txBox="1"/>
          <p:nvPr/>
        </p:nvSpPr>
        <p:spPr>
          <a:xfrm>
            <a:off x="5943600" y="3557016"/>
            <a:ext cx="502920" cy="329184"/>
          </a:xfrm>
          <a:prstGeom prst="rect">
            <a:avLst/>
          </a:prstGeom>
          <a:noFill/>
        </p:spPr>
        <p:txBody>
          <a:bodyPr wrap="square">
            <a:spAutoFit/>
          </a:bodyPr>
          <a:lstStyle/>
          <a:p>
            <a:pPr algn="ctr"/>
            <a:r>
              <a:rPr sz="1100" b="1" i="0">
                <a:solidFill>
                  <a:srgbClr val="FFFFFF"/>
                </a:solidFill>
              </a:rPr>
              <a:t>16</a:t>
            </a:r>
          </a:p>
        </p:txBody>
      </p:sp>
      <p:sp>
        <p:nvSpPr>
          <p:cNvPr id="54" name="TextBox 53"/>
          <p:cNvSpPr txBox="1"/>
          <p:nvPr/>
        </p:nvSpPr>
        <p:spPr>
          <a:xfrm>
            <a:off x="6537960" y="3593592"/>
            <a:ext cx="5212080" cy="292608"/>
          </a:xfrm>
          <a:prstGeom prst="rect">
            <a:avLst/>
          </a:prstGeom>
          <a:noFill/>
        </p:spPr>
        <p:txBody>
          <a:bodyPr wrap="square">
            <a:spAutoFit/>
          </a:bodyPr>
          <a:lstStyle/>
          <a:p>
            <a:pPr algn="l"/>
            <a:r>
              <a:rPr sz="1100" b="0" i="0">
                <a:solidFill>
                  <a:srgbClr val="ECF0F1"/>
                </a:solidFill>
              </a:rPr>
              <a:t>Deployment — Docker Compose</a:t>
            </a:r>
          </a:p>
        </p:txBody>
      </p:sp>
      <p:sp>
        <p:nvSpPr>
          <p:cNvPr id="55" name="Rectangle 54"/>
          <p:cNvSpPr/>
          <p:nvPr/>
        </p:nvSpPr>
        <p:spPr>
          <a:xfrm>
            <a:off x="274320" y="3995928"/>
            <a:ext cx="539496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943600" y="3995928"/>
            <a:ext cx="594360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74320" y="3995928"/>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943600" y="3995928"/>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4320" y="4032504"/>
            <a:ext cx="502920" cy="329184"/>
          </a:xfrm>
          <a:prstGeom prst="rect">
            <a:avLst/>
          </a:prstGeom>
          <a:noFill/>
        </p:spPr>
        <p:txBody>
          <a:bodyPr wrap="square">
            <a:spAutoFit/>
          </a:bodyPr>
          <a:lstStyle/>
          <a:p>
            <a:pPr algn="ctr"/>
            <a:r>
              <a:rPr sz="1100" b="1" i="0">
                <a:solidFill>
                  <a:srgbClr val="FFFFFF"/>
                </a:solidFill>
              </a:rPr>
              <a:t>12</a:t>
            </a:r>
          </a:p>
        </p:txBody>
      </p:sp>
      <p:sp>
        <p:nvSpPr>
          <p:cNvPr id="60" name="TextBox 59"/>
          <p:cNvSpPr txBox="1"/>
          <p:nvPr/>
        </p:nvSpPr>
        <p:spPr>
          <a:xfrm>
            <a:off x="868680" y="4069080"/>
            <a:ext cx="4663440" cy="292608"/>
          </a:xfrm>
          <a:prstGeom prst="rect">
            <a:avLst/>
          </a:prstGeom>
          <a:noFill/>
        </p:spPr>
        <p:txBody>
          <a:bodyPr wrap="square">
            <a:spAutoFit/>
          </a:bodyPr>
          <a:lstStyle/>
          <a:p>
            <a:pPr algn="l"/>
            <a:r>
              <a:rPr sz="1100" b="0" i="0">
                <a:solidFill>
                  <a:srgbClr val="ECF0F1"/>
                </a:solidFill>
              </a:rPr>
              <a:t>Groq AI Integration</a:t>
            </a:r>
          </a:p>
        </p:txBody>
      </p:sp>
      <p:sp>
        <p:nvSpPr>
          <p:cNvPr id="61" name="TextBox 60"/>
          <p:cNvSpPr txBox="1"/>
          <p:nvPr/>
        </p:nvSpPr>
        <p:spPr>
          <a:xfrm>
            <a:off x="5943600" y="4032504"/>
            <a:ext cx="502920" cy="329184"/>
          </a:xfrm>
          <a:prstGeom prst="rect">
            <a:avLst/>
          </a:prstGeom>
          <a:noFill/>
        </p:spPr>
        <p:txBody>
          <a:bodyPr wrap="square">
            <a:spAutoFit/>
          </a:bodyPr>
          <a:lstStyle/>
          <a:p>
            <a:pPr algn="ctr"/>
            <a:r>
              <a:rPr sz="1100" b="1" i="0">
                <a:solidFill>
                  <a:srgbClr val="FFFFFF"/>
                </a:solidFill>
              </a:rPr>
              <a:t>17</a:t>
            </a:r>
          </a:p>
        </p:txBody>
      </p:sp>
      <p:sp>
        <p:nvSpPr>
          <p:cNvPr id="62" name="TextBox 61"/>
          <p:cNvSpPr txBox="1"/>
          <p:nvPr/>
        </p:nvSpPr>
        <p:spPr>
          <a:xfrm>
            <a:off x="6537960" y="4069080"/>
            <a:ext cx="5212080" cy="292608"/>
          </a:xfrm>
          <a:prstGeom prst="rect">
            <a:avLst/>
          </a:prstGeom>
          <a:noFill/>
        </p:spPr>
        <p:txBody>
          <a:bodyPr wrap="square">
            <a:spAutoFit/>
          </a:bodyPr>
          <a:lstStyle/>
          <a:p>
            <a:pPr algn="l"/>
            <a:r>
              <a:rPr sz="1100" b="0" i="0">
                <a:solidFill>
                  <a:srgbClr val="ECF0F1"/>
                </a:solidFill>
              </a:rPr>
              <a:t>Security &amp; Best Practices</a:t>
            </a:r>
          </a:p>
        </p:txBody>
      </p:sp>
      <p:sp>
        <p:nvSpPr>
          <p:cNvPr id="63" name="Rectangle 62"/>
          <p:cNvSpPr/>
          <p:nvPr/>
        </p:nvSpPr>
        <p:spPr>
          <a:xfrm>
            <a:off x="274320" y="4471416"/>
            <a:ext cx="539496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943600" y="4471416"/>
            <a:ext cx="594360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74320" y="4471416"/>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943600" y="4471416"/>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74320" y="4507992"/>
            <a:ext cx="502920" cy="329184"/>
          </a:xfrm>
          <a:prstGeom prst="rect">
            <a:avLst/>
          </a:prstGeom>
          <a:noFill/>
        </p:spPr>
        <p:txBody>
          <a:bodyPr wrap="square">
            <a:spAutoFit/>
          </a:bodyPr>
          <a:lstStyle/>
          <a:p>
            <a:pPr algn="ctr"/>
            <a:r>
              <a:rPr sz="1100" b="1" i="0">
                <a:solidFill>
                  <a:srgbClr val="FFFFFF"/>
                </a:solidFill>
              </a:rPr>
              <a:t>13</a:t>
            </a:r>
          </a:p>
        </p:txBody>
      </p:sp>
      <p:sp>
        <p:nvSpPr>
          <p:cNvPr id="68" name="TextBox 67"/>
          <p:cNvSpPr txBox="1"/>
          <p:nvPr/>
        </p:nvSpPr>
        <p:spPr>
          <a:xfrm>
            <a:off x="868680" y="4544568"/>
            <a:ext cx="4663440" cy="292608"/>
          </a:xfrm>
          <a:prstGeom prst="rect">
            <a:avLst/>
          </a:prstGeom>
          <a:noFill/>
        </p:spPr>
        <p:txBody>
          <a:bodyPr wrap="square">
            <a:spAutoFit/>
          </a:bodyPr>
          <a:lstStyle/>
          <a:p>
            <a:pPr algn="l"/>
            <a:r>
              <a:rPr sz="1100" b="0" i="0">
                <a:solidFill>
                  <a:srgbClr val="ECF0F1"/>
                </a:solidFill>
              </a:rPr>
              <a:t>ReAct Agent Deep Dive</a:t>
            </a:r>
          </a:p>
        </p:txBody>
      </p:sp>
      <p:sp>
        <p:nvSpPr>
          <p:cNvPr id="69" name="TextBox 68"/>
          <p:cNvSpPr txBox="1"/>
          <p:nvPr/>
        </p:nvSpPr>
        <p:spPr>
          <a:xfrm>
            <a:off x="5943600" y="4507992"/>
            <a:ext cx="502920" cy="329184"/>
          </a:xfrm>
          <a:prstGeom prst="rect">
            <a:avLst/>
          </a:prstGeom>
          <a:noFill/>
        </p:spPr>
        <p:txBody>
          <a:bodyPr wrap="square">
            <a:spAutoFit/>
          </a:bodyPr>
          <a:lstStyle/>
          <a:p>
            <a:pPr algn="ctr"/>
            <a:r>
              <a:rPr sz="1100" b="1" i="0">
                <a:solidFill>
                  <a:srgbClr val="FFFFFF"/>
                </a:solidFill>
              </a:rPr>
              <a:t>18</a:t>
            </a:r>
          </a:p>
        </p:txBody>
      </p:sp>
      <p:sp>
        <p:nvSpPr>
          <p:cNvPr id="70" name="TextBox 69"/>
          <p:cNvSpPr txBox="1"/>
          <p:nvPr/>
        </p:nvSpPr>
        <p:spPr>
          <a:xfrm>
            <a:off x="6537960" y="4544568"/>
            <a:ext cx="5212080" cy="292608"/>
          </a:xfrm>
          <a:prstGeom prst="rect">
            <a:avLst/>
          </a:prstGeom>
          <a:noFill/>
        </p:spPr>
        <p:txBody>
          <a:bodyPr wrap="square">
            <a:spAutoFit/>
          </a:bodyPr>
          <a:lstStyle/>
          <a:p>
            <a:pPr algn="l"/>
            <a:r>
              <a:rPr sz="1100" b="0" i="0">
                <a:solidFill>
                  <a:srgbClr val="ECF0F1"/>
                </a:solidFill>
              </a:rPr>
              <a:t>Testing &amp; Demo Results</a:t>
            </a:r>
          </a:p>
        </p:txBody>
      </p:sp>
      <p:sp>
        <p:nvSpPr>
          <p:cNvPr id="71" name="Rectangle 70"/>
          <p:cNvSpPr/>
          <p:nvPr/>
        </p:nvSpPr>
        <p:spPr>
          <a:xfrm>
            <a:off x="274320" y="4946904"/>
            <a:ext cx="539496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943600" y="4946904"/>
            <a:ext cx="594360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274320" y="4946904"/>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943600" y="4946904"/>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74320" y="4983480"/>
            <a:ext cx="502920" cy="329184"/>
          </a:xfrm>
          <a:prstGeom prst="rect">
            <a:avLst/>
          </a:prstGeom>
          <a:noFill/>
        </p:spPr>
        <p:txBody>
          <a:bodyPr wrap="square">
            <a:spAutoFit/>
          </a:bodyPr>
          <a:lstStyle/>
          <a:p>
            <a:pPr algn="ctr"/>
            <a:r>
              <a:rPr sz="1100" b="1" i="0">
                <a:solidFill>
                  <a:srgbClr val="FFFFFF"/>
                </a:solidFill>
              </a:rPr>
              <a:t>14</a:t>
            </a:r>
          </a:p>
        </p:txBody>
      </p:sp>
      <p:sp>
        <p:nvSpPr>
          <p:cNvPr id="76" name="TextBox 75"/>
          <p:cNvSpPr txBox="1"/>
          <p:nvPr/>
        </p:nvSpPr>
        <p:spPr>
          <a:xfrm>
            <a:off x="868680" y="5020056"/>
            <a:ext cx="4663440" cy="292608"/>
          </a:xfrm>
          <a:prstGeom prst="rect">
            <a:avLst/>
          </a:prstGeom>
          <a:noFill/>
        </p:spPr>
        <p:txBody>
          <a:bodyPr wrap="square">
            <a:spAutoFit/>
          </a:bodyPr>
          <a:lstStyle/>
          <a:p>
            <a:pPr algn="l"/>
            <a:r>
              <a:rPr sz="1100" b="0" i="0">
                <a:solidFill>
                  <a:srgbClr val="ECF0F1"/>
                </a:solidFill>
              </a:rPr>
              <a:t>Database &amp; Logging</a:t>
            </a:r>
          </a:p>
        </p:txBody>
      </p:sp>
      <p:sp>
        <p:nvSpPr>
          <p:cNvPr id="77" name="TextBox 76"/>
          <p:cNvSpPr txBox="1"/>
          <p:nvPr/>
        </p:nvSpPr>
        <p:spPr>
          <a:xfrm>
            <a:off x="5943600" y="4983480"/>
            <a:ext cx="502920" cy="329184"/>
          </a:xfrm>
          <a:prstGeom prst="rect">
            <a:avLst/>
          </a:prstGeom>
          <a:noFill/>
        </p:spPr>
        <p:txBody>
          <a:bodyPr wrap="square">
            <a:spAutoFit/>
          </a:bodyPr>
          <a:lstStyle/>
          <a:p>
            <a:pPr algn="ctr"/>
            <a:r>
              <a:rPr sz="1100" b="1" i="0">
                <a:solidFill>
                  <a:srgbClr val="FFFFFF"/>
                </a:solidFill>
              </a:rPr>
              <a:t>19</a:t>
            </a:r>
          </a:p>
        </p:txBody>
      </p:sp>
      <p:sp>
        <p:nvSpPr>
          <p:cNvPr id="78" name="TextBox 77"/>
          <p:cNvSpPr txBox="1"/>
          <p:nvPr/>
        </p:nvSpPr>
        <p:spPr>
          <a:xfrm>
            <a:off x="6537960" y="5020056"/>
            <a:ext cx="5212080" cy="292608"/>
          </a:xfrm>
          <a:prstGeom prst="rect">
            <a:avLst/>
          </a:prstGeom>
          <a:noFill/>
        </p:spPr>
        <p:txBody>
          <a:bodyPr wrap="square">
            <a:spAutoFit/>
          </a:bodyPr>
          <a:lstStyle/>
          <a:p>
            <a:pPr algn="l"/>
            <a:r>
              <a:rPr sz="1100" b="0" i="0">
                <a:solidFill>
                  <a:srgbClr val="ECF0F1"/>
                </a:solidFill>
              </a:rPr>
              <a:t>Future Scope &amp; Roadmap</a:t>
            </a:r>
          </a:p>
        </p:txBody>
      </p:sp>
      <p:sp>
        <p:nvSpPr>
          <p:cNvPr id="79" name="Rectangle 78"/>
          <p:cNvSpPr/>
          <p:nvPr/>
        </p:nvSpPr>
        <p:spPr>
          <a:xfrm>
            <a:off x="274320" y="5422392"/>
            <a:ext cx="539496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943600" y="5422392"/>
            <a:ext cx="5943600" cy="402336"/>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274320" y="5422392"/>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943600" y="5422392"/>
            <a:ext cx="502920" cy="40233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74320" y="5458968"/>
            <a:ext cx="502920" cy="329184"/>
          </a:xfrm>
          <a:prstGeom prst="rect">
            <a:avLst/>
          </a:prstGeom>
          <a:noFill/>
        </p:spPr>
        <p:txBody>
          <a:bodyPr wrap="square">
            <a:spAutoFit/>
          </a:bodyPr>
          <a:lstStyle/>
          <a:p>
            <a:pPr algn="ctr"/>
            <a:r>
              <a:rPr sz="1100" b="1" i="0">
                <a:solidFill>
                  <a:srgbClr val="FFFFFF"/>
                </a:solidFill>
              </a:rPr>
              <a:t>15</a:t>
            </a:r>
          </a:p>
        </p:txBody>
      </p:sp>
      <p:sp>
        <p:nvSpPr>
          <p:cNvPr id="84" name="TextBox 83"/>
          <p:cNvSpPr txBox="1"/>
          <p:nvPr/>
        </p:nvSpPr>
        <p:spPr>
          <a:xfrm>
            <a:off x="868680" y="5495544"/>
            <a:ext cx="4663440" cy="292608"/>
          </a:xfrm>
          <a:prstGeom prst="rect">
            <a:avLst/>
          </a:prstGeom>
          <a:noFill/>
        </p:spPr>
        <p:txBody>
          <a:bodyPr wrap="square">
            <a:spAutoFit/>
          </a:bodyPr>
          <a:lstStyle/>
          <a:p>
            <a:pPr algn="l"/>
            <a:r>
              <a:rPr sz="1100" b="0" i="0">
                <a:solidFill>
                  <a:srgbClr val="ECF0F1"/>
                </a:solidFill>
              </a:rPr>
              <a:t>UI Design &amp; Theme</a:t>
            </a:r>
          </a:p>
        </p:txBody>
      </p:sp>
      <p:sp>
        <p:nvSpPr>
          <p:cNvPr id="85" name="TextBox 84"/>
          <p:cNvSpPr txBox="1"/>
          <p:nvPr/>
        </p:nvSpPr>
        <p:spPr>
          <a:xfrm>
            <a:off x="5943600" y="5458968"/>
            <a:ext cx="502920" cy="329184"/>
          </a:xfrm>
          <a:prstGeom prst="rect">
            <a:avLst/>
          </a:prstGeom>
          <a:noFill/>
        </p:spPr>
        <p:txBody>
          <a:bodyPr wrap="square">
            <a:spAutoFit/>
          </a:bodyPr>
          <a:lstStyle/>
          <a:p>
            <a:pPr algn="ctr"/>
            <a:r>
              <a:rPr sz="1100" b="1" i="0">
                <a:solidFill>
                  <a:srgbClr val="FFFFFF"/>
                </a:solidFill>
              </a:rPr>
              <a:t>20</a:t>
            </a:r>
          </a:p>
        </p:txBody>
      </p:sp>
      <p:sp>
        <p:nvSpPr>
          <p:cNvPr id="86" name="TextBox 85"/>
          <p:cNvSpPr txBox="1"/>
          <p:nvPr/>
        </p:nvSpPr>
        <p:spPr>
          <a:xfrm>
            <a:off x="6537960" y="5495544"/>
            <a:ext cx="5212080" cy="292608"/>
          </a:xfrm>
          <a:prstGeom prst="rect">
            <a:avLst/>
          </a:prstGeom>
          <a:noFill/>
        </p:spPr>
        <p:txBody>
          <a:bodyPr wrap="square">
            <a:spAutoFit/>
          </a:bodyPr>
          <a:lstStyle/>
          <a:p>
            <a:pPr algn="l"/>
            <a:r>
              <a:rPr sz="1100" b="0" i="0">
                <a:solidFill>
                  <a:srgbClr val="ECF0F1"/>
                </a:solidFill>
              </a:rPr>
              <a:t>Conclusion &amp; Thank You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Project Overview</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What is AI Docker NL Health Dashboard?</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143000"/>
            <a:ext cx="11430000" cy="411480"/>
          </a:xfrm>
          <a:prstGeom prst="rect">
            <a:avLst/>
          </a:prstGeom>
          <a:noFill/>
        </p:spPr>
        <p:txBody>
          <a:bodyPr wrap="square">
            <a:spAutoFit/>
          </a:bodyPr>
          <a:lstStyle/>
          <a:p>
            <a:pPr algn="l"/>
            <a:r>
              <a:rPr sz="1600" b="1" i="0">
                <a:solidFill>
                  <a:srgbClr val="27AE60"/>
                </a:solidFill>
              </a:rPr>
              <a:t>Project Summary</a:t>
            </a:r>
          </a:p>
        </p:txBody>
      </p:sp>
      <p:sp>
        <p:nvSpPr>
          <p:cNvPr id="8" name="Rectangle 7"/>
          <p:cNvSpPr/>
          <p:nvPr/>
        </p:nvSpPr>
        <p:spPr>
          <a:xfrm>
            <a:off x="365760" y="1554480"/>
            <a:ext cx="11430000" cy="11887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27632"/>
            <a:ext cx="11064240" cy="1005840"/>
          </a:xfrm>
          <a:prstGeom prst="rect">
            <a:avLst/>
          </a:prstGeom>
          <a:noFill/>
        </p:spPr>
        <p:txBody>
          <a:bodyPr wrap="square">
            <a:spAutoFit/>
          </a:bodyPr>
          <a:lstStyle/>
          <a:p>
            <a:pPr algn="l"/>
            <a:r>
              <a:rPr sz="1100" b="0" i="0">
                <a:solidFill>
                  <a:srgbClr val="ECF0F1"/>
                </a:solidFill>
              </a:rPr>
              <a:t>AI Docker NL Health Dashboard is a full-stack web application that allows users to monitor, manage, and control Docker containers using plain English natural language commands. Instead of memorizing complex Docker CLI commands, users simply type what they want — and the AI agent handles the rest.</a:t>
            </a:r>
          </a:p>
        </p:txBody>
      </p:sp>
      <p:sp>
        <p:nvSpPr>
          <p:cNvPr id="10" name="Rectangle 9"/>
          <p:cNvSpPr/>
          <p:nvPr/>
        </p:nvSpPr>
        <p:spPr>
          <a:xfrm>
            <a:off x="365760" y="2926080"/>
            <a:ext cx="1783080"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971800"/>
            <a:ext cx="1783080" cy="640080"/>
          </a:xfrm>
          <a:prstGeom prst="rect">
            <a:avLst/>
          </a:prstGeom>
          <a:noFill/>
        </p:spPr>
        <p:txBody>
          <a:bodyPr wrap="square">
            <a:spAutoFit/>
          </a:bodyPr>
          <a:lstStyle/>
          <a:p>
            <a:pPr algn="ctr"/>
            <a:r>
              <a:rPr sz="2800" b="1" i="0">
                <a:solidFill>
                  <a:srgbClr val="27AE60"/>
                </a:solidFill>
              </a:rPr>
              <a:t>7</a:t>
            </a:r>
          </a:p>
        </p:txBody>
      </p:sp>
      <p:sp>
        <p:nvSpPr>
          <p:cNvPr id="12" name="TextBox 11"/>
          <p:cNvSpPr txBox="1"/>
          <p:nvPr/>
        </p:nvSpPr>
        <p:spPr>
          <a:xfrm>
            <a:off x="365760" y="3566160"/>
            <a:ext cx="1783080" cy="502920"/>
          </a:xfrm>
          <a:prstGeom prst="rect">
            <a:avLst/>
          </a:prstGeom>
          <a:noFill/>
        </p:spPr>
        <p:txBody>
          <a:bodyPr wrap="square">
            <a:spAutoFit/>
          </a:bodyPr>
          <a:lstStyle/>
          <a:p>
            <a:pPr algn="ctr"/>
            <a:r>
              <a:rPr sz="1000" b="0" i="0">
                <a:solidFill>
                  <a:srgbClr val="ECF0F1"/>
                </a:solidFill>
              </a:rPr>
              <a:t>Dashboard
Pages</a:t>
            </a:r>
          </a:p>
        </p:txBody>
      </p:sp>
      <p:sp>
        <p:nvSpPr>
          <p:cNvPr id="13" name="Rectangle 12"/>
          <p:cNvSpPr/>
          <p:nvPr/>
        </p:nvSpPr>
        <p:spPr>
          <a:xfrm>
            <a:off x="2267712" y="2926080"/>
            <a:ext cx="1783080"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67712" y="2971800"/>
            <a:ext cx="1783080" cy="640080"/>
          </a:xfrm>
          <a:prstGeom prst="rect">
            <a:avLst/>
          </a:prstGeom>
          <a:noFill/>
        </p:spPr>
        <p:txBody>
          <a:bodyPr wrap="square">
            <a:spAutoFit/>
          </a:bodyPr>
          <a:lstStyle/>
          <a:p>
            <a:pPr algn="ctr"/>
            <a:r>
              <a:rPr sz="2800" b="1" i="0">
                <a:solidFill>
                  <a:srgbClr val="27AE60"/>
                </a:solidFill>
              </a:rPr>
              <a:t>6</a:t>
            </a:r>
          </a:p>
        </p:txBody>
      </p:sp>
      <p:sp>
        <p:nvSpPr>
          <p:cNvPr id="15" name="TextBox 14"/>
          <p:cNvSpPr txBox="1"/>
          <p:nvPr/>
        </p:nvSpPr>
        <p:spPr>
          <a:xfrm>
            <a:off x="2267712" y="3566160"/>
            <a:ext cx="1783080" cy="502920"/>
          </a:xfrm>
          <a:prstGeom prst="rect">
            <a:avLst/>
          </a:prstGeom>
          <a:noFill/>
        </p:spPr>
        <p:txBody>
          <a:bodyPr wrap="square">
            <a:spAutoFit/>
          </a:bodyPr>
          <a:lstStyle/>
          <a:p>
            <a:pPr algn="ctr"/>
            <a:r>
              <a:rPr sz="1000" b="0" i="0">
                <a:solidFill>
                  <a:srgbClr val="ECF0F1"/>
                </a:solidFill>
              </a:rPr>
              <a:t>Python
Modules</a:t>
            </a:r>
          </a:p>
        </p:txBody>
      </p:sp>
      <p:sp>
        <p:nvSpPr>
          <p:cNvPr id="16" name="Rectangle 15"/>
          <p:cNvSpPr/>
          <p:nvPr/>
        </p:nvSpPr>
        <p:spPr>
          <a:xfrm>
            <a:off x="4169664" y="2926080"/>
            <a:ext cx="1783080"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69664" y="2971800"/>
            <a:ext cx="1783080" cy="640080"/>
          </a:xfrm>
          <a:prstGeom prst="rect">
            <a:avLst/>
          </a:prstGeom>
          <a:noFill/>
        </p:spPr>
        <p:txBody>
          <a:bodyPr wrap="square">
            <a:spAutoFit/>
          </a:bodyPr>
          <a:lstStyle/>
          <a:p>
            <a:pPr algn="ctr"/>
            <a:r>
              <a:rPr sz="2800" b="1" i="0">
                <a:solidFill>
                  <a:srgbClr val="27AE60"/>
                </a:solidFill>
              </a:rPr>
              <a:t>22</a:t>
            </a:r>
          </a:p>
        </p:txBody>
      </p:sp>
      <p:sp>
        <p:nvSpPr>
          <p:cNvPr id="18" name="TextBox 17"/>
          <p:cNvSpPr txBox="1"/>
          <p:nvPr/>
        </p:nvSpPr>
        <p:spPr>
          <a:xfrm>
            <a:off x="4169664" y="3566160"/>
            <a:ext cx="1783080" cy="502920"/>
          </a:xfrm>
          <a:prstGeom prst="rect">
            <a:avLst/>
          </a:prstGeom>
          <a:noFill/>
        </p:spPr>
        <p:txBody>
          <a:bodyPr wrap="square">
            <a:spAutoFit/>
          </a:bodyPr>
          <a:lstStyle/>
          <a:p>
            <a:pPr algn="ctr"/>
            <a:r>
              <a:rPr sz="1000" b="0" i="0">
                <a:solidFill>
                  <a:srgbClr val="ECF0F1"/>
                </a:solidFill>
              </a:rPr>
              <a:t>Files in
Project</a:t>
            </a:r>
          </a:p>
        </p:txBody>
      </p:sp>
      <p:sp>
        <p:nvSpPr>
          <p:cNvPr id="19" name="Rectangle 18"/>
          <p:cNvSpPr/>
          <p:nvPr/>
        </p:nvSpPr>
        <p:spPr>
          <a:xfrm>
            <a:off x="6071616" y="2926080"/>
            <a:ext cx="1783080"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71616" y="2971800"/>
            <a:ext cx="1783080" cy="640080"/>
          </a:xfrm>
          <a:prstGeom prst="rect">
            <a:avLst/>
          </a:prstGeom>
          <a:noFill/>
        </p:spPr>
        <p:txBody>
          <a:bodyPr wrap="square">
            <a:spAutoFit/>
          </a:bodyPr>
          <a:lstStyle/>
          <a:p>
            <a:pPr algn="ctr"/>
            <a:r>
              <a:rPr sz="2800" b="1" i="0">
                <a:solidFill>
                  <a:srgbClr val="27AE60"/>
                </a:solidFill>
              </a:rPr>
              <a:t>5823</a:t>
            </a:r>
          </a:p>
        </p:txBody>
      </p:sp>
      <p:sp>
        <p:nvSpPr>
          <p:cNvPr id="21" name="TextBox 20"/>
          <p:cNvSpPr txBox="1"/>
          <p:nvPr/>
        </p:nvSpPr>
        <p:spPr>
          <a:xfrm>
            <a:off x="6071616" y="3566160"/>
            <a:ext cx="1783080" cy="502920"/>
          </a:xfrm>
          <a:prstGeom prst="rect">
            <a:avLst/>
          </a:prstGeom>
          <a:noFill/>
        </p:spPr>
        <p:txBody>
          <a:bodyPr wrap="square">
            <a:spAutoFit/>
          </a:bodyPr>
          <a:lstStyle/>
          <a:p>
            <a:pPr algn="ctr"/>
            <a:r>
              <a:rPr sz="1000" b="0" i="0">
                <a:solidFill>
                  <a:srgbClr val="ECF0F1"/>
                </a:solidFill>
              </a:rPr>
              <a:t>Lines of
Code</a:t>
            </a:r>
          </a:p>
        </p:txBody>
      </p:sp>
      <p:sp>
        <p:nvSpPr>
          <p:cNvPr id="22" name="Rectangle 21"/>
          <p:cNvSpPr/>
          <p:nvPr/>
        </p:nvSpPr>
        <p:spPr>
          <a:xfrm>
            <a:off x="7973568" y="2926080"/>
            <a:ext cx="1783080"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73568" y="2971800"/>
            <a:ext cx="1783080" cy="640080"/>
          </a:xfrm>
          <a:prstGeom prst="rect">
            <a:avLst/>
          </a:prstGeom>
          <a:noFill/>
        </p:spPr>
        <p:txBody>
          <a:bodyPr wrap="square">
            <a:spAutoFit/>
          </a:bodyPr>
          <a:lstStyle/>
          <a:p>
            <a:pPr algn="ctr"/>
            <a:r>
              <a:rPr sz="2800" b="1" i="0">
                <a:solidFill>
                  <a:srgbClr val="27AE60"/>
                </a:solidFill>
              </a:rPr>
              <a:t>3</a:t>
            </a:r>
          </a:p>
        </p:txBody>
      </p:sp>
      <p:sp>
        <p:nvSpPr>
          <p:cNvPr id="24" name="TextBox 23"/>
          <p:cNvSpPr txBox="1"/>
          <p:nvPr/>
        </p:nvSpPr>
        <p:spPr>
          <a:xfrm>
            <a:off x="7973568" y="3566160"/>
            <a:ext cx="1783080" cy="502920"/>
          </a:xfrm>
          <a:prstGeom prst="rect">
            <a:avLst/>
          </a:prstGeom>
          <a:noFill/>
        </p:spPr>
        <p:txBody>
          <a:bodyPr wrap="square">
            <a:spAutoFit/>
          </a:bodyPr>
          <a:lstStyle/>
          <a:p>
            <a:pPr algn="ctr"/>
            <a:r>
              <a:rPr sz="1000" b="0" i="0">
                <a:solidFill>
                  <a:srgbClr val="ECF0F1"/>
                </a:solidFill>
              </a:rPr>
              <a:t>AI
Models</a:t>
            </a:r>
          </a:p>
        </p:txBody>
      </p:sp>
      <p:sp>
        <p:nvSpPr>
          <p:cNvPr id="25" name="Rectangle 24"/>
          <p:cNvSpPr/>
          <p:nvPr/>
        </p:nvSpPr>
        <p:spPr>
          <a:xfrm>
            <a:off x="9875520" y="2926080"/>
            <a:ext cx="1783080"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0" y="2971800"/>
            <a:ext cx="1783080" cy="640080"/>
          </a:xfrm>
          <a:prstGeom prst="rect">
            <a:avLst/>
          </a:prstGeom>
          <a:noFill/>
        </p:spPr>
        <p:txBody>
          <a:bodyPr wrap="square">
            <a:spAutoFit/>
          </a:bodyPr>
          <a:lstStyle/>
          <a:p>
            <a:pPr algn="ctr"/>
            <a:r>
              <a:rPr sz="2800" b="1" i="0">
                <a:solidFill>
                  <a:srgbClr val="27AE60"/>
                </a:solidFill>
              </a:rPr>
              <a:t>1</a:t>
            </a:r>
          </a:p>
        </p:txBody>
      </p:sp>
      <p:sp>
        <p:nvSpPr>
          <p:cNvPr id="27" name="TextBox 26"/>
          <p:cNvSpPr txBox="1"/>
          <p:nvPr/>
        </p:nvSpPr>
        <p:spPr>
          <a:xfrm>
            <a:off x="9875520" y="3566160"/>
            <a:ext cx="1783080" cy="502920"/>
          </a:xfrm>
          <a:prstGeom prst="rect">
            <a:avLst/>
          </a:prstGeom>
          <a:noFill/>
        </p:spPr>
        <p:txBody>
          <a:bodyPr wrap="square">
            <a:spAutoFit/>
          </a:bodyPr>
          <a:lstStyle/>
          <a:p>
            <a:pPr algn="ctr"/>
            <a:r>
              <a:rPr sz="1000" b="0" i="0">
                <a:solidFill>
                  <a:srgbClr val="ECF0F1"/>
                </a:solidFill>
              </a:rPr>
              <a:t>Click
Deploy</a:t>
            </a:r>
          </a:p>
        </p:txBody>
      </p:sp>
      <p:sp>
        <p:nvSpPr>
          <p:cNvPr id="28" name="TextBox 27"/>
          <p:cNvSpPr txBox="1"/>
          <p:nvPr/>
        </p:nvSpPr>
        <p:spPr>
          <a:xfrm>
            <a:off x="365760" y="4251960"/>
            <a:ext cx="11430000" cy="365760"/>
          </a:xfrm>
          <a:prstGeom prst="rect">
            <a:avLst/>
          </a:prstGeom>
          <a:noFill/>
        </p:spPr>
        <p:txBody>
          <a:bodyPr wrap="square">
            <a:spAutoFit/>
          </a:bodyPr>
          <a:lstStyle/>
          <a:p>
            <a:pPr algn="l"/>
            <a:r>
              <a:rPr sz="1400" b="1" i="0">
                <a:solidFill>
                  <a:srgbClr val="27AE60"/>
                </a:solidFill>
              </a:rPr>
              <a:t>Core Objectives</a:t>
            </a:r>
          </a:p>
        </p:txBody>
      </p:sp>
      <p:sp>
        <p:nvSpPr>
          <p:cNvPr id="29" name="TextBox 28"/>
          <p:cNvSpPr txBox="1"/>
          <p:nvPr/>
        </p:nvSpPr>
        <p:spPr>
          <a:xfrm>
            <a:off x="457200" y="4663440"/>
            <a:ext cx="11155680" cy="365760"/>
          </a:xfrm>
          <a:prstGeom prst="rect">
            <a:avLst/>
          </a:prstGeom>
          <a:noFill/>
        </p:spPr>
        <p:txBody>
          <a:bodyPr wrap="square">
            <a:spAutoFit/>
          </a:bodyPr>
          <a:lstStyle/>
          <a:p>
            <a:pPr algn="l"/>
            <a:r>
              <a:rPr sz="1100" b="0" i="0">
                <a:solidFill>
                  <a:srgbClr val="ECF0F1"/>
                </a:solidFill>
              </a:rPr>
              <a:t>✅  Enable non-technical users to manage Docker via natural language</a:t>
            </a:r>
          </a:p>
        </p:txBody>
      </p:sp>
      <p:sp>
        <p:nvSpPr>
          <p:cNvPr id="30" name="TextBox 29"/>
          <p:cNvSpPr txBox="1"/>
          <p:nvPr/>
        </p:nvSpPr>
        <p:spPr>
          <a:xfrm>
            <a:off x="457200" y="5029200"/>
            <a:ext cx="11155680" cy="365760"/>
          </a:xfrm>
          <a:prstGeom prst="rect">
            <a:avLst/>
          </a:prstGeom>
          <a:noFill/>
        </p:spPr>
        <p:txBody>
          <a:bodyPr wrap="square">
            <a:spAutoFit/>
          </a:bodyPr>
          <a:lstStyle/>
          <a:p>
            <a:pPr algn="l"/>
            <a:r>
              <a:rPr sz="1100" b="0" i="0">
                <a:solidFill>
                  <a:srgbClr val="ECF0F1"/>
                </a:solidFill>
              </a:rPr>
              <a:t>✅  Provide a real-time health dashboard for container monitoring</a:t>
            </a:r>
          </a:p>
        </p:txBody>
      </p:sp>
      <p:sp>
        <p:nvSpPr>
          <p:cNvPr id="31" name="TextBox 30"/>
          <p:cNvSpPr txBox="1"/>
          <p:nvPr/>
        </p:nvSpPr>
        <p:spPr>
          <a:xfrm>
            <a:off x="457200" y="5394960"/>
            <a:ext cx="11155680" cy="365760"/>
          </a:xfrm>
          <a:prstGeom prst="rect">
            <a:avLst/>
          </a:prstGeom>
          <a:noFill/>
        </p:spPr>
        <p:txBody>
          <a:bodyPr wrap="square">
            <a:spAutoFit/>
          </a:bodyPr>
          <a:lstStyle/>
          <a:p>
            <a:pPr algn="l"/>
            <a:r>
              <a:rPr sz="1100" b="0" i="0">
                <a:solidFill>
                  <a:srgbClr val="ECF0F1"/>
                </a:solidFill>
              </a:rPr>
              <a:t>✅  Build a transparent AI agent with step-by-step execution visibility</a:t>
            </a:r>
          </a:p>
        </p:txBody>
      </p:sp>
      <p:sp>
        <p:nvSpPr>
          <p:cNvPr id="32" name="TextBox 31"/>
          <p:cNvSpPr txBox="1"/>
          <p:nvPr/>
        </p:nvSpPr>
        <p:spPr>
          <a:xfrm>
            <a:off x="457200" y="5760720"/>
            <a:ext cx="11155680" cy="365760"/>
          </a:xfrm>
          <a:prstGeom prst="rect">
            <a:avLst/>
          </a:prstGeom>
          <a:noFill/>
        </p:spPr>
        <p:txBody>
          <a:bodyPr wrap="square">
            <a:spAutoFit/>
          </a:bodyPr>
          <a:lstStyle/>
          <a:p>
            <a:pPr algn="l"/>
            <a:r>
              <a:rPr sz="1100" b="0" i="0">
                <a:solidFill>
                  <a:srgbClr val="ECF0F1"/>
                </a:solidFill>
              </a:rPr>
              <a:t>✅  Log all operations for audit compliance and debugging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Problem Statement</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Why was this project needed?</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539496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539496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52144"/>
            <a:ext cx="5029200" cy="411480"/>
          </a:xfrm>
          <a:prstGeom prst="rect">
            <a:avLst/>
          </a:prstGeom>
          <a:noFill/>
        </p:spPr>
        <p:txBody>
          <a:bodyPr wrap="square">
            <a:spAutoFit/>
          </a:bodyPr>
          <a:lstStyle/>
          <a:p>
            <a:pPr algn="l"/>
            <a:r>
              <a:rPr sz="1400" b="1" i="0">
                <a:solidFill>
                  <a:srgbClr val="FFFFFF"/>
                </a:solidFill>
              </a:rPr>
              <a:t>❌  Current Challenges</a:t>
            </a:r>
          </a:p>
        </p:txBody>
      </p:sp>
      <p:sp>
        <p:nvSpPr>
          <p:cNvPr id="10" name="TextBox 9"/>
          <p:cNvSpPr txBox="1"/>
          <p:nvPr/>
        </p:nvSpPr>
        <p:spPr>
          <a:xfrm>
            <a:off x="457200" y="1691640"/>
            <a:ext cx="5029200" cy="347472"/>
          </a:xfrm>
          <a:prstGeom prst="rect">
            <a:avLst/>
          </a:prstGeom>
          <a:noFill/>
        </p:spPr>
        <p:txBody>
          <a:bodyPr wrap="square">
            <a:spAutoFit/>
          </a:bodyPr>
          <a:lstStyle/>
          <a:p>
            <a:pPr algn="l"/>
            <a:r>
              <a:rPr sz="1050" b="0" i="0">
                <a:solidFill>
                  <a:srgbClr val="ECF0F1"/>
                </a:solidFill>
              </a:rPr>
              <a:t>•  Complex CLI commands hard to remember</a:t>
            </a:r>
          </a:p>
        </p:txBody>
      </p:sp>
      <p:sp>
        <p:nvSpPr>
          <p:cNvPr id="11" name="TextBox 10"/>
          <p:cNvSpPr txBox="1"/>
          <p:nvPr/>
        </p:nvSpPr>
        <p:spPr>
          <a:xfrm>
            <a:off x="457200" y="2048256"/>
            <a:ext cx="5029200" cy="347472"/>
          </a:xfrm>
          <a:prstGeom prst="rect">
            <a:avLst/>
          </a:prstGeom>
          <a:noFill/>
        </p:spPr>
        <p:txBody>
          <a:bodyPr wrap="square">
            <a:spAutoFit/>
          </a:bodyPr>
          <a:lstStyle/>
          <a:p>
            <a:pPr algn="l"/>
            <a:r>
              <a:rPr sz="1050" b="0" i="0">
                <a:solidFill>
                  <a:srgbClr val="ECF0F1"/>
                </a:solidFill>
              </a:rPr>
              <a:t>•  No unified real-time health view</a:t>
            </a:r>
          </a:p>
        </p:txBody>
      </p:sp>
      <p:sp>
        <p:nvSpPr>
          <p:cNvPr id="12" name="TextBox 11"/>
          <p:cNvSpPr txBox="1"/>
          <p:nvPr/>
        </p:nvSpPr>
        <p:spPr>
          <a:xfrm>
            <a:off x="457200" y="2404872"/>
            <a:ext cx="5029200" cy="347472"/>
          </a:xfrm>
          <a:prstGeom prst="rect">
            <a:avLst/>
          </a:prstGeom>
          <a:noFill/>
        </p:spPr>
        <p:txBody>
          <a:bodyPr wrap="square">
            <a:spAutoFit/>
          </a:bodyPr>
          <a:lstStyle/>
          <a:p>
            <a:pPr algn="l"/>
            <a:r>
              <a:rPr sz="1050" b="0" i="0">
                <a:solidFill>
                  <a:srgbClr val="ECF0F1"/>
                </a:solidFill>
              </a:rPr>
              <a:t>•  Difficult to debug container crashes</a:t>
            </a:r>
          </a:p>
        </p:txBody>
      </p:sp>
      <p:sp>
        <p:nvSpPr>
          <p:cNvPr id="13" name="TextBox 12"/>
          <p:cNvSpPr txBox="1"/>
          <p:nvPr/>
        </p:nvSpPr>
        <p:spPr>
          <a:xfrm>
            <a:off x="457200" y="2761488"/>
            <a:ext cx="5029200" cy="347472"/>
          </a:xfrm>
          <a:prstGeom prst="rect">
            <a:avLst/>
          </a:prstGeom>
          <a:noFill/>
        </p:spPr>
        <p:txBody>
          <a:bodyPr wrap="square">
            <a:spAutoFit/>
          </a:bodyPr>
          <a:lstStyle/>
          <a:p>
            <a:pPr algn="l"/>
            <a:r>
              <a:rPr sz="1050" b="0" i="0">
                <a:solidFill>
                  <a:srgbClr val="ECF0F1"/>
                </a:solidFill>
              </a:rPr>
              <a:t>•  Non-technical teams can't use Docker</a:t>
            </a:r>
          </a:p>
        </p:txBody>
      </p:sp>
      <p:sp>
        <p:nvSpPr>
          <p:cNvPr id="14" name="TextBox 13"/>
          <p:cNvSpPr txBox="1"/>
          <p:nvPr/>
        </p:nvSpPr>
        <p:spPr>
          <a:xfrm>
            <a:off x="457200" y="3118104"/>
            <a:ext cx="5029200" cy="347472"/>
          </a:xfrm>
          <a:prstGeom prst="rect">
            <a:avLst/>
          </a:prstGeom>
          <a:noFill/>
        </p:spPr>
        <p:txBody>
          <a:bodyPr wrap="square">
            <a:spAutoFit/>
          </a:bodyPr>
          <a:lstStyle/>
          <a:p>
            <a:pPr algn="l"/>
            <a:r>
              <a:rPr sz="1050" b="0" i="0">
                <a:solidFill>
                  <a:srgbClr val="ECF0F1"/>
                </a:solidFill>
              </a:rPr>
              <a:t>•  Manual log inspection is tedious</a:t>
            </a:r>
          </a:p>
        </p:txBody>
      </p:sp>
      <p:sp>
        <p:nvSpPr>
          <p:cNvPr id="15" name="TextBox 14"/>
          <p:cNvSpPr txBox="1"/>
          <p:nvPr/>
        </p:nvSpPr>
        <p:spPr>
          <a:xfrm>
            <a:off x="457200" y="3474720"/>
            <a:ext cx="5029200" cy="347472"/>
          </a:xfrm>
          <a:prstGeom prst="rect">
            <a:avLst/>
          </a:prstGeom>
          <a:noFill/>
        </p:spPr>
        <p:txBody>
          <a:bodyPr wrap="square">
            <a:spAutoFit/>
          </a:bodyPr>
          <a:lstStyle/>
          <a:p>
            <a:pPr algn="l"/>
            <a:r>
              <a:rPr sz="1050" b="0" i="0">
                <a:solidFill>
                  <a:srgbClr val="ECF0F1"/>
                </a:solidFill>
              </a:rPr>
              <a:t>•  No natural language interface exists</a:t>
            </a:r>
          </a:p>
        </p:txBody>
      </p:sp>
      <p:sp>
        <p:nvSpPr>
          <p:cNvPr id="16" name="TextBox 15"/>
          <p:cNvSpPr txBox="1"/>
          <p:nvPr/>
        </p:nvSpPr>
        <p:spPr>
          <a:xfrm>
            <a:off x="457200" y="3831336"/>
            <a:ext cx="5029200" cy="347472"/>
          </a:xfrm>
          <a:prstGeom prst="rect">
            <a:avLst/>
          </a:prstGeom>
          <a:noFill/>
        </p:spPr>
        <p:txBody>
          <a:bodyPr wrap="square">
            <a:spAutoFit/>
          </a:bodyPr>
          <a:lstStyle/>
          <a:p>
            <a:pPr algn="l"/>
            <a:r>
              <a:rPr sz="1050" b="0" i="0">
                <a:solidFill>
                  <a:srgbClr val="ECF0F1"/>
                </a:solidFill>
              </a:rPr>
              <a:t>•  Scattered tools for different tasks</a:t>
            </a:r>
          </a:p>
        </p:txBody>
      </p:sp>
      <p:sp>
        <p:nvSpPr>
          <p:cNvPr id="17" name="TextBox 16"/>
          <p:cNvSpPr txBox="1"/>
          <p:nvPr/>
        </p:nvSpPr>
        <p:spPr>
          <a:xfrm>
            <a:off x="457200" y="4187952"/>
            <a:ext cx="5029200" cy="347472"/>
          </a:xfrm>
          <a:prstGeom prst="rect">
            <a:avLst/>
          </a:prstGeom>
          <a:noFill/>
        </p:spPr>
        <p:txBody>
          <a:bodyPr wrap="square">
            <a:spAutoFit/>
          </a:bodyPr>
          <a:lstStyle/>
          <a:p>
            <a:pPr algn="l"/>
            <a:r>
              <a:rPr sz="1050" b="0" i="0">
                <a:solidFill>
                  <a:srgbClr val="ECF0F1"/>
                </a:solidFill>
              </a:rPr>
              <a:t>•  No audit trail for container actions</a:t>
            </a:r>
          </a:p>
        </p:txBody>
      </p:sp>
      <p:sp>
        <p:nvSpPr>
          <p:cNvPr id="18" name="TextBox 17"/>
          <p:cNvSpPr txBox="1"/>
          <p:nvPr/>
        </p:nvSpPr>
        <p:spPr>
          <a:xfrm>
            <a:off x="457200" y="4544568"/>
            <a:ext cx="5029200" cy="347472"/>
          </a:xfrm>
          <a:prstGeom prst="rect">
            <a:avLst/>
          </a:prstGeom>
          <a:noFill/>
        </p:spPr>
        <p:txBody>
          <a:bodyPr wrap="square">
            <a:spAutoFit/>
          </a:bodyPr>
          <a:lstStyle/>
          <a:p>
            <a:pPr algn="l"/>
            <a:r>
              <a:rPr sz="1050" b="0" i="0">
                <a:solidFill>
                  <a:srgbClr val="ECF0F1"/>
                </a:solidFill>
              </a:rPr>
              <a:t>•  Hard to track resource usage trends</a:t>
            </a:r>
          </a:p>
        </p:txBody>
      </p:sp>
      <p:sp>
        <p:nvSpPr>
          <p:cNvPr id="19" name="TextBox 18"/>
          <p:cNvSpPr txBox="1"/>
          <p:nvPr/>
        </p:nvSpPr>
        <p:spPr>
          <a:xfrm>
            <a:off x="457200" y="4901183"/>
            <a:ext cx="5029200" cy="347472"/>
          </a:xfrm>
          <a:prstGeom prst="rect">
            <a:avLst/>
          </a:prstGeom>
          <a:noFill/>
        </p:spPr>
        <p:txBody>
          <a:bodyPr wrap="square">
            <a:spAutoFit/>
          </a:bodyPr>
          <a:lstStyle/>
          <a:p>
            <a:pPr algn="l"/>
            <a:r>
              <a:rPr sz="1050" b="0" i="0">
                <a:solidFill>
                  <a:srgbClr val="ECF0F1"/>
                </a:solidFill>
              </a:rPr>
              <a:t>•  Steep learning curve for beginners</a:t>
            </a:r>
          </a:p>
        </p:txBody>
      </p:sp>
      <p:sp>
        <p:nvSpPr>
          <p:cNvPr id="20" name="Rectangle 19"/>
          <p:cNvSpPr/>
          <p:nvPr/>
        </p:nvSpPr>
        <p:spPr>
          <a:xfrm>
            <a:off x="5943600" y="1097280"/>
            <a:ext cx="594360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0" y="1097280"/>
            <a:ext cx="59436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0" y="1152144"/>
            <a:ext cx="5577840" cy="411480"/>
          </a:xfrm>
          <a:prstGeom prst="rect">
            <a:avLst/>
          </a:prstGeom>
          <a:noFill/>
        </p:spPr>
        <p:txBody>
          <a:bodyPr wrap="square">
            <a:spAutoFit/>
          </a:bodyPr>
          <a:lstStyle/>
          <a:p>
            <a:pPr algn="l"/>
            <a:r>
              <a:rPr sz="1400" b="1" i="0">
                <a:solidFill>
                  <a:srgbClr val="FFFFFF"/>
                </a:solidFill>
              </a:rPr>
              <a:t>✅  How We Solve It</a:t>
            </a:r>
          </a:p>
        </p:txBody>
      </p:sp>
      <p:sp>
        <p:nvSpPr>
          <p:cNvPr id="23" name="TextBox 22"/>
          <p:cNvSpPr txBox="1"/>
          <p:nvPr/>
        </p:nvSpPr>
        <p:spPr>
          <a:xfrm>
            <a:off x="6126480" y="1691640"/>
            <a:ext cx="5577840" cy="347472"/>
          </a:xfrm>
          <a:prstGeom prst="rect">
            <a:avLst/>
          </a:prstGeom>
          <a:noFill/>
        </p:spPr>
        <p:txBody>
          <a:bodyPr wrap="square">
            <a:spAutoFit/>
          </a:bodyPr>
          <a:lstStyle/>
          <a:p>
            <a:pPr algn="l"/>
            <a:r>
              <a:rPr sz="1050" b="0" i="0">
                <a:solidFill>
                  <a:srgbClr val="ECF0F1"/>
                </a:solidFill>
              </a:rPr>
              <a:t>•  Natural language commands via Groq AI</a:t>
            </a:r>
          </a:p>
        </p:txBody>
      </p:sp>
      <p:sp>
        <p:nvSpPr>
          <p:cNvPr id="24" name="TextBox 23"/>
          <p:cNvSpPr txBox="1"/>
          <p:nvPr/>
        </p:nvSpPr>
        <p:spPr>
          <a:xfrm>
            <a:off x="6126480" y="2048256"/>
            <a:ext cx="5577840" cy="347472"/>
          </a:xfrm>
          <a:prstGeom prst="rect">
            <a:avLst/>
          </a:prstGeom>
          <a:noFill/>
        </p:spPr>
        <p:txBody>
          <a:bodyPr wrap="square">
            <a:spAutoFit/>
          </a:bodyPr>
          <a:lstStyle/>
          <a:p>
            <a:pPr algn="l"/>
            <a:r>
              <a:rPr sz="1050" b="0" i="0">
                <a:solidFill>
                  <a:srgbClr val="ECF0F1"/>
                </a:solidFill>
              </a:rPr>
              <a:t>•  7-page real-time Streamlit dashboard</a:t>
            </a:r>
          </a:p>
        </p:txBody>
      </p:sp>
      <p:sp>
        <p:nvSpPr>
          <p:cNvPr id="25" name="TextBox 24"/>
          <p:cNvSpPr txBox="1"/>
          <p:nvPr/>
        </p:nvSpPr>
        <p:spPr>
          <a:xfrm>
            <a:off x="6126480" y="2404872"/>
            <a:ext cx="5577840" cy="347472"/>
          </a:xfrm>
          <a:prstGeom prst="rect">
            <a:avLst/>
          </a:prstGeom>
          <a:noFill/>
        </p:spPr>
        <p:txBody>
          <a:bodyPr wrap="square">
            <a:spAutoFit/>
          </a:bodyPr>
          <a:lstStyle/>
          <a:p>
            <a:pPr algn="l"/>
            <a:r>
              <a:rPr sz="1050" b="0" i="0">
                <a:solidFill>
                  <a:srgbClr val="ECF0F1"/>
                </a:solidFill>
              </a:rPr>
              <a:t>•  AI ReAct agent with visible reasoning</a:t>
            </a:r>
          </a:p>
        </p:txBody>
      </p:sp>
      <p:sp>
        <p:nvSpPr>
          <p:cNvPr id="26" name="TextBox 25"/>
          <p:cNvSpPr txBox="1"/>
          <p:nvPr/>
        </p:nvSpPr>
        <p:spPr>
          <a:xfrm>
            <a:off x="6126480" y="2761488"/>
            <a:ext cx="5577840" cy="347472"/>
          </a:xfrm>
          <a:prstGeom prst="rect">
            <a:avLst/>
          </a:prstGeom>
          <a:noFill/>
        </p:spPr>
        <p:txBody>
          <a:bodyPr wrap="square">
            <a:spAutoFit/>
          </a:bodyPr>
          <a:lstStyle/>
          <a:p>
            <a:pPr algn="l"/>
            <a:r>
              <a:rPr sz="1050" b="0" i="0">
                <a:solidFill>
                  <a:srgbClr val="ECF0F1"/>
                </a:solidFill>
              </a:rPr>
              <a:t>•  Plain English — no CLI knowledge needed</a:t>
            </a:r>
          </a:p>
        </p:txBody>
      </p:sp>
      <p:sp>
        <p:nvSpPr>
          <p:cNvPr id="27" name="TextBox 26"/>
          <p:cNvSpPr txBox="1"/>
          <p:nvPr/>
        </p:nvSpPr>
        <p:spPr>
          <a:xfrm>
            <a:off x="6126480" y="3118104"/>
            <a:ext cx="5577840" cy="347472"/>
          </a:xfrm>
          <a:prstGeom prst="rect">
            <a:avLst/>
          </a:prstGeom>
          <a:noFill/>
        </p:spPr>
        <p:txBody>
          <a:bodyPr wrap="square">
            <a:spAutoFit/>
          </a:bodyPr>
          <a:lstStyle/>
          <a:p>
            <a:pPr algn="l"/>
            <a:r>
              <a:rPr sz="1050" b="0" i="0">
                <a:solidFill>
                  <a:srgbClr val="ECF0F1"/>
                </a:solidFill>
              </a:rPr>
              <a:t>•  Automated prompt &amp; audit logging</a:t>
            </a:r>
          </a:p>
        </p:txBody>
      </p:sp>
      <p:sp>
        <p:nvSpPr>
          <p:cNvPr id="28" name="TextBox 27"/>
          <p:cNvSpPr txBox="1"/>
          <p:nvPr/>
        </p:nvSpPr>
        <p:spPr>
          <a:xfrm>
            <a:off x="6126480" y="3474720"/>
            <a:ext cx="5577840" cy="347472"/>
          </a:xfrm>
          <a:prstGeom prst="rect">
            <a:avLst/>
          </a:prstGeom>
          <a:noFill/>
        </p:spPr>
        <p:txBody>
          <a:bodyPr wrap="square">
            <a:spAutoFit/>
          </a:bodyPr>
          <a:lstStyle/>
          <a:p>
            <a:pPr algn="l"/>
            <a:r>
              <a:rPr sz="1050" b="0" i="0">
                <a:solidFill>
                  <a:srgbClr val="ECF0F1"/>
                </a:solidFill>
              </a:rPr>
              <a:t>•  Unified interface for all Docker ops</a:t>
            </a:r>
          </a:p>
        </p:txBody>
      </p:sp>
      <p:sp>
        <p:nvSpPr>
          <p:cNvPr id="29" name="TextBox 28"/>
          <p:cNvSpPr txBox="1"/>
          <p:nvPr/>
        </p:nvSpPr>
        <p:spPr>
          <a:xfrm>
            <a:off x="6126480" y="3831336"/>
            <a:ext cx="5577840" cy="347472"/>
          </a:xfrm>
          <a:prstGeom prst="rect">
            <a:avLst/>
          </a:prstGeom>
          <a:noFill/>
        </p:spPr>
        <p:txBody>
          <a:bodyPr wrap="square">
            <a:spAutoFit/>
          </a:bodyPr>
          <a:lstStyle/>
          <a:p>
            <a:pPr algn="l"/>
            <a:r>
              <a:rPr sz="1050" b="0" i="0">
                <a:solidFill>
                  <a:srgbClr val="ECF0F1"/>
                </a:solidFill>
              </a:rPr>
              <a:t>•  Full container history &amp; timeline</a:t>
            </a:r>
          </a:p>
        </p:txBody>
      </p:sp>
      <p:sp>
        <p:nvSpPr>
          <p:cNvPr id="30" name="TextBox 29"/>
          <p:cNvSpPr txBox="1"/>
          <p:nvPr/>
        </p:nvSpPr>
        <p:spPr>
          <a:xfrm>
            <a:off x="6126480" y="4187952"/>
            <a:ext cx="5577840" cy="347472"/>
          </a:xfrm>
          <a:prstGeom prst="rect">
            <a:avLst/>
          </a:prstGeom>
          <a:noFill/>
        </p:spPr>
        <p:txBody>
          <a:bodyPr wrap="square">
            <a:spAutoFit/>
          </a:bodyPr>
          <a:lstStyle/>
          <a:p>
            <a:pPr algn="l"/>
            <a:r>
              <a:rPr sz="1050" b="0" i="0">
                <a:solidFill>
                  <a:srgbClr val="ECF0F1"/>
                </a:solidFill>
              </a:rPr>
              <a:t>•  SQLite audit trail for all actions</a:t>
            </a:r>
          </a:p>
        </p:txBody>
      </p:sp>
      <p:sp>
        <p:nvSpPr>
          <p:cNvPr id="31" name="TextBox 30"/>
          <p:cNvSpPr txBox="1"/>
          <p:nvPr/>
        </p:nvSpPr>
        <p:spPr>
          <a:xfrm>
            <a:off x="6126480" y="4544568"/>
            <a:ext cx="5577840" cy="347472"/>
          </a:xfrm>
          <a:prstGeom prst="rect">
            <a:avLst/>
          </a:prstGeom>
          <a:noFill/>
        </p:spPr>
        <p:txBody>
          <a:bodyPr wrap="square">
            <a:spAutoFit/>
          </a:bodyPr>
          <a:lstStyle/>
          <a:p>
            <a:pPr algn="l"/>
            <a:r>
              <a:rPr sz="1050" b="0" i="0">
                <a:solidFill>
                  <a:srgbClr val="ECF0F1"/>
                </a:solidFill>
              </a:rPr>
              <a:t>•  Plotly charts for resource analytics</a:t>
            </a:r>
          </a:p>
        </p:txBody>
      </p:sp>
      <p:sp>
        <p:nvSpPr>
          <p:cNvPr id="32" name="TextBox 31"/>
          <p:cNvSpPr txBox="1"/>
          <p:nvPr/>
        </p:nvSpPr>
        <p:spPr>
          <a:xfrm>
            <a:off x="6126480" y="4901183"/>
            <a:ext cx="5577840" cy="347472"/>
          </a:xfrm>
          <a:prstGeom prst="rect">
            <a:avLst/>
          </a:prstGeom>
          <a:noFill/>
        </p:spPr>
        <p:txBody>
          <a:bodyPr wrap="square">
            <a:spAutoFit/>
          </a:bodyPr>
          <a:lstStyle/>
          <a:p>
            <a:pPr algn="l"/>
            <a:r>
              <a:rPr sz="1050" b="0" i="0">
                <a:solidFill>
                  <a:srgbClr val="ECF0F1"/>
                </a:solidFill>
              </a:rPr>
              <a:t>•  Simple UI suitable for all skill levels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System Architecture</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4-Layer Architecture Overview</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43000"/>
            <a:ext cx="11430000" cy="109728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143000"/>
            <a:ext cx="137160" cy="10972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34440"/>
            <a:ext cx="7315200" cy="411480"/>
          </a:xfrm>
          <a:prstGeom prst="rect">
            <a:avLst/>
          </a:prstGeom>
          <a:noFill/>
        </p:spPr>
        <p:txBody>
          <a:bodyPr wrap="square">
            <a:spAutoFit/>
          </a:bodyPr>
          <a:lstStyle/>
          <a:p>
            <a:pPr algn="l"/>
            <a:r>
              <a:rPr sz="1300" b="1" i="0">
                <a:solidFill>
                  <a:srgbClr val="27AE60"/>
                </a:solidFill>
              </a:rPr>
              <a:t>🖥️  Layer 1: Frontend (Presentation)</a:t>
            </a:r>
          </a:p>
        </p:txBody>
      </p:sp>
      <p:sp>
        <p:nvSpPr>
          <p:cNvPr id="10" name="TextBox 9"/>
          <p:cNvSpPr txBox="1"/>
          <p:nvPr/>
        </p:nvSpPr>
        <p:spPr>
          <a:xfrm>
            <a:off x="594360" y="1709928"/>
            <a:ext cx="10972800" cy="411480"/>
          </a:xfrm>
          <a:prstGeom prst="rect">
            <a:avLst/>
          </a:prstGeom>
          <a:noFill/>
        </p:spPr>
        <p:txBody>
          <a:bodyPr wrap="square">
            <a:spAutoFit/>
          </a:bodyPr>
          <a:lstStyle/>
          <a:p>
            <a:pPr algn="l"/>
            <a:r>
              <a:rPr sz="1050" b="0" i="0">
                <a:solidFill>
                  <a:srgbClr val="ECF0F1"/>
                </a:solidFill>
              </a:rPr>
              <a:t>Streamlit Web UI  •  7 Navigation Pages  •  Plotly Interactive Charts  •  Custom CSS Light Theme  •  Responsive Layout</a:t>
            </a:r>
          </a:p>
        </p:txBody>
      </p:sp>
      <p:sp>
        <p:nvSpPr>
          <p:cNvPr id="11" name="TextBox 10"/>
          <p:cNvSpPr txBox="1"/>
          <p:nvPr/>
        </p:nvSpPr>
        <p:spPr>
          <a:xfrm>
            <a:off x="5852160" y="2240280"/>
            <a:ext cx="457200" cy="320040"/>
          </a:xfrm>
          <a:prstGeom prst="rect">
            <a:avLst/>
          </a:prstGeom>
          <a:noFill/>
        </p:spPr>
        <p:txBody>
          <a:bodyPr wrap="square">
            <a:spAutoFit/>
          </a:bodyPr>
          <a:lstStyle/>
          <a:p>
            <a:pPr algn="ctr"/>
            <a:r>
              <a:rPr sz="1400" b="1" i="0">
                <a:solidFill>
                  <a:srgbClr val="27AE60"/>
                </a:solidFill>
              </a:rPr>
              <a:t>⬇</a:t>
            </a:r>
          </a:p>
        </p:txBody>
      </p:sp>
      <p:sp>
        <p:nvSpPr>
          <p:cNvPr id="12" name="Rectangle 11"/>
          <p:cNvSpPr/>
          <p:nvPr/>
        </p:nvSpPr>
        <p:spPr>
          <a:xfrm>
            <a:off x="365760" y="2468880"/>
            <a:ext cx="11430000" cy="109728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2468880"/>
            <a:ext cx="137160" cy="1097280"/>
          </a:xfrm>
          <a:prstGeom prst="rect">
            <a:avLst/>
          </a:prstGeom>
          <a:solidFill>
            <a:srgbClr val="842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560320"/>
            <a:ext cx="7315200" cy="411480"/>
          </a:xfrm>
          <a:prstGeom prst="rect">
            <a:avLst/>
          </a:prstGeom>
          <a:noFill/>
        </p:spPr>
        <p:txBody>
          <a:bodyPr wrap="square">
            <a:spAutoFit/>
          </a:bodyPr>
          <a:lstStyle/>
          <a:p>
            <a:pPr algn="l"/>
            <a:r>
              <a:rPr sz="1300" b="1" i="0">
                <a:solidFill>
                  <a:srgbClr val="8429B0"/>
                </a:solidFill>
              </a:rPr>
              <a:t>🤖  Layer 2: AI Agent (Intelligence)</a:t>
            </a:r>
          </a:p>
        </p:txBody>
      </p:sp>
      <p:sp>
        <p:nvSpPr>
          <p:cNvPr id="15" name="TextBox 14"/>
          <p:cNvSpPr txBox="1"/>
          <p:nvPr/>
        </p:nvSpPr>
        <p:spPr>
          <a:xfrm>
            <a:off x="594360" y="3035808"/>
            <a:ext cx="10972800" cy="411480"/>
          </a:xfrm>
          <a:prstGeom prst="rect">
            <a:avLst/>
          </a:prstGeom>
          <a:noFill/>
        </p:spPr>
        <p:txBody>
          <a:bodyPr wrap="square">
            <a:spAutoFit/>
          </a:bodyPr>
          <a:lstStyle/>
          <a:p>
            <a:pPr algn="l"/>
            <a:r>
              <a:rPr sz="1050" b="0" i="0">
                <a:solidFill>
                  <a:srgbClr val="ECF0F1"/>
                </a:solidFill>
              </a:rPr>
              <a:t>Groq LLM API  •  llama-3.3-70b-versatile Model  •  ReAct Framework  •  Prompt Engineering  •  Step Tracking</a:t>
            </a:r>
          </a:p>
        </p:txBody>
      </p:sp>
      <p:sp>
        <p:nvSpPr>
          <p:cNvPr id="16" name="TextBox 15"/>
          <p:cNvSpPr txBox="1"/>
          <p:nvPr/>
        </p:nvSpPr>
        <p:spPr>
          <a:xfrm>
            <a:off x="5852160" y="3566160"/>
            <a:ext cx="457200" cy="320040"/>
          </a:xfrm>
          <a:prstGeom prst="rect">
            <a:avLst/>
          </a:prstGeom>
          <a:noFill/>
        </p:spPr>
        <p:txBody>
          <a:bodyPr wrap="square">
            <a:spAutoFit/>
          </a:bodyPr>
          <a:lstStyle/>
          <a:p>
            <a:pPr algn="ctr"/>
            <a:r>
              <a:rPr sz="1400" b="1" i="0">
                <a:solidFill>
                  <a:srgbClr val="27AE60"/>
                </a:solidFill>
              </a:rPr>
              <a:t>⬇</a:t>
            </a:r>
          </a:p>
        </p:txBody>
      </p:sp>
      <p:sp>
        <p:nvSpPr>
          <p:cNvPr id="17" name="Rectangle 16"/>
          <p:cNvSpPr/>
          <p:nvPr/>
        </p:nvSpPr>
        <p:spPr>
          <a:xfrm>
            <a:off x="365760" y="3794760"/>
            <a:ext cx="11430000" cy="109728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3794760"/>
            <a:ext cx="137160" cy="10972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886200"/>
            <a:ext cx="7315200" cy="411480"/>
          </a:xfrm>
          <a:prstGeom prst="rect">
            <a:avLst/>
          </a:prstGeom>
          <a:noFill/>
        </p:spPr>
        <p:txBody>
          <a:bodyPr wrap="square">
            <a:spAutoFit/>
          </a:bodyPr>
          <a:lstStyle/>
          <a:p>
            <a:pPr algn="l"/>
            <a:r>
              <a:rPr sz="1300" b="1" i="0">
                <a:solidFill>
                  <a:srgbClr val="F39C12"/>
                </a:solidFill>
              </a:rPr>
              <a:t>⚙️  Layer 3: Backend (Business Logic)</a:t>
            </a:r>
          </a:p>
        </p:txBody>
      </p:sp>
      <p:sp>
        <p:nvSpPr>
          <p:cNvPr id="20" name="TextBox 19"/>
          <p:cNvSpPr txBox="1"/>
          <p:nvPr/>
        </p:nvSpPr>
        <p:spPr>
          <a:xfrm>
            <a:off x="594360" y="4361688"/>
            <a:ext cx="10972800" cy="411480"/>
          </a:xfrm>
          <a:prstGeom prst="rect">
            <a:avLst/>
          </a:prstGeom>
          <a:noFill/>
        </p:spPr>
        <p:txBody>
          <a:bodyPr wrap="square">
            <a:spAutoFit/>
          </a:bodyPr>
          <a:lstStyle/>
          <a:p>
            <a:pPr algn="l"/>
            <a:r>
              <a:rPr sz="1050" b="0" i="0">
                <a:solidFill>
                  <a:srgbClr val="ECF0F1"/>
                </a:solidFill>
              </a:rPr>
              <a:t>Docker Manager  •  GitHub API Client  •  LLM Manager  •  Database Handler  •  Audit Logger</a:t>
            </a:r>
          </a:p>
        </p:txBody>
      </p:sp>
      <p:sp>
        <p:nvSpPr>
          <p:cNvPr id="21" name="TextBox 20"/>
          <p:cNvSpPr txBox="1"/>
          <p:nvPr/>
        </p:nvSpPr>
        <p:spPr>
          <a:xfrm>
            <a:off x="5852160" y="4892040"/>
            <a:ext cx="457200" cy="320040"/>
          </a:xfrm>
          <a:prstGeom prst="rect">
            <a:avLst/>
          </a:prstGeom>
          <a:noFill/>
        </p:spPr>
        <p:txBody>
          <a:bodyPr wrap="square">
            <a:spAutoFit/>
          </a:bodyPr>
          <a:lstStyle/>
          <a:p>
            <a:pPr algn="ctr"/>
            <a:r>
              <a:rPr sz="1400" b="1" i="0">
                <a:solidFill>
                  <a:srgbClr val="27AE60"/>
                </a:solidFill>
              </a:rPr>
              <a:t>⬇</a:t>
            </a:r>
          </a:p>
        </p:txBody>
      </p:sp>
      <p:sp>
        <p:nvSpPr>
          <p:cNvPr id="22" name="Rectangle 21"/>
          <p:cNvSpPr/>
          <p:nvPr/>
        </p:nvSpPr>
        <p:spPr>
          <a:xfrm>
            <a:off x="365760" y="5120640"/>
            <a:ext cx="11430000" cy="109728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5120640"/>
            <a:ext cx="137160" cy="1097280"/>
          </a:xfrm>
          <a:prstGeom prst="rect">
            <a:avLst/>
          </a:prstGeom>
          <a:solidFill>
            <a:srgbClr val="236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212080"/>
            <a:ext cx="7315200" cy="411480"/>
          </a:xfrm>
          <a:prstGeom prst="rect">
            <a:avLst/>
          </a:prstGeom>
          <a:noFill/>
        </p:spPr>
        <p:txBody>
          <a:bodyPr wrap="square">
            <a:spAutoFit/>
          </a:bodyPr>
          <a:lstStyle/>
          <a:p>
            <a:pPr algn="l"/>
            <a:r>
              <a:rPr sz="1300" b="1" i="0">
                <a:solidFill>
                  <a:srgbClr val="236FBD"/>
                </a:solidFill>
              </a:rPr>
              <a:t>🐋  Layer 4: Infrastructure (Runtime)</a:t>
            </a:r>
          </a:p>
        </p:txBody>
      </p:sp>
      <p:sp>
        <p:nvSpPr>
          <p:cNvPr id="25" name="TextBox 24"/>
          <p:cNvSpPr txBox="1"/>
          <p:nvPr/>
        </p:nvSpPr>
        <p:spPr>
          <a:xfrm>
            <a:off x="594360" y="5687568"/>
            <a:ext cx="10972800" cy="411480"/>
          </a:xfrm>
          <a:prstGeom prst="rect">
            <a:avLst/>
          </a:prstGeom>
          <a:noFill/>
        </p:spPr>
        <p:txBody>
          <a:bodyPr wrap="square">
            <a:spAutoFit/>
          </a:bodyPr>
          <a:lstStyle/>
          <a:p>
            <a:pPr algn="l"/>
            <a:r>
              <a:rPr sz="1050" b="0" i="0">
                <a:solidFill>
                  <a:srgbClr val="ECF0F1"/>
                </a:solidFill>
              </a:rPr>
              <a:t>Docker Engine  •  Docker SDK for Python  •  SQLite Database  •  Docker Socket  •  Container Runtime</a:t>
            </a:r>
          </a:p>
        </p:txBody>
      </p:sp>
      <p:sp>
        <p:nvSpPr>
          <p:cNvPr id="26" name="TextBox 25"/>
          <p:cNvSpPr txBox="1"/>
          <p:nvPr/>
        </p:nvSpPr>
        <p:spPr>
          <a:xfrm>
            <a:off x="365760" y="6400800"/>
            <a:ext cx="11430000" cy="228600"/>
          </a:xfrm>
          <a:prstGeom prst="rect">
            <a:avLst/>
          </a:prstGeom>
          <a:noFill/>
        </p:spPr>
        <p:txBody>
          <a:bodyPr wrap="square">
            <a:spAutoFit/>
          </a:bodyPr>
          <a:lstStyle/>
          <a:p>
            <a:pPr algn="l"/>
            <a:r>
              <a:rPr sz="1000" b="0" i="1">
                <a:solidFill>
                  <a:srgbClr val="7F8C8D"/>
                </a:solidFill>
              </a:rPr>
              <a:t>All layers communicate through Python module imports — no microservices overhead, simple and fast.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Dashboard Page — Deep Dive</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The main health overview screen</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7498079"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70432"/>
            <a:ext cx="7132320" cy="411480"/>
          </a:xfrm>
          <a:prstGeom prst="rect">
            <a:avLst/>
          </a:prstGeom>
          <a:noFill/>
        </p:spPr>
        <p:txBody>
          <a:bodyPr wrap="square">
            <a:spAutoFit/>
          </a:bodyPr>
          <a:lstStyle/>
          <a:p>
            <a:pPr algn="l"/>
            <a:r>
              <a:rPr sz="1400" b="1" i="0">
                <a:solidFill>
                  <a:srgbClr val="27AE60"/>
                </a:solidFill>
              </a:rPr>
              <a:t>📊  What the Dashboard Shows</a:t>
            </a:r>
          </a:p>
        </p:txBody>
      </p:sp>
      <p:sp>
        <p:nvSpPr>
          <p:cNvPr id="9" name="TextBox 8"/>
          <p:cNvSpPr txBox="1"/>
          <p:nvPr/>
        </p:nvSpPr>
        <p:spPr>
          <a:xfrm>
            <a:off x="457200" y="1645920"/>
            <a:ext cx="7132320" cy="338328"/>
          </a:xfrm>
          <a:prstGeom prst="rect">
            <a:avLst/>
          </a:prstGeom>
          <a:noFill/>
        </p:spPr>
        <p:txBody>
          <a:bodyPr wrap="square">
            <a:spAutoFit/>
          </a:bodyPr>
          <a:lstStyle/>
          <a:p>
            <a:pPr algn="l"/>
            <a:r>
              <a:rPr sz="1050" b="0" i="0">
                <a:solidFill>
                  <a:srgbClr val="ECF0F1"/>
                </a:solidFill>
              </a:rPr>
              <a:t>🔢  Total Containers — count of all containers on the system</a:t>
            </a:r>
          </a:p>
        </p:txBody>
      </p:sp>
      <p:sp>
        <p:nvSpPr>
          <p:cNvPr id="10" name="TextBox 9"/>
          <p:cNvSpPr txBox="1"/>
          <p:nvPr/>
        </p:nvSpPr>
        <p:spPr>
          <a:xfrm>
            <a:off x="457200" y="2011680"/>
            <a:ext cx="7132320" cy="338328"/>
          </a:xfrm>
          <a:prstGeom prst="rect">
            <a:avLst/>
          </a:prstGeom>
          <a:noFill/>
        </p:spPr>
        <p:txBody>
          <a:bodyPr wrap="square">
            <a:spAutoFit/>
          </a:bodyPr>
          <a:lstStyle/>
          <a:p>
            <a:pPr algn="l"/>
            <a:r>
              <a:rPr sz="1050" b="0" i="0">
                <a:solidFill>
                  <a:srgbClr val="ECF0F1"/>
                </a:solidFill>
              </a:rPr>
              <a:t>▶️   Running — containers currently active and serving</a:t>
            </a:r>
          </a:p>
        </p:txBody>
      </p:sp>
      <p:sp>
        <p:nvSpPr>
          <p:cNvPr id="11" name="TextBox 10"/>
          <p:cNvSpPr txBox="1"/>
          <p:nvPr/>
        </p:nvSpPr>
        <p:spPr>
          <a:xfrm>
            <a:off x="457200" y="2377440"/>
            <a:ext cx="7132320" cy="338328"/>
          </a:xfrm>
          <a:prstGeom prst="rect">
            <a:avLst/>
          </a:prstGeom>
          <a:noFill/>
        </p:spPr>
        <p:txBody>
          <a:bodyPr wrap="square">
            <a:spAutoFit/>
          </a:bodyPr>
          <a:lstStyle/>
          <a:p>
            <a:pPr algn="l"/>
            <a:r>
              <a:rPr sz="1050" b="0" i="0">
                <a:solidFill>
                  <a:srgbClr val="ECF0F1"/>
                </a:solidFill>
              </a:rPr>
              <a:t>⏹️   Stopped — exited or stopped containers</a:t>
            </a:r>
          </a:p>
        </p:txBody>
      </p:sp>
      <p:sp>
        <p:nvSpPr>
          <p:cNvPr id="12" name="TextBox 11"/>
          <p:cNvSpPr txBox="1"/>
          <p:nvPr/>
        </p:nvSpPr>
        <p:spPr>
          <a:xfrm>
            <a:off x="457200" y="2743200"/>
            <a:ext cx="7132320" cy="338328"/>
          </a:xfrm>
          <a:prstGeom prst="rect">
            <a:avLst/>
          </a:prstGeom>
          <a:noFill/>
        </p:spPr>
        <p:txBody>
          <a:bodyPr wrap="square">
            <a:spAutoFit/>
          </a:bodyPr>
          <a:lstStyle/>
          <a:p>
            <a:pPr algn="l"/>
            <a:r>
              <a:rPr sz="1050" b="0" i="0">
                <a:solidFill>
                  <a:srgbClr val="ECF0F1"/>
                </a:solidFill>
              </a:rPr>
              <a:t>🔄  Restarting — containers in restart loop (potential issues)</a:t>
            </a:r>
          </a:p>
        </p:txBody>
      </p:sp>
      <p:sp>
        <p:nvSpPr>
          <p:cNvPr id="13" name="TextBox 12"/>
          <p:cNvSpPr txBox="1"/>
          <p:nvPr/>
        </p:nvSpPr>
        <p:spPr>
          <a:xfrm>
            <a:off x="457200" y="3108960"/>
            <a:ext cx="7132320" cy="338328"/>
          </a:xfrm>
          <a:prstGeom prst="rect">
            <a:avLst/>
          </a:prstGeom>
          <a:noFill/>
        </p:spPr>
        <p:txBody>
          <a:bodyPr wrap="square">
            <a:spAutoFit/>
          </a:bodyPr>
          <a:lstStyle/>
          <a:p>
            <a:pPr algn="l"/>
            <a:r>
              <a:rPr sz="1050" b="0" i="0">
                <a:solidFill>
                  <a:srgbClr val="ECF0F1"/>
                </a:solidFill>
              </a:rPr>
              <a:t>⚠️   Unhealthy — containers with CPU usage above 90%</a:t>
            </a:r>
          </a:p>
        </p:txBody>
      </p:sp>
      <p:sp>
        <p:nvSpPr>
          <p:cNvPr id="14" name="TextBox 13"/>
          <p:cNvSpPr txBox="1"/>
          <p:nvPr/>
        </p:nvSpPr>
        <p:spPr>
          <a:xfrm>
            <a:off x="457200" y="3474720"/>
            <a:ext cx="7132320" cy="338328"/>
          </a:xfrm>
          <a:prstGeom prst="rect">
            <a:avLst/>
          </a:prstGeom>
          <a:noFill/>
        </p:spPr>
        <p:txBody>
          <a:bodyPr wrap="square">
            <a:spAutoFit/>
          </a:bodyPr>
          <a:lstStyle/>
          <a:p>
            <a:pPr algn="l"/>
            <a:r>
              <a:rPr sz="1050" b="0" i="0">
                <a:solidFill>
                  <a:srgbClr val="ECF0F1"/>
                </a:solidFill>
              </a:rPr>
              <a:t>🖥️   Docker Version — engine version info</a:t>
            </a:r>
          </a:p>
        </p:txBody>
      </p:sp>
      <p:sp>
        <p:nvSpPr>
          <p:cNvPr id="15" name="TextBox 14"/>
          <p:cNvSpPr txBox="1"/>
          <p:nvPr/>
        </p:nvSpPr>
        <p:spPr>
          <a:xfrm>
            <a:off x="457200" y="3840480"/>
            <a:ext cx="7132320" cy="338328"/>
          </a:xfrm>
          <a:prstGeom prst="rect">
            <a:avLst/>
          </a:prstGeom>
          <a:noFill/>
        </p:spPr>
        <p:txBody>
          <a:bodyPr wrap="square">
            <a:spAutoFit/>
          </a:bodyPr>
          <a:lstStyle/>
          <a:p>
            <a:pPr algn="l"/>
            <a:r>
              <a:rPr sz="1050" b="0" i="0">
                <a:solidFill>
                  <a:srgbClr val="ECF0F1"/>
                </a:solidFill>
              </a:rPr>
              <a:t>💻  Operating System — host OS details</a:t>
            </a:r>
          </a:p>
        </p:txBody>
      </p:sp>
      <p:sp>
        <p:nvSpPr>
          <p:cNvPr id="16" name="TextBox 15"/>
          <p:cNvSpPr txBox="1"/>
          <p:nvPr/>
        </p:nvSpPr>
        <p:spPr>
          <a:xfrm>
            <a:off x="457200" y="4206240"/>
            <a:ext cx="7132320" cy="338328"/>
          </a:xfrm>
          <a:prstGeom prst="rect">
            <a:avLst/>
          </a:prstGeom>
          <a:noFill/>
        </p:spPr>
        <p:txBody>
          <a:bodyPr wrap="square">
            <a:spAutoFit/>
          </a:bodyPr>
          <a:lstStyle/>
          <a:p>
            <a:pPr algn="l"/>
            <a:r>
              <a:rPr sz="1050" b="0" i="0">
                <a:solidFill>
                  <a:srgbClr val="ECF0F1"/>
                </a:solidFill>
              </a:rPr>
              <a:t>🧠  Total Memory — available RAM in GB</a:t>
            </a:r>
          </a:p>
        </p:txBody>
      </p:sp>
      <p:sp>
        <p:nvSpPr>
          <p:cNvPr id="17" name="TextBox 16"/>
          <p:cNvSpPr txBox="1"/>
          <p:nvPr/>
        </p:nvSpPr>
        <p:spPr>
          <a:xfrm>
            <a:off x="457200" y="4572000"/>
            <a:ext cx="7132320" cy="338328"/>
          </a:xfrm>
          <a:prstGeom prst="rect">
            <a:avLst/>
          </a:prstGeom>
          <a:noFill/>
        </p:spPr>
        <p:txBody>
          <a:bodyPr wrap="square">
            <a:spAutoFit/>
          </a:bodyPr>
          <a:lstStyle/>
          <a:p>
            <a:pPr algn="l"/>
            <a:r>
              <a:rPr sz="1050" b="0" i="0">
                <a:solidFill>
                  <a:srgbClr val="ECF0F1"/>
                </a:solidFill>
              </a:rPr>
              <a:t>🖼️   Images — total Docker images on system</a:t>
            </a:r>
          </a:p>
        </p:txBody>
      </p:sp>
      <p:sp>
        <p:nvSpPr>
          <p:cNvPr id="18" name="TextBox 17"/>
          <p:cNvSpPr txBox="1"/>
          <p:nvPr/>
        </p:nvSpPr>
        <p:spPr>
          <a:xfrm>
            <a:off x="457200" y="4937760"/>
            <a:ext cx="7132320" cy="338328"/>
          </a:xfrm>
          <a:prstGeom prst="rect">
            <a:avLst/>
          </a:prstGeom>
          <a:noFill/>
        </p:spPr>
        <p:txBody>
          <a:bodyPr wrap="square">
            <a:spAutoFit/>
          </a:bodyPr>
          <a:lstStyle/>
          <a:p>
            <a:pPr algn="l"/>
            <a:r>
              <a:rPr sz="1050" b="0" i="0">
                <a:solidFill>
                  <a:srgbClr val="ECF0F1"/>
                </a:solidFill>
              </a:rPr>
              <a:t>🔄  Refresh Dashboard — live data reload button</a:t>
            </a:r>
          </a:p>
        </p:txBody>
      </p:sp>
      <p:sp>
        <p:nvSpPr>
          <p:cNvPr id="19" name="TextBox 18"/>
          <p:cNvSpPr txBox="1"/>
          <p:nvPr/>
        </p:nvSpPr>
        <p:spPr>
          <a:xfrm>
            <a:off x="457200" y="5303520"/>
            <a:ext cx="7132320" cy="338328"/>
          </a:xfrm>
          <a:prstGeom prst="rect">
            <a:avLst/>
          </a:prstGeom>
          <a:noFill/>
        </p:spPr>
        <p:txBody>
          <a:bodyPr wrap="square">
            <a:spAutoFit/>
          </a:bodyPr>
          <a:lstStyle/>
          <a:p>
            <a:pPr algn="l"/>
            <a:r>
              <a:rPr sz="1050" b="0" i="0">
                <a:solidFill>
                  <a:srgbClr val="ECF0F1"/>
                </a:solidFill>
              </a:rPr>
              <a:t>📊  View Analytics — quick link to charts page</a:t>
            </a:r>
          </a:p>
        </p:txBody>
      </p:sp>
      <p:sp>
        <p:nvSpPr>
          <p:cNvPr id="20" name="Rectangle 19"/>
          <p:cNvSpPr/>
          <p:nvPr/>
        </p:nvSpPr>
        <p:spPr>
          <a:xfrm>
            <a:off x="8046720" y="1097280"/>
            <a:ext cx="3840480" cy="237744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79" y="1170432"/>
            <a:ext cx="3566160" cy="365760"/>
          </a:xfrm>
          <a:prstGeom prst="rect">
            <a:avLst/>
          </a:prstGeom>
          <a:noFill/>
        </p:spPr>
        <p:txBody>
          <a:bodyPr wrap="square">
            <a:spAutoFit/>
          </a:bodyPr>
          <a:lstStyle/>
          <a:p>
            <a:pPr algn="l"/>
            <a:r>
              <a:rPr sz="1200" b="1" i="0">
                <a:solidFill>
                  <a:srgbClr val="27AE60"/>
                </a:solidFill>
              </a:rPr>
              <a:t>KPI Cards Layout</a:t>
            </a:r>
          </a:p>
        </p:txBody>
      </p:sp>
      <p:sp>
        <p:nvSpPr>
          <p:cNvPr id="22" name="Rectangle 21"/>
          <p:cNvSpPr/>
          <p:nvPr/>
        </p:nvSpPr>
        <p:spPr>
          <a:xfrm>
            <a:off x="8183879" y="1600200"/>
            <a:ext cx="3566160" cy="3291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1645920"/>
            <a:ext cx="3383280" cy="256032"/>
          </a:xfrm>
          <a:prstGeom prst="rect">
            <a:avLst/>
          </a:prstGeom>
          <a:noFill/>
        </p:spPr>
        <p:txBody>
          <a:bodyPr wrap="square">
            <a:spAutoFit/>
          </a:bodyPr>
          <a:lstStyle/>
          <a:p>
            <a:pPr algn="l"/>
            <a:r>
              <a:rPr sz="1000" b="0" i="0">
                <a:solidFill>
                  <a:srgbClr val="FFFFFF"/>
                </a:solidFill>
              </a:rPr>
              <a:t>Total Containers</a:t>
            </a:r>
          </a:p>
        </p:txBody>
      </p:sp>
      <p:sp>
        <p:nvSpPr>
          <p:cNvPr id="24" name="Rectangle 23"/>
          <p:cNvSpPr/>
          <p:nvPr/>
        </p:nvSpPr>
        <p:spPr>
          <a:xfrm>
            <a:off x="8183879" y="1984248"/>
            <a:ext cx="3566160" cy="3291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5320" y="2029967"/>
            <a:ext cx="3383280" cy="256032"/>
          </a:xfrm>
          <a:prstGeom prst="rect">
            <a:avLst/>
          </a:prstGeom>
          <a:noFill/>
        </p:spPr>
        <p:txBody>
          <a:bodyPr wrap="square">
            <a:spAutoFit/>
          </a:bodyPr>
          <a:lstStyle/>
          <a:p>
            <a:pPr algn="l"/>
            <a:r>
              <a:rPr sz="1000" b="0" i="0">
                <a:solidFill>
                  <a:srgbClr val="FFFFFF"/>
                </a:solidFill>
              </a:rPr>
              <a:t>Running</a:t>
            </a:r>
          </a:p>
        </p:txBody>
      </p:sp>
      <p:sp>
        <p:nvSpPr>
          <p:cNvPr id="26" name="Rectangle 25"/>
          <p:cNvSpPr/>
          <p:nvPr/>
        </p:nvSpPr>
        <p:spPr>
          <a:xfrm>
            <a:off x="8183879" y="2368296"/>
            <a:ext cx="3566160" cy="3291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20" y="2414015"/>
            <a:ext cx="3383280" cy="256032"/>
          </a:xfrm>
          <a:prstGeom prst="rect">
            <a:avLst/>
          </a:prstGeom>
          <a:noFill/>
        </p:spPr>
        <p:txBody>
          <a:bodyPr wrap="square">
            <a:spAutoFit/>
          </a:bodyPr>
          <a:lstStyle/>
          <a:p>
            <a:pPr algn="l"/>
            <a:r>
              <a:rPr sz="1000" b="0" i="0">
                <a:solidFill>
                  <a:srgbClr val="FFFFFF"/>
                </a:solidFill>
              </a:rPr>
              <a:t>Stopped</a:t>
            </a:r>
          </a:p>
        </p:txBody>
      </p:sp>
      <p:sp>
        <p:nvSpPr>
          <p:cNvPr id="28" name="Rectangle 27"/>
          <p:cNvSpPr/>
          <p:nvPr/>
        </p:nvSpPr>
        <p:spPr>
          <a:xfrm>
            <a:off x="8183879" y="2752344"/>
            <a:ext cx="3566160" cy="3291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20" y="2798063"/>
            <a:ext cx="3383280" cy="256032"/>
          </a:xfrm>
          <a:prstGeom prst="rect">
            <a:avLst/>
          </a:prstGeom>
          <a:noFill/>
        </p:spPr>
        <p:txBody>
          <a:bodyPr wrap="square">
            <a:spAutoFit/>
          </a:bodyPr>
          <a:lstStyle/>
          <a:p>
            <a:pPr algn="l"/>
            <a:r>
              <a:rPr sz="1000" b="0" i="0">
                <a:solidFill>
                  <a:srgbClr val="FFFFFF"/>
                </a:solidFill>
              </a:rPr>
              <a:t>Restarting</a:t>
            </a:r>
          </a:p>
        </p:txBody>
      </p:sp>
      <p:sp>
        <p:nvSpPr>
          <p:cNvPr id="30" name="Rectangle 29"/>
          <p:cNvSpPr/>
          <p:nvPr/>
        </p:nvSpPr>
        <p:spPr>
          <a:xfrm>
            <a:off x="8183879" y="3136391"/>
            <a:ext cx="3566160" cy="3291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75320" y="3182111"/>
            <a:ext cx="3383280" cy="256032"/>
          </a:xfrm>
          <a:prstGeom prst="rect">
            <a:avLst/>
          </a:prstGeom>
          <a:noFill/>
        </p:spPr>
        <p:txBody>
          <a:bodyPr wrap="square">
            <a:spAutoFit/>
          </a:bodyPr>
          <a:lstStyle/>
          <a:p>
            <a:pPr algn="l"/>
            <a:r>
              <a:rPr sz="1000" b="0" i="0">
                <a:solidFill>
                  <a:srgbClr val="FFFFFF"/>
                </a:solidFill>
              </a:rPr>
              <a:t>Unhealthy</a:t>
            </a:r>
          </a:p>
        </p:txBody>
      </p:sp>
      <p:sp>
        <p:nvSpPr>
          <p:cNvPr id="32" name="Rectangle 31"/>
          <p:cNvSpPr/>
          <p:nvPr/>
        </p:nvSpPr>
        <p:spPr>
          <a:xfrm>
            <a:off x="8046720" y="3749039"/>
            <a:ext cx="3840480" cy="265176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83879" y="3822191"/>
            <a:ext cx="3566160" cy="365760"/>
          </a:xfrm>
          <a:prstGeom prst="rect">
            <a:avLst/>
          </a:prstGeom>
          <a:noFill/>
        </p:spPr>
        <p:txBody>
          <a:bodyPr wrap="square">
            <a:spAutoFit/>
          </a:bodyPr>
          <a:lstStyle/>
          <a:p>
            <a:pPr algn="l"/>
            <a:r>
              <a:rPr sz="1200" b="1" i="0">
                <a:solidFill>
                  <a:srgbClr val="27AE60"/>
                </a:solidFill>
              </a:rPr>
              <a:t>Key Implementation</a:t>
            </a:r>
          </a:p>
        </p:txBody>
      </p:sp>
      <p:sp>
        <p:nvSpPr>
          <p:cNvPr id="34" name="TextBox 33"/>
          <p:cNvSpPr txBox="1"/>
          <p:nvPr/>
        </p:nvSpPr>
        <p:spPr>
          <a:xfrm>
            <a:off x="8183879" y="4251960"/>
            <a:ext cx="3566160" cy="338328"/>
          </a:xfrm>
          <a:prstGeom prst="rect">
            <a:avLst/>
          </a:prstGeom>
          <a:noFill/>
        </p:spPr>
        <p:txBody>
          <a:bodyPr wrap="square">
            <a:spAutoFit/>
          </a:bodyPr>
          <a:lstStyle/>
          <a:p>
            <a:pPr algn="l"/>
            <a:r>
              <a:rPr sz="1000" b="0" i="0">
                <a:solidFill>
                  <a:srgbClr val="ECF0F1"/>
                </a:solidFill>
              </a:rPr>
              <a:t>▸ Uses @st.cache_resource</a:t>
            </a:r>
          </a:p>
        </p:txBody>
      </p:sp>
      <p:sp>
        <p:nvSpPr>
          <p:cNvPr id="35" name="TextBox 34"/>
          <p:cNvSpPr txBox="1"/>
          <p:nvPr/>
        </p:nvSpPr>
        <p:spPr>
          <a:xfrm>
            <a:off x="8183879" y="4636008"/>
            <a:ext cx="3566160" cy="338328"/>
          </a:xfrm>
          <a:prstGeom prst="rect">
            <a:avLst/>
          </a:prstGeom>
          <a:noFill/>
        </p:spPr>
        <p:txBody>
          <a:bodyPr wrap="square">
            <a:spAutoFit/>
          </a:bodyPr>
          <a:lstStyle/>
          <a:p>
            <a:pPr algn="l"/>
            <a:r>
              <a:rPr sz="1000" b="0" i="0">
                <a:solidFill>
                  <a:srgbClr val="ECF0F1"/>
                </a:solidFill>
              </a:rPr>
              <a:t>▸ DockerManager.get_system_info()</a:t>
            </a:r>
          </a:p>
        </p:txBody>
      </p:sp>
      <p:sp>
        <p:nvSpPr>
          <p:cNvPr id="36" name="TextBox 35"/>
          <p:cNvSpPr txBox="1"/>
          <p:nvPr/>
        </p:nvSpPr>
        <p:spPr>
          <a:xfrm>
            <a:off x="8183879" y="5020056"/>
            <a:ext cx="3566160" cy="338328"/>
          </a:xfrm>
          <a:prstGeom prst="rect">
            <a:avLst/>
          </a:prstGeom>
          <a:noFill/>
        </p:spPr>
        <p:txBody>
          <a:bodyPr wrap="square">
            <a:spAutoFit/>
          </a:bodyPr>
          <a:lstStyle/>
          <a:p>
            <a:pPr algn="l"/>
            <a:r>
              <a:rPr sz="1000" b="0" i="0">
                <a:solidFill>
                  <a:srgbClr val="ECF0F1"/>
                </a:solidFill>
              </a:rPr>
              <a:t>▸ DockerManager.list_containers()</a:t>
            </a:r>
          </a:p>
        </p:txBody>
      </p:sp>
      <p:sp>
        <p:nvSpPr>
          <p:cNvPr id="37" name="TextBox 36"/>
          <p:cNvSpPr txBox="1"/>
          <p:nvPr/>
        </p:nvSpPr>
        <p:spPr>
          <a:xfrm>
            <a:off x="8183879" y="5404104"/>
            <a:ext cx="3566160" cy="338328"/>
          </a:xfrm>
          <a:prstGeom prst="rect">
            <a:avLst/>
          </a:prstGeom>
          <a:noFill/>
        </p:spPr>
        <p:txBody>
          <a:bodyPr wrap="square">
            <a:spAutoFit/>
          </a:bodyPr>
          <a:lstStyle/>
          <a:p>
            <a:pPr algn="l"/>
            <a:r>
              <a:rPr sz="1000" b="0" i="0">
                <a:solidFill>
                  <a:srgbClr val="ECF0F1"/>
                </a:solidFill>
              </a:rPr>
              <a:t>▸ st.metric() for KPI cards</a:t>
            </a:r>
          </a:p>
        </p:txBody>
      </p:sp>
      <p:sp>
        <p:nvSpPr>
          <p:cNvPr id="38" name="TextBox 37"/>
          <p:cNvSpPr txBox="1"/>
          <p:nvPr/>
        </p:nvSpPr>
        <p:spPr>
          <a:xfrm>
            <a:off x="8183879" y="5788152"/>
            <a:ext cx="3566160" cy="338328"/>
          </a:xfrm>
          <a:prstGeom prst="rect">
            <a:avLst/>
          </a:prstGeom>
          <a:noFill/>
        </p:spPr>
        <p:txBody>
          <a:bodyPr wrap="square">
            <a:spAutoFit/>
          </a:bodyPr>
          <a:lstStyle/>
          <a:p>
            <a:pPr algn="l"/>
            <a:r>
              <a:rPr sz="1000" b="0" i="0">
                <a:solidFill>
                  <a:srgbClr val="ECF0F1"/>
                </a:solidFill>
              </a:rPr>
              <a:t>▸ st.rerun() for refresh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Container Management Page</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Full CRUD control over Docker containers</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3840480" cy="53949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384048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52144"/>
            <a:ext cx="3621024" cy="411480"/>
          </a:xfrm>
          <a:prstGeom prst="rect">
            <a:avLst/>
          </a:prstGeom>
          <a:noFill/>
        </p:spPr>
        <p:txBody>
          <a:bodyPr wrap="square">
            <a:spAutoFit/>
          </a:bodyPr>
          <a:lstStyle/>
          <a:p>
            <a:pPr algn="l"/>
            <a:r>
              <a:rPr sz="1200" b="1" i="0">
                <a:solidFill>
                  <a:srgbClr val="FFFFFF"/>
                </a:solidFill>
              </a:rPr>
              <a:t>📋  Container Table</a:t>
            </a:r>
          </a:p>
        </p:txBody>
      </p:sp>
      <p:sp>
        <p:nvSpPr>
          <p:cNvPr id="10" name="TextBox 9"/>
          <p:cNvSpPr txBox="1"/>
          <p:nvPr/>
        </p:nvSpPr>
        <p:spPr>
          <a:xfrm>
            <a:off x="384048" y="1664207"/>
            <a:ext cx="3621024" cy="347472"/>
          </a:xfrm>
          <a:prstGeom prst="rect">
            <a:avLst/>
          </a:prstGeom>
          <a:noFill/>
        </p:spPr>
        <p:txBody>
          <a:bodyPr wrap="square">
            <a:spAutoFit/>
          </a:bodyPr>
          <a:lstStyle/>
          <a:p>
            <a:pPr algn="l"/>
            <a:r>
              <a:rPr sz="1000" b="0" i="0">
                <a:solidFill>
                  <a:srgbClr val="ECF0F1"/>
                </a:solidFill>
              </a:rPr>
              <a:t>▸  Shows all containers in a DataFrame</a:t>
            </a:r>
          </a:p>
        </p:txBody>
      </p:sp>
      <p:sp>
        <p:nvSpPr>
          <p:cNvPr id="11" name="TextBox 10"/>
          <p:cNvSpPr txBox="1"/>
          <p:nvPr/>
        </p:nvSpPr>
        <p:spPr>
          <a:xfrm>
            <a:off x="384048" y="2011679"/>
            <a:ext cx="3621024" cy="347472"/>
          </a:xfrm>
          <a:prstGeom prst="rect">
            <a:avLst/>
          </a:prstGeom>
          <a:noFill/>
        </p:spPr>
        <p:txBody>
          <a:bodyPr wrap="square">
            <a:spAutoFit/>
          </a:bodyPr>
          <a:lstStyle/>
          <a:p>
            <a:pPr algn="l"/>
            <a:r>
              <a:rPr sz="1000" b="0" i="0">
                <a:solidFill>
                  <a:srgbClr val="ECF0F1"/>
                </a:solidFill>
              </a:rPr>
              <a:t>▸  Columns: Name, Status, Image,</a:t>
            </a:r>
          </a:p>
        </p:txBody>
      </p:sp>
      <p:sp>
        <p:nvSpPr>
          <p:cNvPr id="12" name="TextBox 11"/>
          <p:cNvSpPr txBox="1"/>
          <p:nvPr/>
        </p:nvSpPr>
        <p:spPr>
          <a:xfrm>
            <a:off x="384048" y="2359151"/>
            <a:ext cx="3621024" cy="347472"/>
          </a:xfrm>
          <a:prstGeom prst="rect">
            <a:avLst/>
          </a:prstGeom>
          <a:noFill/>
        </p:spPr>
        <p:txBody>
          <a:bodyPr wrap="square">
            <a:spAutoFit/>
          </a:bodyPr>
          <a:lstStyle/>
          <a:p>
            <a:pPr algn="l"/>
            <a:r>
              <a:rPr sz="1000" b="0" i="0">
                <a:solidFill>
                  <a:srgbClr val="ECF0F1"/>
                </a:solidFill>
              </a:rPr>
              <a:t>▸    CPU %, Memory MB, ID</a:t>
            </a:r>
          </a:p>
        </p:txBody>
      </p:sp>
      <p:sp>
        <p:nvSpPr>
          <p:cNvPr id="13" name="TextBox 12"/>
          <p:cNvSpPr txBox="1"/>
          <p:nvPr/>
        </p:nvSpPr>
        <p:spPr>
          <a:xfrm>
            <a:off x="384048" y="2706623"/>
            <a:ext cx="3621024" cy="347472"/>
          </a:xfrm>
          <a:prstGeom prst="rect">
            <a:avLst/>
          </a:prstGeom>
          <a:noFill/>
        </p:spPr>
        <p:txBody>
          <a:bodyPr wrap="square">
            <a:spAutoFit/>
          </a:bodyPr>
          <a:lstStyle/>
          <a:p>
            <a:pPr algn="l"/>
            <a:r>
              <a:rPr sz="1000" b="0" i="0">
                <a:solidFill>
                  <a:srgbClr val="ECF0F1"/>
                </a:solidFill>
              </a:rPr>
              <a:t>▸  Filter by: all / running /</a:t>
            </a:r>
          </a:p>
        </p:txBody>
      </p:sp>
      <p:sp>
        <p:nvSpPr>
          <p:cNvPr id="14" name="TextBox 13"/>
          <p:cNvSpPr txBox="1"/>
          <p:nvPr/>
        </p:nvSpPr>
        <p:spPr>
          <a:xfrm>
            <a:off x="384048" y="3054095"/>
            <a:ext cx="3621024" cy="347472"/>
          </a:xfrm>
          <a:prstGeom prst="rect">
            <a:avLst/>
          </a:prstGeom>
          <a:noFill/>
        </p:spPr>
        <p:txBody>
          <a:bodyPr wrap="square">
            <a:spAutoFit/>
          </a:bodyPr>
          <a:lstStyle/>
          <a:p>
            <a:pPr algn="l"/>
            <a:r>
              <a:rPr sz="1000" b="0" i="0">
                <a:solidFill>
                  <a:srgbClr val="ECF0F1"/>
                </a:solidFill>
              </a:rPr>
              <a:t>▸    exited / paused / restarting</a:t>
            </a:r>
          </a:p>
        </p:txBody>
      </p:sp>
      <p:sp>
        <p:nvSpPr>
          <p:cNvPr id="15" name="TextBox 14"/>
          <p:cNvSpPr txBox="1"/>
          <p:nvPr/>
        </p:nvSpPr>
        <p:spPr>
          <a:xfrm>
            <a:off x="384048" y="3401567"/>
            <a:ext cx="3621024" cy="347472"/>
          </a:xfrm>
          <a:prstGeom prst="rect">
            <a:avLst/>
          </a:prstGeom>
          <a:noFill/>
        </p:spPr>
        <p:txBody>
          <a:bodyPr wrap="square">
            <a:spAutoFit/>
          </a:bodyPr>
          <a:lstStyle/>
          <a:p>
            <a:pPr algn="l"/>
            <a:r>
              <a:rPr sz="1000" b="0" i="0">
                <a:solidFill>
                  <a:srgbClr val="ECF0F1"/>
                </a:solidFill>
              </a:rPr>
              <a:t>▸  Color-coded status indicators</a:t>
            </a:r>
          </a:p>
        </p:txBody>
      </p:sp>
      <p:sp>
        <p:nvSpPr>
          <p:cNvPr id="16" name="TextBox 15"/>
          <p:cNvSpPr txBox="1"/>
          <p:nvPr/>
        </p:nvSpPr>
        <p:spPr>
          <a:xfrm>
            <a:off x="384048" y="3749039"/>
            <a:ext cx="3621024" cy="347472"/>
          </a:xfrm>
          <a:prstGeom prst="rect">
            <a:avLst/>
          </a:prstGeom>
          <a:noFill/>
        </p:spPr>
        <p:txBody>
          <a:bodyPr wrap="square">
            <a:spAutoFit/>
          </a:bodyPr>
          <a:lstStyle/>
          <a:p>
            <a:pPr algn="l"/>
            <a:r>
              <a:rPr sz="1000" b="0" i="0">
                <a:solidFill>
                  <a:srgbClr val="ECF0F1"/>
                </a:solidFill>
              </a:rPr>
              <a:t>▸  Sortable and scrollable table</a:t>
            </a:r>
          </a:p>
        </p:txBody>
      </p:sp>
      <p:sp>
        <p:nvSpPr>
          <p:cNvPr id="17" name="Rectangle 16"/>
          <p:cNvSpPr/>
          <p:nvPr/>
        </p:nvSpPr>
        <p:spPr>
          <a:xfrm>
            <a:off x="4251959" y="1097280"/>
            <a:ext cx="3840480" cy="53949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51959" y="1097280"/>
            <a:ext cx="3840480"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61688" y="1152144"/>
            <a:ext cx="3621024" cy="411480"/>
          </a:xfrm>
          <a:prstGeom prst="rect">
            <a:avLst/>
          </a:prstGeom>
          <a:noFill/>
        </p:spPr>
        <p:txBody>
          <a:bodyPr wrap="square">
            <a:spAutoFit/>
          </a:bodyPr>
          <a:lstStyle/>
          <a:p>
            <a:pPr algn="l"/>
            <a:r>
              <a:rPr sz="1200" b="1" i="0">
                <a:solidFill>
                  <a:srgbClr val="FFFFFF"/>
                </a:solidFill>
              </a:rPr>
              <a:t>🎮  Container Actions</a:t>
            </a:r>
          </a:p>
        </p:txBody>
      </p:sp>
      <p:sp>
        <p:nvSpPr>
          <p:cNvPr id="20" name="TextBox 19"/>
          <p:cNvSpPr txBox="1"/>
          <p:nvPr/>
        </p:nvSpPr>
        <p:spPr>
          <a:xfrm>
            <a:off x="4361688" y="1664207"/>
            <a:ext cx="3621024" cy="347472"/>
          </a:xfrm>
          <a:prstGeom prst="rect">
            <a:avLst/>
          </a:prstGeom>
          <a:noFill/>
        </p:spPr>
        <p:txBody>
          <a:bodyPr wrap="square">
            <a:spAutoFit/>
          </a:bodyPr>
          <a:lstStyle/>
          <a:p>
            <a:pPr algn="l"/>
            <a:r>
              <a:rPr sz="1000" b="0" i="0">
                <a:solidFill>
                  <a:srgbClr val="ECF0F1"/>
                </a:solidFill>
              </a:rPr>
              <a:t>▸  Select container from dropdown</a:t>
            </a:r>
          </a:p>
        </p:txBody>
      </p:sp>
      <p:sp>
        <p:nvSpPr>
          <p:cNvPr id="21" name="TextBox 20"/>
          <p:cNvSpPr txBox="1"/>
          <p:nvPr/>
        </p:nvSpPr>
        <p:spPr>
          <a:xfrm>
            <a:off x="4361688" y="2011679"/>
            <a:ext cx="3621024" cy="347472"/>
          </a:xfrm>
          <a:prstGeom prst="rect">
            <a:avLst/>
          </a:prstGeom>
          <a:noFill/>
        </p:spPr>
        <p:txBody>
          <a:bodyPr wrap="square">
            <a:spAutoFit/>
          </a:bodyPr>
          <a:lstStyle/>
          <a:p>
            <a:pPr algn="l"/>
            <a:r>
              <a:rPr sz="1000" b="0" i="0">
                <a:solidFill>
                  <a:srgbClr val="ECF0F1"/>
                </a:solidFill>
              </a:rPr>
              <a:t>▸  ▶️  Start — launch stopped container</a:t>
            </a:r>
          </a:p>
        </p:txBody>
      </p:sp>
      <p:sp>
        <p:nvSpPr>
          <p:cNvPr id="22" name="TextBox 21"/>
          <p:cNvSpPr txBox="1"/>
          <p:nvPr/>
        </p:nvSpPr>
        <p:spPr>
          <a:xfrm>
            <a:off x="4361688" y="2359151"/>
            <a:ext cx="3621024" cy="347472"/>
          </a:xfrm>
          <a:prstGeom prst="rect">
            <a:avLst/>
          </a:prstGeom>
          <a:noFill/>
        </p:spPr>
        <p:txBody>
          <a:bodyPr wrap="square">
            <a:spAutoFit/>
          </a:bodyPr>
          <a:lstStyle/>
          <a:p>
            <a:pPr algn="l"/>
            <a:r>
              <a:rPr sz="1000" b="0" i="0">
                <a:solidFill>
                  <a:srgbClr val="ECF0F1"/>
                </a:solidFill>
              </a:rPr>
              <a:t>▸  ⏸️  Stop — gracefully stop container</a:t>
            </a:r>
          </a:p>
        </p:txBody>
      </p:sp>
      <p:sp>
        <p:nvSpPr>
          <p:cNvPr id="23" name="TextBox 22"/>
          <p:cNvSpPr txBox="1"/>
          <p:nvPr/>
        </p:nvSpPr>
        <p:spPr>
          <a:xfrm>
            <a:off x="4361688" y="2706623"/>
            <a:ext cx="3621024" cy="347472"/>
          </a:xfrm>
          <a:prstGeom prst="rect">
            <a:avLst/>
          </a:prstGeom>
          <a:noFill/>
        </p:spPr>
        <p:txBody>
          <a:bodyPr wrap="square">
            <a:spAutoFit/>
          </a:bodyPr>
          <a:lstStyle/>
          <a:p>
            <a:pPr algn="l"/>
            <a:r>
              <a:rPr sz="1000" b="0" i="0">
                <a:solidFill>
                  <a:srgbClr val="ECF0F1"/>
                </a:solidFill>
              </a:rPr>
              <a:t>▸  🔄  Restart — restart with same config</a:t>
            </a:r>
          </a:p>
        </p:txBody>
      </p:sp>
      <p:sp>
        <p:nvSpPr>
          <p:cNvPr id="24" name="TextBox 23"/>
          <p:cNvSpPr txBox="1"/>
          <p:nvPr/>
        </p:nvSpPr>
        <p:spPr>
          <a:xfrm>
            <a:off x="4361688" y="3054095"/>
            <a:ext cx="3621024" cy="347472"/>
          </a:xfrm>
          <a:prstGeom prst="rect">
            <a:avLst/>
          </a:prstGeom>
          <a:noFill/>
        </p:spPr>
        <p:txBody>
          <a:bodyPr wrap="square">
            <a:spAutoFit/>
          </a:bodyPr>
          <a:lstStyle/>
          <a:p>
            <a:pPr algn="l"/>
            <a:r>
              <a:rPr sz="1000" b="0" i="0">
                <a:solidFill>
                  <a:srgbClr val="ECF0F1"/>
                </a:solidFill>
              </a:rPr>
              <a:t>▸  Success/Error feedback messages</a:t>
            </a:r>
          </a:p>
        </p:txBody>
      </p:sp>
      <p:sp>
        <p:nvSpPr>
          <p:cNvPr id="25" name="TextBox 24"/>
          <p:cNvSpPr txBox="1"/>
          <p:nvPr/>
        </p:nvSpPr>
        <p:spPr>
          <a:xfrm>
            <a:off x="4361688" y="3401567"/>
            <a:ext cx="3621024" cy="347472"/>
          </a:xfrm>
          <a:prstGeom prst="rect">
            <a:avLst/>
          </a:prstGeom>
          <a:noFill/>
        </p:spPr>
        <p:txBody>
          <a:bodyPr wrap="square">
            <a:spAutoFit/>
          </a:bodyPr>
          <a:lstStyle/>
          <a:p>
            <a:pPr algn="l"/>
            <a:r>
              <a:rPr sz="1000" b="0" i="0">
                <a:solidFill>
                  <a:srgbClr val="ECF0F1"/>
                </a:solidFill>
              </a:rPr>
              <a:t>▸  Real-time status update after action</a:t>
            </a:r>
          </a:p>
        </p:txBody>
      </p:sp>
      <p:sp>
        <p:nvSpPr>
          <p:cNvPr id="26" name="TextBox 25"/>
          <p:cNvSpPr txBox="1"/>
          <p:nvPr/>
        </p:nvSpPr>
        <p:spPr>
          <a:xfrm>
            <a:off x="4361688" y="3749039"/>
            <a:ext cx="3621024" cy="347472"/>
          </a:xfrm>
          <a:prstGeom prst="rect">
            <a:avLst/>
          </a:prstGeom>
          <a:noFill/>
        </p:spPr>
        <p:txBody>
          <a:bodyPr wrap="square">
            <a:spAutoFit/>
          </a:bodyPr>
          <a:lstStyle/>
          <a:p>
            <a:pPr algn="l"/>
            <a:r>
              <a:rPr sz="1000" b="0" i="0">
                <a:solidFill>
                  <a:srgbClr val="ECF0F1"/>
                </a:solidFill>
              </a:rPr>
              <a:t>▸  Uses Docker SDK under the hood</a:t>
            </a:r>
          </a:p>
        </p:txBody>
      </p:sp>
      <p:sp>
        <p:nvSpPr>
          <p:cNvPr id="27" name="Rectangle 26"/>
          <p:cNvSpPr/>
          <p:nvPr/>
        </p:nvSpPr>
        <p:spPr>
          <a:xfrm>
            <a:off x="8229600" y="1097280"/>
            <a:ext cx="3840480" cy="53949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0" y="1097280"/>
            <a:ext cx="3840480" cy="502920"/>
          </a:xfrm>
          <a:prstGeom prst="rect">
            <a:avLst/>
          </a:prstGeom>
          <a:solidFill>
            <a:srgbClr val="236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9327" y="1152144"/>
            <a:ext cx="3621024" cy="411480"/>
          </a:xfrm>
          <a:prstGeom prst="rect">
            <a:avLst/>
          </a:prstGeom>
          <a:noFill/>
        </p:spPr>
        <p:txBody>
          <a:bodyPr wrap="square">
            <a:spAutoFit/>
          </a:bodyPr>
          <a:lstStyle/>
          <a:p>
            <a:pPr algn="l"/>
            <a:r>
              <a:rPr sz="1200" b="1" i="0">
                <a:solidFill>
                  <a:srgbClr val="FFFFFF"/>
                </a:solidFill>
              </a:rPr>
              <a:t>⚙️  Implementation</a:t>
            </a:r>
          </a:p>
        </p:txBody>
      </p:sp>
      <p:sp>
        <p:nvSpPr>
          <p:cNvPr id="30" name="TextBox 29"/>
          <p:cNvSpPr txBox="1"/>
          <p:nvPr/>
        </p:nvSpPr>
        <p:spPr>
          <a:xfrm>
            <a:off x="8339327" y="1664207"/>
            <a:ext cx="3621024" cy="347472"/>
          </a:xfrm>
          <a:prstGeom prst="rect">
            <a:avLst/>
          </a:prstGeom>
          <a:noFill/>
        </p:spPr>
        <p:txBody>
          <a:bodyPr wrap="square">
            <a:spAutoFit/>
          </a:bodyPr>
          <a:lstStyle/>
          <a:p>
            <a:pPr algn="l"/>
            <a:r>
              <a:rPr sz="1000" b="0" i="0">
                <a:solidFill>
                  <a:srgbClr val="ECF0F1"/>
                </a:solidFill>
              </a:rPr>
              <a:t>▸  DockerManager.list_containers()</a:t>
            </a:r>
          </a:p>
        </p:txBody>
      </p:sp>
      <p:sp>
        <p:nvSpPr>
          <p:cNvPr id="31" name="TextBox 30"/>
          <p:cNvSpPr txBox="1"/>
          <p:nvPr/>
        </p:nvSpPr>
        <p:spPr>
          <a:xfrm>
            <a:off x="8339327" y="2011679"/>
            <a:ext cx="3621024" cy="347472"/>
          </a:xfrm>
          <a:prstGeom prst="rect">
            <a:avLst/>
          </a:prstGeom>
          <a:noFill/>
        </p:spPr>
        <p:txBody>
          <a:bodyPr wrap="square">
            <a:spAutoFit/>
          </a:bodyPr>
          <a:lstStyle/>
          <a:p>
            <a:pPr algn="l"/>
            <a:r>
              <a:rPr sz="1000" b="0" i="0">
                <a:solidFill>
                  <a:srgbClr val="ECF0F1"/>
                </a:solidFill>
              </a:rPr>
              <a:t>▸  DockerManager.start_container()</a:t>
            </a:r>
          </a:p>
        </p:txBody>
      </p:sp>
      <p:sp>
        <p:nvSpPr>
          <p:cNvPr id="32" name="TextBox 31"/>
          <p:cNvSpPr txBox="1"/>
          <p:nvPr/>
        </p:nvSpPr>
        <p:spPr>
          <a:xfrm>
            <a:off x="8339327" y="2359151"/>
            <a:ext cx="3621024" cy="347472"/>
          </a:xfrm>
          <a:prstGeom prst="rect">
            <a:avLst/>
          </a:prstGeom>
          <a:noFill/>
        </p:spPr>
        <p:txBody>
          <a:bodyPr wrap="square">
            <a:spAutoFit/>
          </a:bodyPr>
          <a:lstStyle/>
          <a:p>
            <a:pPr algn="l"/>
            <a:r>
              <a:rPr sz="1000" b="0" i="0">
                <a:solidFill>
                  <a:srgbClr val="ECF0F1"/>
                </a:solidFill>
              </a:rPr>
              <a:t>▸  DockerManager.stop_container()</a:t>
            </a:r>
          </a:p>
        </p:txBody>
      </p:sp>
      <p:sp>
        <p:nvSpPr>
          <p:cNvPr id="33" name="TextBox 32"/>
          <p:cNvSpPr txBox="1"/>
          <p:nvPr/>
        </p:nvSpPr>
        <p:spPr>
          <a:xfrm>
            <a:off x="8339327" y="2706623"/>
            <a:ext cx="3621024" cy="347472"/>
          </a:xfrm>
          <a:prstGeom prst="rect">
            <a:avLst/>
          </a:prstGeom>
          <a:noFill/>
        </p:spPr>
        <p:txBody>
          <a:bodyPr wrap="square">
            <a:spAutoFit/>
          </a:bodyPr>
          <a:lstStyle/>
          <a:p>
            <a:pPr algn="l"/>
            <a:r>
              <a:rPr sz="1000" b="0" i="0">
                <a:solidFill>
                  <a:srgbClr val="ECF0F1"/>
                </a:solidFill>
              </a:rPr>
              <a:t>▸  DockerManager.restart_container()</a:t>
            </a:r>
          </a:p>
        </p:txBody>
      </p:sp>
      <p:sp>
        <p:nvSpPr>
          <p:cNvPr id="34" name="TextBox 33"/>
          <p:cNvSpPr txBox="1"/>
          <p:nvPr/>
        </p:nvSpPr>
        <p:spPr>
          <a:xfrm>
            <a:off x="8339327" y="3054095"/>
            <a:ext cx="3621024" cy="347472"/>
          </a:xfrm>
          <a:prstGeom prst="rect">
            <a:avLst/>
          </a:prstGeom>
          <a:noFill/>
        </p:spPr>
        <p:txBody>
          <a:bodyPr wrap="square">
            <a:spAutoFit/>
          </a:bodyPr>
          <a:lstStyle/>
          <a:p>
            <a:pPr algn="l"/>
            <a:r>
              <a:rPr sz="1000" b="0" i="0">
                <a:solidFill>
                  <a:srgbClr val="ECF0F1"/>
                </a:solidFill>
              </a:rPr>
              <a:t>▸  pd.DataFrame for table display</a:t>
            </a:r>
          </a:p>
        </p:txBody>
      </p:sp>
      <p:sp>
        <p:nvSpPr>
          <p:cNvPr id="35" name="TextBox 34"/>
          <p:cNvSpPr txBox="1"/>
          <p:nvPr/>
        </p:nvSpPr>
        <p:spPr>
          <a:xfrm>
            <a:off x="8339327" y="3401567"/>
            <a:ext cx="3621024" cy="347472"/>
          </a:xfrm>
          <a:prstGeom prst="rect">
            <a:avLst/>
          </a:prstGeom>
          <a:noFill/>
        </p:spPr>
        <p:txBody>
          <a:bodyPr wrap="square">
            <a:spAutoFit/>
          </a:bodyPr>
          <a:lstStyle/>
          <a:p>
            <a:pPr algn="l"/>
            <a:r>
              <a:rPr sz="1000" b="0" i="0">
                <a:solidFill>
                  <a:srgbClr val="ECF0F1"/>
                </a:solidFill>
              </a:rPr>
              <a:t>▸  st.selectbox for selection</a:t>
            </a:r>
          </a:p>
        </p:txBody>
      </p:sp>
      <p:sp>
        <p:nvSpPr>
          <p:cNvPr id="36" name="TextBox 35"/>
          <p:cNvSpPr txBox="1"/>
          <p:nvPr/>
        </p:nvSpPr>
        <p:spPr>
          <a:xfrm>
            <a:off x="8339327" y="3749039"/>
            <a:ext cx="3621024" cy="347472"/>
          </a:xfrm>
          <a:prstGeom prst="rect">
            <a:avLst/>
          </a:prstGeom>
          <a:noFill/>
        </p:spPr>
        <p:txBody>
          <a:bodyPr wrap="square">
            <a:spAutoFit/>
          </a:bodyPr>
          <a:lstStyle/>
          <a:p>
            <a:pPr algn="l"/>
            <a:r>
              <a:rPr sz="1000" b="0" i="0">
                <a:solidFill>
                  <a:srgbClr val="ECF0F1"/>
                </a:solidFill>
              </a:rPr>
              <a:t>▸  st.success / st.error feedback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AI Agent — Natural Language Control</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How users interact with Docker using plain English</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88720"/>
            <a:ext cx="1874519" cy="25603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188720"/>
            <a:ext cx="1874519" cy="5486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207008"/>
            <a:ext cx="1874519" cy="512064"/>
          </a:xfrm>
          <a:prstGeom prst="rect">
            <a:avLst/>
          </a:prstGeom>
          <a:noFill/>
        </p:spPr>
        <p:txBody>
          <a:bodyPr wrap="square">
            <a:spAutoFit/>
          </a:bodyPr>
          <a:lstStyle/>
          <a:p>
            <a:pPr algn="ctr"/>
            <a:r>
              <a:rPr sz="2200" b="1" i="0">
                <a:solidFill>
                  <a:srgbClr val="FFFFFF"/>
                </a:solidFill>
              </a:rPr>
              <a:t>1</a:t>
            </a:r>
          </a:p>
        </p:txBody>
      </p:sp>
      <p:sp>
        <p:nvSpPr>
          <p:cNvPr id="10" name="TextBox 9"/>
          <p:cNvSpPr txBox="1"/>
          <p:nvPr/>
        </p:nvSpPr>
        <p:spPr>
          <a:xfrm>
            <a:off x="365759" y="1828800"/>
            <a:ext cx="1783080" cy="457200"/>
          </a:xfrm>
          <a:prstGeom prst="rect">
            <a:avLst/>
          </a:prstGeom>
          <a:noFill/>
        </p:spPr>
        <p:txBody>
          <a:bodyPr wrap="square">
            <a:spAutoFit/>
          </a:bodyPr>
          <a:lstStyle/>
          <a:p>
            <a:pPr algn="ctr"/>
            <a:r>
              <a:rPr sz="1200" b="1" i="0">
                <a:solidFill>
                  <a:srgbClr val="27AE60"/>
                </a:solidFill>
              </a:rPr>
              <a:t>User
Input</a:t>
            </a:r>
          </a:p>
        </p:txBody>
      </p:sp>
      <p:sp>
        <p:nvSpPr>
          <p:cNvPr id="11" name="TextBox 10"/>
          <p:cNvSpPr txBox="1"/>
          <p:nvPr/>
        </p:nvSpPr>
        <p:spPr>
          <a:xfrm>
            <a:off x="365759" y="2377440"/>
            <a:ext cx="1783080" cy="731520"/>
          </a:xfrm>
          <a:prstGeom prst="rect">
            <a:avLst/>
          </a:prstGeom>
          <a:noFill/>
        </p:spPr>
        <p:txBody>
          <a:bodyPr wrap="square">
            <a:spAutoFit/>
          </a:bodyPr>
          <a:lstStyle/>
          <a:p>
            <a:pPr algn="ctr"/>
            <a:r>
              <a:rPr sz="1000" b="0" i="0">
                <a:solidFill>
                  <a:srgbClr val="ECF0F1"/>
                </a:solidFill>
              </a:rPr>
              <a:t>Type plain
English command</a:t>
            </a:r>
          </a:p>
        </p:txBody>
      </p:sp>
      <p:sp>
        <p:nvSpPr>
          <p:cNvPr id="12" name="TextBox 11"/>
          <p:cNvSpPr txBox="1"/>
          <p:nvPr/>
        </p:nvSpPr>
        <p:spPr>
          <a:xfrm>
            <a:off x="2240280" y="2240280"/>
            <a:ext cx="274320" cy="365760"/>
          </a:xfrm>
          <a:prstGeom prst="rect">
            <a:avLst/>
          </a:prstGeom>
          <a:noFill/>
        </p:spPr>
        <p:txBody>
          <a:bodyPr wrap="square">
            <a:spAutoFit/>
          </a:bodyPr>
          <a:lstStyle/>
          <a:p>
            <a:pPr algn="l"/>
            <a:r>
              <a:rPr sz="1800" b="1" i="0">
                <a:solidFill>
                  <a:srgbClr val="27AE60"/>
                </a:solidFill>
              </a:rPr>
              <a:t>→</a:t>
            </a:r>
          </a:p>
        </p:txBody>
      </p:sp>
      <p:sp>
        <p:nvSpPr>
          <p:cNvPr id="13" name="Rectangle 12"/>
          <p:cNvSpPr/>
          <p:nvPr/>
        </p:nvSpPr>
        <p:spPr>
          <a:xfrm>
            <a:off x="2313432" y="1188720"/>
            <a:ext cx="1874519" cy="25603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13432" y="1188720"/>
            <a:ext cx="1874519" cy="5486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13432" y="1207008"/>
            <a:ext cx="1874519" cy="512064"/>
          </a:xfrm>
          <a:prstGeom prst="rect">
            <a:avLst/>
          </a:prstGeom>
          <a:noFill/>
        </p:spPr>
        <p:txBody>
          <a:bodyPr wrap="square">
            <a:spAutoFit/>
          </a:bodyPr>
          <a:lstStyle/>
          <a:p>
            <a:pPr algn="ctr"/>
            <a:r>
              <a:rPr sz="2200" b="1" i="0">
                <a:solidFill>
                  <a:srgbClr val="FFFFFF"/>
                </a:solidFill>
              </a:rPr>
              <a:t>2</a:t>
            </a:r>
          </a:p>
        </p:txBody>
      </p:sp>
      <p:sp>
        <p:nvSpPr>
          <p:cNvPr id="16" name="TextBox 15"/>
          <p:cNvSpPr txBox="1"/>
          <p:nvPr/>
        </p:nvSpPr>
        <p:spPr>
          <a:xfrm>
            <a:off x="2359152" y="1828800"/>
            <a:ext cx="1783080" cy="457200"/>
          </a:xfrm>
          <a:prstGeom prst="rect">
            <a:avLst/>
          </a:prstGeom>
          <a:noFill/>
        </p:spPr>
        <p:txBody>
          <a:bodyPr wrap="square">
            <a:spAutoFit/>
          </a:bodyPr>
          <a:lstStyle/>
          <a:p>
            <a:pPr algn="ctr"/>
            <a:r>
              <a:rPr sz="1200" b="1" i="0">
                <a:solidFill>
                  <a:srgbClr val="27AE60"/>
                </a:solidFill>
              </a:rPr>
              <a:t>LLM
Parsing</a:t>
            </a:r>
          </a:p>
        </p:txBody>
      </p:sp>
      <p:sp>
        <p:nvSpPr>
          <p:cNvPr id="17" name="TextBox 16"/>
          <p:cNvSpPr txBox="1"/>
          <p:nvPr/>
        </p:nvSpPr>
        <p:spPr>
          <a:xfrm>
            <a:off x="2359152" y="2377440"/>
            <a:ext cx="1783080" cy="731520"/>
          </a:xfrm>
          <a:prstGeom prst="rect">
            <a:avLst/>
          </a:prstGeom>
          <a:noFill/>
        </p:spPr>
        <p:txBody>
          <a:bodyPr wrap="square">
            <a:spAutoFit/>
          </a:bodyPr>
          <a:lstStyle/>
          <a:p>
            <a:pPr algn="ctr"/>
            <a:r>
              <a:rPr sz="1000" b="0" i="0">
                <a:solidFill>
                  <a:srgbClr val="ECF0F1"/>
                </a:solidFill>
              </a:rPr>
              <a:t>Groq AI parses
the intent</a:t>
            </a:r>
          </a:p>
        </p:txBody>
      </p:sp>
      <p:sp>
        <p:nvSpPr>
          <p:cNvPr id="18" name="TextBox 17"/>
          <p:cNvSpPr txBox="1"/>
          <p:nvPr/>
        </p:nvSpPr>
        <p:spPr>
          <a:xfrm>
            <a:off x="4233672" y="2240280"/>
            <a:ext cx="274320" cy="365760"/>
          </a:xfrm>
          <a:prstGeom prst="rect">
            <a:avLst/>
          </a:prstGeom>
          <a:noFill/>
        </p:spPr>
        <p:txBody>
          <a:bodyPr wrap="square">
            <a:spAutoFit/>
          </a:bodyPr>
          <a:lstStyle/>
          <a:p>
            <a:pPr algn="l"/>
            <a:r>
              <a:rPr sz="1800" b="1" i="0">
                <a:solidFill>
                  <a:srgbClr val="27AE60"/>
                </a:solidFill>
              </a:rPr>
              <a:t>→</a:t>
            </a:r>
          </a:p>
        </p:txBody>
      </p:sp>
      <p:sp>
        <p:nvSpPr>
          <p:cNvPr id="19" name="Rectangle 18"/>
          <p:cNvSpPr/>
          <p:nvPr/>
        </p:nvSpPr>
        <p:spPr>
          <a:xfrm>
            <a:off x="4306824" y="1188720"/>
            <a:ext cx="1874519" cy="25603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06824" y="1188720"/>
            <a:ext cx="1874519" cy="5486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06824" y="1207008"/>
            <a:ext cx="1874519" cy="512064"/>
          </a:xfrm>
          <a:prstGeom prst="rect">
            <a:avLst/>
          </a:prstGeom>
          <a:noFill/>
        </p:spPr>
        <p:txBody>
          <a:bodyPr wrap="square">
            <a:spAutoFit/>
          </a:bodyPr>
          <a:lstStyle/>
          <a:p>
            <a:pPr algn="ctr"/>
            <a:r>
              <a:rPr sz="2200" b="1" i="0">
                <a:solidFill>
                  <a:srgbClr val="FFFFFF"/>
                </a:solidFill>
              </a:rPr>
              <a:t>3</a:t>
            </a:r>
          </a:p>
        </p:txBody>
      </p:sp>
      <p:sp>
        <p:nvSpPr>
          <p:cNvPr id="22" name="TextBox 21"/>
          <p:cNvSpPr txBox="1"/>
          <p:nvPr/>
        </p:nvSpPr>
        <p:spPr>
          <a:xfrm>
            <a:off x="4352544" y="1828800"/>
            <a:ext cx="1783080" cy="457200"/>
          </a:xfrm>
          <a:prstGeom prst="rect">
            <a:avLst/>
          </a:prstGeom>
          <a:noFill/>
        </p:spPr>
        <p:txBody>
          <a:bodyPr wrap="square">
            <a:spAutoFit/>
          </a:bodyPr>
          <a:lstStyle/>
          <a:p>
            <a:pPr algn="ctr"/>
            <a:r>
              <a:rPr sz="1200" b="1" i="0">
                <a:solidFill>
                  <a:srgbClr val="27AE60"/>
                </a:solidFill>
              </a:rPr>
              <a:t>Action
Plan</a:t>
            </a:r>
          </a:p>
        </p:txBody>
      </p:sp>
      <p:sp>
        <p:nvSpPr>
          <p:cNvPr id="23" name="TextBox 22"/>
          <p:cNvSpPr txBox="1"/>
          <p:nvPr/>
        </p:nvSpPr>
        <p:spPr>
          <a:xfrm>
            <a:off x="4352544" y="2377440"/>
            <a:ext cx="1783080" cy="731520"/>
          </a:xfrm>
          <a:prstGeom prst="rect">
            <a:avLst/>
          </a:prstGeom>
          <a:noFill/>
        </p:spPr>
        <p:txBody>
          <a:bodyPr wrap="square">
            <a:spAutoFit/>
          </a:bodyPr>
          <a:lstStyle/>
          <a:p>
            <a:pPr algn="ctr"/>
            <a:r>
              <a:rPr sz="1000" b="0" i="0">
                <a:solidFill>
                  <a:srgbClr val="ECF0F1"/>
                </a:solidFill>
              </a:rPr>
              <a:t>ReAct creates
execution plan</a:t>
            </a:r>
          </a:p>
        </p:txBody>
      </p:sp>
      <p:sp>
        <p:nvSpPr>
          <p:cNvPr id="24" name="TextBox 23"/>
          <p:cNvSpPr txBox="1"/>
          <p:nvPr/>
        </p:nvSpPr>
        <p:spPr>
          <a:xfrm>
            <a:off x="6227064" y="2240280"/>
            <a:ext cx="274320" cy="365760"/>
          </a:xfrm>
          <a:prstGeom prst="rect">
            <a:avLst/>
          </a:prstGeom>
          <a:noFill/>
        </p:spPr>
        <p:txBody>
          <a:bodyPr wrap="square">
            <a:spAutoFit/>
          </a:bodyPr>
          <a:lstStyle/>
          <a:p>
            <a:pPr algn="l"/>
            <a:r>
              <a:rPr sz="1800" b="1" i="0">
                <a:solidFill>
                  <a:srgbClr val="27AE60"/>
                </a:solidFill>
              </a:rPr>
              <a:t>→</a:t>
            </a:r>
          </a:p>
        </p:txBody>
      </p:sp>
      <p:sp>
        <p:nvSpPr>
          <p:cNvPr id="25" name="Rectangle 24"/>
          <p:cNvSpPr/>
          <p:nvPr/>
        </p:nvSpPr>
        <p:spPr>
          <a:xfrm>
            <a:off x="6300216" y="1188720"/>
            <a:ext cx="1874519" cy="25603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0216" y="1188720"/>
            <a:ext cx="1874519" cy="5486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0216" y="1207008"/>
            <a:ext cx="1874519" cy="512064"/>
          </a:xfrm>
          <a:prstGeom prst="rect">
            <a:avLst/>
          </a:prstGeom>
          <a:noFill/>
        </p:spPr>
        <p:txBody>
          <a:bodyPr wrap="square">
            <a:spAutoFit/>
          </a:bodyPr>
          <a:lstStyle/>
          <a:p>
            <a:pPr algn="ctr"/>
            <a:r>
              <a:rPr sz="2200" b="1" i="0">
                <a:solidFill>
                  <a:srgbClr val="FFFFFF"/>
                </a:solidFill>
              </a:rPr>
              <a:t>4</a:t>
            </a:r>
          </a:p>
        </p:txBody>
      </p:sp>
      <p:sp>
        <p:nvSpPr>
          <p:cNvPr id="28" name="TextBox 27"/>
          <p:cNvSpPr txBox="1"/>
          <p:nvPr/>
        </p:nvSpPr>
        <p:spPr>
          <a:xfrm>
            <a:off x="6345936" y="1828800"/>
            <a:ext cx="1783080" cy="457200"/>
          </a:xfrm>
          <a:prstGeom prst="rect">
            <a:avLst/>
          </a:prstGeom>
          <a:noFill/>
        </p:spPr>
        <p:txBody>
          <a:bodyPr wrap="square">
            <a:spAutoFit/>
          </a:bodyPr>
          <a:lstStyle/>
          <a:p>
            <a:pPr algn="ctr"/>
            <a:r>
              <a:rPr sz="1200" b="1" i="0">
                <a:solidFill>
                  <a:srgbClr val="27AE60"/>
                </a:solidFill>
              </a:rPr>
              <a:t>Docker
Execute</a:t>
            </a:r>
          </a:p>
        </p:txBody>
      </p:sp>
      <p:sp>
        <p:nvSpPr>
          <p:cNvPr id="29" name="TextBox 28"/>
          <p:cNvSpPr txBox="1"/>
          <p:nvPr/>
        </p:nvSpPr>
        <p:spPr>
          <a:xfrm>
            <a:off x="6345936" y="2377440"/>
            <a:ext cx="1783080" cy="731520"/>
          </a:xfrm>
          <a:prstGeom prst="rect">
            <a:avLst/>
          </a:prstGeom>
          <a:noFill/>
        </p:spPr>
        <p:txBody>
          <a:bodyPr wrap="square">
            <a:spAutoFit/>
          </a:bodyPr>
          <a:lstStyle/>
          <a:p>
            <a:pPr algn="ctr"/>
            <a:r>
              <a:rPr sz="1000" b="0" i="0">
                <a:solidFill>
                  <a:srgbClr val="ECF0F1"/>
                </a:solidFill>
              </a:rPr>
              <a:t>SDK runs the
Docker command</a:t>
            </a:r>
          </a:p>
        </p:txBody>
      </p:sp>
      <p:sp>
        <p:nvSpPr>
          <p:cNvPr id="30" name="TextBox 29"/>
          <p:cNvSpPr txBox="1"/>
          <p:nvPr/>
        </p:nvSpPr>
        <p:spPr>
          <a:xfrm>
            <a:off x="8220456" y="2240280"/>
            <a:ext cx="274320" cy="365760"/>
          </a:xfrm>
          <a:prstGeom prst="rect">
            <a:avLst/>
          </a:prstGeom>
          <a:noFill/>
        </p:spPr>
        <p:txBody>
          <a:bodyPr wrap="square">
            <a:spAutoFit/>
          </a:bodyPr>
          <a:lstStyle/>
          <a:p>
            <a:pPr algn="l"/>
            <a:r>
              <a:rPr sz="1800" b="1" i="0">
                <a:solidFill>
                  <a:srgbClr val="27AE60"/>
                </a:solidFill>
              </a:rPr>
              <a:t>→</a:t>
            </a:r>
          </a:p>
        </p:txBody>
      </p:sp>
      <p:sp>
        <p:nvSpPr>
          <p:cNvPr id="31" name="Rectangle 30"/>
          <p:cNvSpPr/>
          <p:nvPr/>
        </p:nvSpPr>
        <p:spPr>
          <a:xfrm>
            <a:off x="8293608" y="1188720"/>
            <a:ext cx="1874519" cy="25603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93608" y="1188720"/>
            <a:ext cx="1874519" cy="5486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93608" y="1207008"/>
            <a:ext cx="1874519" cy="512064"/>
          </a:xfrm>
          <a:prstGeom prst="rect">
            <a:avLst/>
          </a:prstGeom>
          <a:noFill/>
        </p:spPr>
        <p:txBody>
          <a:bodyPr wrap="square">
            <a:spAutoFit/>
          </a:bodyPr>
          <a:lstStyle/>
          <a:p>
            <a:pPr algn="ctr"/>
            <a:r>
              <a:rPr sz="2200" b="1" i="0">
                <a:solidFill>
                  <a:srgbClr val="FFFFFF"/>
                </a:solidFill>
              </a:rPr>
              <a:t>5</a:t>
            </a:r>
          </a:p>
        </p:txBody>
      </p:sp>
      <p:sp>
        <p:nvSpPr>
          <p:cNvPr id="34" name="TextBox 33"/>
          <p:cNvSpPr txBox="1"/>
          <p:nvPr/>
        </p:nvSpPr>
        <p:spPr>
          <a:xfrm>
            <a:off x="8339328" y="1828800"/>
            <a:ext cx="1783080" cy="457200"/>
          </a:xfrm>
          <a:prstGeom prst="rect">
            <a:avLst/>
          </a:prstGeom>
          <a:noFill/>
        </p:spPr>
        <p:txBody>
          <a:bodyPr wrap="square">
            <a:spAutoFit/>
          </a:bodyPr>
          <a:lstStyle/>
          <a:p>
            <a:pPr algn="ctr"/>
            <a:r>
              <a:rPr sz="1200" b="1" i="0">
                <a:solidFill>
                  <a:srgbClr val="27AE60"/>
                </a:solidFill>
              </a:rPr>
              <a:t>Result
Capture</a:t>
            </a:r>
          </a:p>
        </p:txBody>
      </p:sp>
      <p:sp>
        <p:nvSpPr>
          <p:cNvPr id="35" name="TextBox 34"/>
          <p:cNvSpPr txBox="1"/>
          <p:nvPr/>
        </p:nvSpPr>
        <p:spPr>
          <a:xfrm>
            <a:off x="8339328" y="2377440"/>
            <a:ext cx="1783080" cy="731520"/>
          </a:xfrm>
          <a:prstGeom prst="rect">
            <a:avLst/>
          </a:prstGeom>
          <a:noFill/>
        </p:spPr>
        <p:txBody>
          <a:bodyPr wrap="square">
            <a:spAutoFit/>
          </a:bodyPr>
          <a:lstStyle/>
          <a:p>
            <a:pPr algn="ctr"/>
            <a:r>
              <a:rPr sz="1000" b="0" i="0">
                <a:solidFill>
                  <a:srgbClr val="ECF0F1"/>
                </a:solidFill>
              </a:rPr>
              <a:t>Output captured
&amp; validated</a:t>
            </a:r>
          </a:p>
        </p:txBody>
      </p:sp>
      <p:sp>
        <p:nvSpPr>
          <p:cNvPr id="36" name="TextBox 35"/>
          <p:cNvSpPr txBox="1"/>
          <p:nvPr/>
        </p:nvSpPr>
        <p:spPr>
          <a:xfrm>
            <a:off x="10213848" y="2240280"/>
            <a:ext cx="274320" cy="365760"/>
          </a:xfrm>
          <a:prstGeom prst="rect">
            <a:avLst/>
          </a:prstGeom>
          <a:noFill/>
        </p:spPr>
        <p:txBody>
          <a:bodyPr wrap="square">
            <a:spAutoFit/>
          </a:bodyPr>
          <a:lstStyle/>
          <a:p>
            <a:pPr algn="l"/>
            <a:r>
              <a:rPr sz="1800" b="1" i="0">
                <a:solidFill>
                  <a:srgbClr val="27AE60"/>
                </a:solidFill>
              </a:rPr>
              <a:t>→</a:t>
            </a:r>
          </a:p>
        </p:txBody>
      </p:sp>
      <p:sp>
        <p:nvSpPr>
          <p:cNvPr id="37" name="Rectangle 36"/>
          <p:cNvSpPr/>
          <p:nvPr/>
        </p:nvSpPr>
        <p:spPr>
          <a:xfrm>
            <a:off x="10287000" y="1188720"/>
            <a:ext cx="1874519" cy="25603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287000" y="1188720"/>
            <a:ext cx="1874519" cy="5486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87000" y="1207008"/>
            <a:ext cx="1874519" cy="512064"/>
          </a:xfrm>
          <a:prstGeom prst="rect">
            <a:avLst/>
          </a:prstGeom>
          <a:noFill/>
        </p:spPr>
        <p:txBody>
          <a:bodyPr wrap="square">
            <a:spAutoFit/>
          </a:bodyPr>
          <a:lstStyle/>
          <a:p>
            <a:pPr algn="ctr"/>
            <a:r>
              <a:rPr sz="2200" b="1" i="0">
                <a:solidFill>
                  <a:srgbClr val="FFFFFF"/>
                </a:solidFill>
              </a:rPr>
              <a:t>6</a:t>
            </a:r>
          </a:p>
        </p:txBody>
      </p:sp>
      <p:sp>
        <p:nvSpPr>
          <p:cNvPr id="40" name="TextBox 39"/>
          <p:cNvSpPr txBox="1"/>
          <p:nvPr/>
        </p:nvSpPr>
        <p:spPr>
          <a:xfrm>
            <a:off x="10332720" y="1828800"/>
            <a:ext cx="1783080" cy="457200"/>
          </a:xfrm>
          <a:prstGeom prst="rect">
            <a:avLst/>
          </a:prstGeom>
          <a:noFill/>
        </p:spPr>
        <p:txBody>
          <a:bodyPr wrap="square">
            <a:spAutoFit/>
          </a:bodyPr>
          <a:lstStyle/>
          <a:p>
            <a:pPr algn="ctr"/>
            <a:r>
              <a:rPr sz="1200" b="1" i="0">
                <a:solidFill>
                  <a:srgbClr val="27AE60"/>
                </a:solidFill>
              </a:rPr>
              <a:t>Summary
Display</a:t>
            </a:r>
          </a:p>
        </p:txBody>
      </p:sp>
      <p:sp>
        <p:nvSpPr>
          <p:cNvPr id="41" name="TextBox 40"/>
          <p:cNvSpPr txBox="1"/>
          <p:nvPr/>
        </p:nvSpPr>
        <p:spPr>
          <a:xfrm>
            <a:off x="10332720" y="2377440"/>
            <a:ext cx="1783080" cy="731520"/>
          </a:xfrm>
          <a:prstGeom prst="rect">
            <a:avLst/>
          </a:prstGeom>
          <a:noFill/>
        </p:spPr>
        <p:txBody>
          <a:bodyPr wrap="square">
            <a:spAutoFit/>
          </a:bodyPr>
          <a:lstStyle/>
          <a:p>
            <a:pPr algn="ctr"/>
            <a:r>
              <a:rPr sz="1000" b="0" i="0">
                <a:solidFill>
                  <a:srgbClr val="ECF0F1"/>
                </a:solidFill>
              </a:rPr>
              <a:t>Steps &amp; result
shown to user</a:t>
            </a:r>
          </a:p>
        </p:txBody>
      </p:sp>
      <p:sp>
        <p:nvSpPr>
          <p:cNvPr id="42" name="Rectangle 41"/>
          <p:cNvSpPr/>
          <p:nvPr/>
        </p:nvSpPr>
        <p:spPr>
          <a:xfrm>
            <a:off x="274320" y="3977639"/>
            <a:ext cx="11612880" cy="251460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041648"/>
            <a:ext cx="9144000" cy="384048"/>
          </a:xfrm>
          <a:prstGeom prst="rect">
            <a:avLst/>
          </a:prstGeom>
          <a:noFill/>
        </p:spPr>
        <p:txBody>
          <a:bodyPr wrap="square">
            <a:spAutoFit/>
          </a:bodyPr>
          <a:lstStyle/>
          <a:p>
            <a:pPr algn="l"/>
            <a:r>
              <a:rPr sz="1300" b="1" i="0">
                <a:solidFill>
                  <a:srgbClr val="27AE60"/>
                </a:solidFill>
              </a:rPr>
              <a:t>💬  Natural Language Command Examples</a:t>
            </a:r>
          </a:p>
        </p:txBody>
      </p:sp>
      <p:sp>
        <p:nvSpPr>
          <p:cNvPr id="44" name="TextBox 43"/>
          <p:cNvSpPr txBox="1"/>
          <p:nvPr/>
        </p:nvSpPr>
        <p:spPr>
          <a:xfrm>
            <a:off x="457200" y="4480560"/>
            <a:ext cx="4114800" cy="329184"/>
          </a:xfrm>
          <a:prstGeom prst="rect">
            <a:avLst/>
          </a:prstGeom>
          <a:noFill/>
        </p:spPr>
        <p:txBody>
          <a:bodyPr wrap="square">
            <a:spAutoFit/>
          </a:bodyPr>
          <a:lstStyle/>
          <a:p>
            <a:pPr algn="l"/>
            <a:r>
              <a:rPr sz="1000" b="1" i="0">
                <a:solidFill>
                  <a:srgbClr val="F39C12"/>
                </a:solidFill>
              </a:rPr>
              <a:t>"show running containers"</a:t>
            </a:r>
          </a:p>
        </p:txBody>
      </p:sp>
      <p:sp>
        <p:nvSpPr>
          <p:cNvPr id="45" name="TextBox 44"/>
          <p:cNvSpPr txBox="1"/>
          <p:nvPr/>
        </p:nvSpPr>
        <p:spPr>
          <a:xfrm>
            <a:off x="4572000" y="4480560"/>
            <a:ext cx="7132320" cy="329184"/>
          </a:xfrm>
          <a:prstGeom prst="rect">
            <a:avLst/>
          </a:prstGeom>
          <a:noFill/>
        </p:spPr>
        <p:txBody>
          <a:bodyPr wrap="square">
            <a:spAutoFit/>
          </a:bodyPr>
          <a:lstStyle/>
          <a:p>
            <a:pPr algn="l"/>
            <a:r>
              <a:rPr sz="1000" b="0" i="0">
                <a:solidFill>
                  <a:srgbClr val="ECF0F1"/>
                </a:solidFill>
              </a:rPr>
              <a:t>→  Lists all active containers with CPU, memory &amp; status</a:t>
            </a:r>
          </a:p>
        </p:txBody>
      </p:sp>
      <p:sp>
        <p:nvSpPr>
          <p:cNvPr id="46" name="TextBox 45"/>
          <p:cNvSpPr txBox="1"/>
          <p:nvPr/>
        </p:nvSpPr>
        <p:spPr>
          <a:xfrm>
            <a:off x="457200" y="4828032"/>
            <a:ext cx="4114800" cy="329184"/>
          </a:xfrm>
          <a:prstGeom prst="rect">
            <a:avLst/>
          </a:prstGeom>
          <a:noFill/>
        </p:spPr>
        <p:txBody>
          <a:bodyPr wrap="square">
            <a:spAutoFit/>
          </a:bodyPr>
          <a:lstStyle/>
          <a:p>
            <a:pPr algn="l"/>
            <a:r>
              <a:rPr sz="1000" b="1" i="0">
                <a:solidFill>
                  <a:srgbClr val="F39C12"/>
                </a:solidFill>
              </a:rPr>
              <a:t>"restart nginx"</a:t>
            </a:r>
          </a:p>
        </p:txBody>
      </p:sp>
      <p:sp>
        <p:nvSpPr>
          <p:cNvPr id="47" name="TextBox 46"/>
          <p:cNvSpPr txBox="1"/>
          <p:nvPr/>
        </p:nvSpPr>
        <p:spPr>
          <a:xfrm>
            <a:off x="4572000" y="4828032"/>
            <a:ext cx="7132320" cy="329184"/>
          </a:xfrm>
          <a:prstGeom prst="rect">
            <a:avLst/>
          </a:prstGeom>
          <a:noFill/>
        </p:spPr>
        <p:txBody>
          <a:bodyPr wrap="square">
            <a:spAutoFit/>
          </a:bodyPr>
          <a:lstStyle/>
          <a:p>
            <a:pPr algn="l"/>
            <a:r>
              <a:rPr sz="1000" b="0" i="0">
                <a:solidFill>
                  <a:srgbClr val="ECF0F1"/>
                </a:solidFill>
              </a:rPr>
              <a:t>→  Finds nginx container by name and restarts it safely</a:t>
            </a:r>
          </a:p>
        </p:txBody>
      </p:sp>
      <p:sp>
        <p:nvSpPr>
          <p:cNvPr id="48" name="TextBox 47"/>
          <p:cNvSpPr txBox="1"/>
          <p:nvPr/>
        </p:nvSpPr>
        <p:spPr>
          <a:xfrm>
            <a:off x="457200" y="5175504"/>
            <a:ext cx="4114800" cy="329184"/>
          </a:xfrm>
          <a:prstGeom prst="rect">
            <a:avLst/>
          </a:prstGeom>
          <a:noFill/>
        </p:spPr>
        <p:txBody>
          <a:bodyPr wrap="square">
            <a:spAutoFit/>
          </a:bodyPr>
          <a:lstStyle/>
          <a:p>
            <a:pPr algn="l"/>
            <a:r>
              <a:rPr sz="1000" b="1" i="0">
                <a:solidFill>
                  <a:srgbClr val="F39C12"/>
                </a:solidFill>
              </a:rPr>
              <a:t>"what crashed in the last hour"</a:t>
            </a:r>
          </a:p>
        </p:txBody>
      </p:sp>
      <p:sp>
        <p:nvSpPr>
          <p:cNvPr id="49" name="TextBox 48"/>
          <p:cNvSpPr txBox="1"/>
          <p:nvPr/>
        </p:nvSpPr>
        <p:spPr>
          <a:xfrm>
            <a:off x="4572000" y="5175504"/>
            <a:ext cx="7132320" cy="329184"/>
          </a:xfrm>
          <a:prstGeom prst="rect">
            <a:avLst/>
          </a:prstGeom>
          <a:noFill/>
        </p:spPr>
        <p:txBody>
          <a:bodyPr wrap="square">
            <a:spAutoFit/>
          </a:bodyPr>
          <a:lstStyle/>
          <a:p>
            <a:pPr algn="l"/>
            <a:r>
              <a:rPr sz="1000" b="0" i="0">
                <a:solidFill>
                  <a:srgbClr val="ECF0F1"/>
                </a:solidFill>
              </a:rPr>
              <a:t>→  Shows recently exited containers with timestamps</a:t>
            </a:r>
          </a:p>
        </p:txBody>
      </p:sp>
      <p:sp>
        <p:nvSpPr>
          <p:cNvPr id="50" name="TextBox 49"/>
          <p:cNvSpPr txBox="1"/>
          <p:nvPr/>
        </p:nvSpPr>
        <p:spPr>
          <a:xfrm>
            <a:off x="457200" y="5522976"/>
            <a:ext cx="4114800" cy="329184"/>
          </a:xfrm>
          <a:prstGeom prst="rect">
            <a:avLst/>
          </a:prstGeom>
          <a:noFill/>
        </p:spPr>
        <p:txBody>
          <a:bodyPr wrap="square">
            <a:spAutoFit/>
          </a:bodyPr>
          <a:lstStyle/>
          <a:p>
            <a:pPr algn="l"/>
            <a:r>
              <a:rPr sz="1000" b="1" i="0">
                <a:solidFill>
                  <a:srgbClr val="F39C12"/>
                </a:solidFill>
              </a:rPr>
              <a:t>"get resource usage for mysql"</a:t>
            </a:r>
          </a:p>
        </p:txBody>
      </p:sp>
      <p:sp>
        <p:nvSpPr>
          <p:cNvPr id="51" name="TextBox 50"/>
          <p:cNvSpPr txBox="1"/>
          <p:nvPr/>
        </p:nvSpPr>
        <p:spPr>
          <a:xfrm>
            <a:off x="4572000" y="5522976"/>
            <a:ext cx="7132320" cy="329184"/>
          </a:xfrm>
          <a:prstGeom prst="rect">
            <a:avLst/>
          </a:prstGeom>
          <a:noFill/>
        </p:spPr>
        <p:txBody>
          <a:bodyPr wrap="square">
            <a:spAutoFit/>
          </a:bodyPr>
          <a:lstStyle/>
          <a:p>
            <a:pPr algn="l"/>
            <a:r>
              <a:rPr sz="1000" b="0" i="0">
                <a:solidFill>
                  <a:srgbClr val="ECF0F1"/>
                </a:solidFill>
              </a:rPr>
              <a:t>→  Returns detailed CPU % and Memory MB for mysql</a:t>
            </a:r>
          </a:p>
        </p:txBody>
      </p:sp>
      <p:sp>
        <p:nvSpPr>
          <p:cNvPr id="52" name="TextBox 51"/>
          <p:cNvSpPr txBox="1"/>
          <p:nvPr/>
        </p:nvSpPr>
        <p:spPr>
          <a:xfrm>
            <a:off x="457200" y="5870448"/>
            <a:ext cx="4114800" cy="329184"/>
          </a:xfrm>
          <a:prstGeom prst="rect">
            <a:avLst/>
          </a:prstGeom>
          <a:noFill/>
        </p:spPr>
        <p:txBody>
          <a:bodyPr wrap="square">
            <a:spAutoFit/>
          </a:bodyPr>
          <a:lstStyle/>
          <a:p>
            <a:pPr algn="l"/>
            <a:r>
              <a:rPr sz="1000" b="1" i="0">
                <a:solidFill>
                  <a:srgbClr val="F39C12"/>
                </a:solidFill>
              </a:rPr>
              <a:t>"stop redis"</a:t>
            </a:r>
          </a:p>
        </p:txBody>
      </p:sp>
      <p:sp>
        <p:nvSpPr>
          <p:cNvPr id="53" name="TextBox 52"/>
          <p:cNvSpPr txBox="1"/>
          <p:nvPr/>
        </p:nvSpPr>
        <p:spPr>
          <a:xfrm>
            <a:off x="4572000" y="5870448"/>
            <a:ext cx="7132320" cy="329184"/>
          </a:xfrm>
          <a:prstGeom prst="rect">
            <a:avLst/>
          </a:prstGeom>
          <a:noFill/>
        </p:spPr>
        <p:txBody>
          <a:bodyPr wrap="square">
            <a:spAutoFit/>
          </a:bodyPr>
          <a:lstStyle/>
          <a:p>
            <a:pPr algn="l"/>
            <a:r>
              <a:rPr sz="1000" b="0" i="0">
                <a:solidFill>
                  <a:srgbClr val="ECF0F1"/>
                </a:solidFill>
              </a:rPr>
              <a:t>→  Gracefully stops the redis container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ReAct Agent — Deep Dive</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Reasoning + Acting framework for AI decision making</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548640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70432"/>
            <a:ext cx="5212080" cy="384048"/>
          </a:xfrm>
          <a:prstGeom prst="rect">
            <a:avLst/>
          </a:prstGeom>
          <a:noFill/>
        </p:spPr>
        <p:txBody>
          <a:bodyPr wrap="square">
            <a:spAutoFit/>
          </a:bodyPr>
          <a:lstStyle/>
          <a:p>
            <a:pPr algn="l"/>
            <a:r>
              <a:rPr sz="1400" b="1" i="0">
                <a:solidFill>
                  <a:srgbClr val="27AE60"/>
                </a:solidFill>
              </a:rPr>
              <a:t>🧠  What is ReAct?</a:t>
            </a:r>
          </a:p>
        </p:txBody>
      </p:sp>
      <p:sp>
        <p:nvSpPr>
          <p:cNvPr id="9" name="TextBox 8"/>
          <p:cNvSpPr txBox="1"/>
          <p:nvPr/>
        </p:nvSpPr>
        <p:spPr>
          <a:xfrm>
            <a:off x="457200" y="1627632"/>
            <a:ext cx="5120640" cy="338328"/>
          </a:xfrm>
          <a:prstGeom prst="rect">
            <a:avLst/>
          </a:prstGeom>
          <a:noFill/>
        </p:spPr>
        <p:txBody>
          <a:bodyPr wrap="square">
            <a:spAutoFit/>
          </a:bodyPr>
          <a:lstStyle/>
          <a:p>
            <a:pPr algn="l"/>
            <a:r>
              <a:rPr sz="1050" b="0" i="0">
                <a:solidFill>
                  <a:srgbClr val="ECF0F1"/>
                </a:solidFill>
              </a:rPr>
              <a:t>▸  ReAct = Reasoning + Acting</a:t>
            </a:r>
          </a:p>
        </p:txBody>
      </p:sp>
      <p:sp>
        <p:nvSpPr>
          <p:cNvPr id="10" name="TextBox 9"/>
          <p:cNvSpPr txBox="1"/>
          <p:nvPr/>
        </p:nvSpPr>
        <p:spPr>
          <a:xfrm>
            <a:off x="457200" y="1975104"/>
            <a:ext cx="5120640" cy="338328"/>
          </a:xfrm>
          <a:prstGeom prst="rect">
            <a:avLst/>
          </a:prstGeom>
          <a:noFill/>
        </p:spPr>
        <p:txBody>
          <a:bodyPr wrap="square">
            <a:spAutoFit/>
          </a:bodyPr>
          <a:lstStyle/>
          <a:p>
            <a:pPr algn="l"/>
            <a:r>
              <a:rPr sz="1050" b="0" i="0">
                <a:solidFill>
                  <a:srgbClr val="ECF0F1"/>
                </a:solidFill>
              </a:rPr>
              <a:t>▸  Each step: Think → Act → Observe</a:t>
            </a:r>
          </a:p>
        </p:txBody>
      </p:sp>
      <p:sp>
        <p:nvSpPr>
          <p:cNvPr id="11" name="TextBox 10"/>
          <p:cNvSpPr txBox="1"/>
          <p:nvPr/>
        </p:nvSpPr>
        <p:spPr>
          <a:xfrm>
            <a:off x="457200" y="2322576"/>
            <a:ext cx="5120640" cy="338328"/>
          </a:xfrm>
          <a:prstGeom prst="rect">
            <a:avLst/>
          </a:prstGeom>
          <a:noFill/>
        </p:spPr>
        <p:txBody>
          <a:bodyPr wrap="square">
            <a:spAutoFit/>
          </a:bodyPr>
          <a:lstStyle/>
          <a:p>
            <a:pPr algn="l"/>
            <a:r>
              <a:rPr sz="1050" b="0" i="0">
                <a:solidFill>
                  <a:srgbClr val="ECF0F1"/>
                </a:solidFill>
              </a:rPr>
              <a:t>▸  Agent reasons before taking action</a:t>
            </a:r>
          </a:p>
        </p:txBody>
      </p:sp>
      <p:sp>
        <p:nvSpPr>
          <p:cNvPr id="12" name="TextBox 11"/>
          <p:cNvSpPr txBox="1"/>
          <p:nvPr/>
        </p:nvSpPr>
        <p:spPr>
          <a:xfrm>
            <a:off x="457200" y="2670048"/>
            <a:ext cx="5120640" cy="338328"/>
          </a:xfrm>
          <a:prstGeom prst="rect">
            <a:avLst/>
          </a:prstGeom>
          <a:noFill/>
        </p:spPr>
        <p:txBody>
          <a:bodyPr wrap="square">
            <a:spAutoFit/>
          </a:bodyPr>
          <a:lstStyle/>
          <a:p>
            <a:pPr algn="l"/>
            <a:r>
              <a:rPr sz="1050" b="0" i="0">
                <a:solidFill>
                  <a:srgbClr val="ECF0F1"/>
                </a:solidFill>
              </a:rPr>
              <a:t>▸  Actions are observable and logged</a:t>
            </a:r>
          </a:p>
        </p:txBody>
      </p:sp>
      <p:sp>
        <p:nvSpPr>
          <p:cNvPr id="13" name="TextBox 12"/>
          <p:cNvSpPr txBox="1"/>
          <p:nvPr/>
        </p:nvSpPr>
        <p:spPr>
          <a:xfrm>
            <a:off x="457200" y="3017520"/>
            <a:ext cx="5120640" cy="338328"/>
          </a:xfrm>
          <a:prstGeom prst="rect">
            <a:avLst/>
          </a:prstGeom>
          <a:noFill/>
        </p:spPr>
        <p:txBody>
          <a:bodyPr wrap="square">
            <a:spAutoFit/>
          </a:bodyPr>
          <a:lstStyle/>
          <a:p>
            <a:pPr algn="l"/>
            <a:r>
              <a:rPr sz="1050" b="0" i="0">
                <a:solidFill>
                  <a:srgbClr val="ECF0F1"/>
                </a:solidFill>
              </a:rPr>
              <a:t>▸  Iterative loop until task complete</a:t>
            </a:r>
          </a:p>
        </p:txBody>
      </p:sp>
      <p:sp>
        <p:nvSpPr>
          <p:cNvPr id="14" name="TextBox 13"/>
          <p:cNvSpPr txBox="1"/>
          <p:nvPr/>
        </p:nvSpPr>
        <p:spPr>
          <a:xfrm>
            <a:off x="457200" y="3364991"/>
            <a:ext cx="5120640" cy="338328"/>
          </a:xfrm>
          <a:prstGeom prst="rect">
            <a:avLst/>
          </a:prstGeom>
          <a:noFill/>
        </p:spPr>
        <p:txBody>
          <a:bodyPr wrap="square">
            <a:spAutoFit/>
          </a:bodyPr>
          <a:lstStyle/>
          <a:p>
            <a:pPr algn="l"/>
            <a:r>
              <a:rPr sz="1050" b="0" i="0">
                <a:solidFill>
                  <a:srgbClr val="ECF0F1"/>
                </a:solidFill>
              </a:rPr>
              <a:t>▸  Transparent — user sees all steps</a:t>
            </a:r>
          </a:p>
        </p:txBody>
      </p:sp>
      <p:sp>
        <p:nvSpPr>
          <p:cNvPr id="15" name="TextBox 14"/>
          <p:cNvSpPr txBox="1"/>
          <p:nvPr/>
        </p:nvSpPr>
        <p:spPr>
          <a:xfrm>
            <a:off x="457200" y="3712463"/>
            <a:ext cx="5120640" cy="338328"/>
          </a:xfrm>
          <a:prstGeom prst="rect">
            <a:avLst/>
          </a:prstGeom>
          <a:noFill/>
        </p:spPr>
        <p:txBody>
          <a:bodyPr wrap="square">
            <a:spAutoFit/>
          </a:bodyPr>
          <a:lstStyle/>
          <a:p>
            <a:pPr algn="l"/>
            <a:r>
              <a:rPr sz="1050" b="0" i="0">
                <a:solidFill>
                  <a:srgbClr val="ECF0F1"/>
                </a:solidFill>
              </a:rPr>
              <a:t>▸  Each step has: name, description,</a:t>
            </a:r>
          </a:p>
        </p:txBody>
      </p:sp>
      <p:sp>
        <p:nvSpPr>
          <p:cNvPr id="16" name="TextBox 15"/>
          <p:cNvSpPr txBox="1"/>
          <p:nvPr/>
        </p:nvSpPr>
        <p:spPr>
          <a:xfrm>
            <a:off x="457200" y="4059935"/>
            <a:ext cx="5120640" cy="338328"/>
          </a:xfrm>
          <a:prstGeom prst="rect">
            <a:avLst/>
          </a:prstGeom>
          <a:noFill/>
        </p:spPr>
        <p:txBody>
          <a:bodyPr wrap="square">
            <a:spAutoFit/>
          </a:bodyPr>
          <a:lstStyle/>
          <a:p>
            <a:pPr algn="l"/>
            <a:r>
              <a:rPr sz="1050" b="0" i="0">
                <a:solidFill>
                  <a:srgbClr val="ECF0F1"/>
                </a:solidFill>
              </a:rPr>
              <a:t>▸    status, result, duration_ms</a:t>
            </a:r>
          </a:p>
        </p:txBody>
      </p:sp>
      <p:sp>
        <p:nvSpPr>
          <p:cNvPr id="17" name="TextBox 16"/>
          <p:cNvSpPr txBox="1"/>
          <p:nvPr/>
        </p:nvSpPr>
        <p:spPr>
          <a:xfrm>
            <a:off x="457200" y="4407407"/>
            <a:ext cx="5120640" cy="338328"/>
          </a:xfrm>
          <a:prstGeom prst="rect">
            <a:avLst/>
          </a:prstGeom>
          <a:noFill/>
        </p:spPr>
        <p:txBody>
          <a:bodyPr wrap="square">
            <a:spAutoFit/>
          </a:bodyPr>
          <a:lstStyle/>
          <a:p>
            <a:pPr algn="l"/>
            <a:r>
              <a:rPr sz="1050" b="0" i="0">
                <a:solidFill>
                  <a:srgbClr val="ECF0F1"/>
                </a:solidFill>
              </a:rPr>
              <a:t>▸  Steps displayed in UI expanders</a:t>
            </a:r>
          </a:p>
        </p:txBody>
      </p:sp>
      <p:sp>
        <p:nvSpPr>
          <p:cNvPr id="18" name="TextBox 17"/>
          <p:cNvSpPr txBox="1"/>
          <p:nvPr/>
        </p:nvSpPr>
        <p:spPr>
          <a:xfrm>
            <a:off x="457200" y="4754879"/>
            <a:ext cx="5120640" cy="338328"/>
          </a:xfrm>
          <a:prstGeom prst="rect">
            <a:avLst/>
          </a:prstGeom>
          <a:noFill/>
        </p:spPr>
        <p:txBody>
          <a:bodyPr wrap="square">
            <a:spAutoFit/>
          </a:bodyPr>
          <a:lstStyle/>
          <a:p>
            <a:pPr algn="l"/>
            <a:r>
              <a:rPr sz="1050" b="0" i="0">
                <a:solidFill>
                  <a:srgbClr val="ECF0F1"/>
                </a:solidFill>
              </a:rPr>
              <a:t>▸  Failed steps shown with ❌ marker</a:t>
            </a:r>
          </a:p>
        </p:txBody>
      </p:sp>
      <p:sp>
        <p:nvSpPr>
          <p:cNvPr id="19" name="TextBox 18"/>
          <p:cNvSpPr txBox="1"/>
          <p:nvPr/>
        </p:nvSpPr>
        <p:spPr>
          <a:xfrm>
            <a:off x="457200" y="5102351"/>
            <a:ext cx="5120640" cy="338328"/>
          </a:xfrm>
          <a:prstGeom prst="rect">
            <a:avLst/>
          </a:prstGeom>
          <a:noFill/>
        </p:spPr>
        <p:txBody>
          <a:bodyPr wrap="square">
            <a:spAutoFit/>
          </a:bodyPr>
          <a:lstStyle/>
          <a:p>
            <a:pPr algn="l"/>
            <a:r>
              <a:rPr sz="1050" b="0" i="0">
                <a:solidFill>
                  <a:srgbClr val="ECF0F1"/>
                </a:solidFill>
              </a:rPr>
              <a:t>▸  Completed steps shown with ✅</a:t>
            </a:r>
          </a:p>
        </p:txBody>
      </p:sp>
      <p:sp>
        <p:nvSpPr>
          <p:cNvPr id="20" name="TextBox 19"/>
          <p:cNvSpPr txBox="1"/>
          <p:nvPr/>
        </p:nvSpPr>
        <p:spPr>
          <a:xfrm>
            <a:off x="457200" y="5449823"/>
            <a:ext cx="5120640" cy="338328"/>
          </a:xfrm>
          <a:prstGeom prst="rect">
            <a:avLst/>
          </a:prstGeom>
          <a:noFill/>
        </p:spPr>
        <p:txBody>
          <a:bodyPr wrap="square">
            <a:spAutoFit/>
          </a:bodyPr>
          <a:lstStyle/>
          <a:p>
            <a:pPr algn="l"/>
            <a:r>
              <a:rPr sz="1050" b="0" i="0">
                <a:solidFill>
                  <a:srgbClr val="ECF0F1"/>
                </a:solidFill>
              </a:rPr>
              <a:t>▸  Duration tracked per step (ms)</a:t>
            </a:r>
          </a:p>
        </p:txBody>
      </p:sp>
      <p:sp>
        <p:nvSpPr>
          <p:cNvPr id="21" name="Rectangle 20"/>
          <p:cNvSpPr/>
          <p:nvPr/>
        </p:nvSpPr>
        <p:spPr>
          <a:xfrm>
            <a:off x="6035040" y="1097280"/>
            <a:ext cx="585216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1170432"/>
            <a:ext cx="5486400" cy="384048"/>
          </a:xfrm>
          <a:prstGeom prst="rect">
            <a:avLst/>
          </a:prstGeom>
          <a:noFill/>
        </p:spPr>
        <p:txBody>
          <a:bodyPr wrap="square">
            <a:spAutoFit/>
          </a:bodyPr>
          <a:lstStyle/>
          <a:p>
            <a:pPr algn="l"/>
            <a:r>
              <a:rPr sz="1400" b="1" i="0">
                <a:solidFill>
                  <a:srgbClr val="27AE60"/>
                </a:solidFill>
              </a:rPr>
              <a:t>📋  Agent Step Structure</a:t>
            </a:r>
          </a:p>
        </p:txBody>
      </p:sp>
      <p:sp>
        <p:nvSpPr>
          <p:cNvPr id="23" name="TextBox 22"/>
          <p:cNvSpPr txBox="1"/>
          <p:nvPr/>
        </p:nvSpPr>
        <p:spPr>
          <a:xfrm>
            <a:off x="6217920" y="1645920"/>
            <a:ext cx="5486400" cy="320040"/>
          </a:xfrm>
          <a:prstGeom prst="rect">
            <a:avLst/>
          </a:prstGeom>
          <a:noFill/>
        </p:spPr>
        <p:txBody>
          <a:bodyPr wrap="square">
            <a:spAutoFit/>
          </a:bodyPr>
          <a:lstStyle/>
          <a:p>
            <a:pPr algn="l"/>
            <a:r>
              <a:rPr sz="1000" b="1" i="0">
                <a:solidFill>
                  <a:srgbClr val="F39C12"/>
                </a:solidFill>
              </a:rPr>
              <a:t>class AgentStep:</a:t>
            </a:r>
          </a:p>
        </p:txBody>
      </p:sp>
      <p:sp>
        <p:nvSpPr>
          <p:cNvPr id="24" name="TextBox 23"/>
          <p:cNvSpPr txBox="1"/>
          <p:nvPr/>
        </p:nvSpPr>
        <p:spPr>
          <a:xfrm>
            <a:off x="6217920" y="2011680"/>
            <a:ext cx="5486400" cy="292608"/>
          </a:xfrm>
          <a:prstGeom prst="rect">
            <a:avLst/>
          </a:prstGeom>
          <a:noFill/>
        </p:spPr>
        <p:txBody>
          <a:bodyPr wrap="square">
            <a:spAutoFit/>
          </a:bodyPr>
          <a:lstStyle/>
          <a:p>
            <a:pPr algn="l"/>
            <a:r>
              <a:rPr sz="1000" b="0" i="0">
                <a:solidFill>
                  <a:srgbClr val="ECF0F1"/>
                </a:solidFill>
              </a:rPr>
              <a:t>  step_number: int</a:t>
            </a:r>
          </a:p>
        </p:txBody>
      </p:sp>
      <p:sp>
        <p:nvSpPr>
          <p:cNvPr id="25" name="TextBox 24"/>
          <p:cNvSpPr txBox="1"/>
          <p:nvPr/>
        </p:nvSpPr>
        <p:spPr>
          <a:xfrm>
            <a:off x="6217920" y="2304288"/>
            <a:ext cx="5486400" cy="292608"/>
          </a:xfrm>
          <a:prstGeom prst="rect">
            <a:avLst/>
          </a:prstGeom>
          <a:noFill/>
        </p:spPr>
        <p:txBody>
          <a:bodyPr wrap="square">
            <a:spAutoFit/>
          </a:bodyPr>
          <a:lstStyle/>
          <a:p>
            <a:pPr algn="l"/>
            <a:r>
              <a:rPr sz="1000" b="0" i="0">
                <a:solidFill>
                  <a:srgbClr val="ECF0F1"/>
                </a:solidFill>
              </a:rPr>
              <a:t>  name: str</a:t>
            </a:r>
          </a:p>
        </p:txBody>
      </p:sp>
      <p:sp>
        <p:nvSpPr>
          <p:cNvPr id="26" name="TextBox 25"/>
          <p:cNvSpPr txBox="1"/>
          <p:nvPr/>
        </p:nvSpPr>
        <p:spPr>
          <a:xfrm>
            <a:off x="6217920" y="2596896"/>
            <a:ext cx="5486400" cy="292608"/>
          </a:xfrm>
          <a:prstGeom prst="rect">
            <a:avLst/>
          </a:prstGeom>
          <a:noFill/>
        </p:spPr>
        <p:txBody>
          <a:bodyPr wrap="square">
            <a:spAutoFit/>
          </a:bodyPr>
          <a:lstStyle/>
          <a:p>
            <a:pPr algn="l"/>
            <a:r>
              <a:rPr sz="1000" b="0" i="0">
                <a:solidFill>
                  <a:srgbClr val="ECF0F1"/>
                </a:solidFill>
              </a:rPr>
              <a:t>  description: str</a:t>
            </a:r>
          </a:p>
        </p:txBody>
      </p:sp>
      <p:sp>
        <p:nvSpPr>
          <p:cNvPr id="27" name="TextBox 26"/>
          <p:cNvSpPr txBox="1"/>
          <p:nvPr/>
        </p:nvSpPr>
        <p:spPr>
          <a:xfrm>
            <a:off x="6217920" y="2889503"/>
            <a:ext cx="5486400" cy="292608"/>
          </a:xfrm>
          <a:prstGeom prst="rect">
            <a:avLst/>
          </a:prstGeom>
          <a:noFill/>
        </p:spPr>
        <p:txBody>
          <a:bodyPr wrap="square">
            <a:spAutoFit/>
          </a:bodyPr>
          <a:lstStyle/>
          <a:p>
            <a:pPr algn="l"/>
            <a:r>
              <a:rPr sz="1000" b="0" i="0">
                <a:solidFill>
                  <a:srgbClr val="ECF0F1"/>
                </a:solidFill>
              </a:rPr>
              <a:t>  status: pending/running/</a:t>
            </a:r>
          </a:p>
        </p:txBody>
      </p:sp>
      <p:sp>
        <p:nvSpPr>
          <p:cNvPr id="28" name="TextBox 27"/>
          <p:cNvSpPr txBox="1"/>
          <p:nvPr/>
        </p:nvSpPr>
        <p:spPr>
          <a:xfrm>
            <a:off x="6217920" y="3182111"/>
            <a:ext cx="5486400" cy="292608"/>
          </a:xfrm>
          <a:prstGeom prst="rect">
            <a:avLst/>
          </a:prstGeom>
          <a:noFill/>
        </p:spPr>
        <p:txBody>
          <a:bodyPr wrap="square">
            <a:spAutoFit/>
          </a:bodyPr>
          <a:lstStyle/>
          <a:p>
            <a:pPr algn="l"/>
            <a:r>
              <a:rPr sz="1000" b="0" i="0">
                <a:solidFill>
                  <a:srgbClr val="ECF0F1"/>
                </a:solidFill>
              </a:rPr>
              <a:t>         completed/failed</a:t>
            </a:r>
          </a:p>
        </p:txBody>
      </p:sp>
      <p:sp>
        <p:nvSpPr>
          <p:cNvPr id="29" name="TextBox 28"/>
          <p:cNvSpPr txBox="1"/>
          <p:nvPr/>
        </p:nvSpPr>
        <p:spPr>
          <a:xfrm>
            <a:off x="6217920" y="3474719"/>
            <a:ext cx="5486400" cy="292608"/>
          </a:xfrm>
          <a:prstGeom prst="rect">
            <a:avLst/>
          </a:prstGeom>
          <a:noFill/>
        </p:spPr>
        <p:txBody>
          <a:bodyPr wrap="square">
            <a:spAutoFit/>
          </a:bodyPr>
          <a:lstStyle/>
          <a:p>
            <a:pPr algn="l"/>
            <a:r>
              <a:rPr sz="1000" b="0" i="0">
                <a:solidFill>
                  <a:srgbClr val="ECF0F1"/>
                </a:solidFill>
              </a:rPr>
              <a:t>  result: dict | list | str</a:t>
            </a:r>
          </a:p>
        </p:txBody>
      </p:sp>
      <p:sp>
        <p:nvSpPr>
          <p:cNvPr id="30" name="TextBox 29"/>
          <p:cNvSpPr txBox="1"/>
          <p:nvPr/>
        </p:nvSpPr>
        <p:spPr>
          <a:xfrm>
            <a:off x="6217920" y="3767327"/>
            <a:ext cx="5486400" cy="292608"/>
          </a:xfrm>
          <a:prstGeom prst="rect">
            <a:avLst/>
          </a:prstGeom>
          <a:noFill/>
        </p:spPr>
        <p:txBody>
          <a:bodyPr wrap="square">
            <a:spAutoFit/>
          </a:bodyPr>
          <a:lstStyle/>
          <a:p>
            <a:pPr algn="l"/>
            <a:r>
              <a:rPr sz="1000" b="0" i="0">
                <a:solidFill>
                  <a:srgbClr val="ECF0F1"/>
                </a:solidFill>
              </a:rPr>
              <a:t>  start_time: datetime</a:t>
            </a:r>
          </a:p>
        </p:txBody>
      </p:sp>
      <p:sp>
        <p:nvSpPr>
          <p:cNvPr id="31" name="TextBox 30"/>
          <p:cNvSpPr txBox="1"/>
          <p:nvPr/>
        </p:nvSpPr>
        <p:spPr>
          <a:xfrm>
            <a:off x="6217920" y="4059935"/>
            <a:ext cx="5486400" cy="292608"/>
          </a:xfrm>
          <a:prstGeom prst="rect">
            <a:avLst/>
          </a:prstGeom>
          <a:noFill/>
        </p:spPr>
        <p:txBody>
          <a:bodyPr wrap="square">
            <a:spAutoFit/>
          </a:bodyPr>
          <a:lstStyle/>
          <a:p>
            <a:pPr algn="l"/>
            <a:r>
              <a:rPr sz="1000" b="0" i="0">
                <a:solidFill>
                  <a:srgbClr val="ECF0F1"/>
                </a:solidFill>
              </a:rPr>
              <a:t>  end_time: datetime</a:t>
            </a:r>
          </a:p>
        </p:txBody>
      </p:sp>
      <p:sp>
        <p:nvSpPr>
          <p:cNvPr id="32" name="TextBox 31"/>
          <p:cNvSpPr txBox="1"/>
          <p:nvPr/>
        </p:nvSpPr>
        <p:spPr>
          <a:xfrm>
            <a:off x="6217920" y="4352544"/>
            <a:ext cx="5486400" cy="292608"/>
          </a:xfrm>
          <a:prstGeom prst="rect">
            <a:avLst/>
          </a:prstGeom>
          <a:noFill/>
        </p:spPr>
        <p:txBody>
          <a:bodyPr wrap="square">
            <a:spAutoFit/>
          </a:bodyPr>
          <a:lstStyle/>
          <a:p>
            <a:pPr algn="l"/>
            <a:r>
              <a:rPr sz="1000" b="0" i="0">
                <a:solidFill>
                  <a:srgbClr val="ECF0F1"/>
                </a:solidFill>
              </a:rPr>
              <a:t>  get_duration_ms() → float</a:t>
            </a:r>
          </a:p>
        </p:txBody>
      </p:sp>
      <p:sp>
        <p:nvSpPr>
          <p:cNvPr id="33" name="TextBox 32"/>
          <p:cNvSpPr txBox="1"/>
          <p:nvPr/>
        </p:nvSpPr>
        <p:spPr>
          <a:xfrm>
            <a:off x="6217920" y="4645152"/>
            <a:ext cx="5486400" cy="292608"/>
          </a:xfrm>
          <a:prstGeom prst="rect">
            <a:avLst/>
          </a:prstGeom>
          <a:noFill/>
        </p:spPr>
        <p:txBody>
          <a:bodyPr wrap="square">
            <a:spAutoFit/>
          </a:bodyPr>
          <a:lstStyle/>
          <a:p>
            <a:pPr algn="l"/>
            <a:r>
              <a:rPr sz="1000" b="0" i="0">
                <a:solidFill>
                  <a:srgbClr val="ECF0F1"/>
                </a:solidFill>
              </a:rPr>
              <a:t/>
            </a:r>
          </a:p>
        </p:txBody>
      </p:sp>
      <p:sp>
        <p:nvSpPr>
          <p:cNvPr id="34" name="TextBox 33"/>
          <p:cNvSpPr txBox="1"/>
          <p:nvPr/>
        </p:nvSpPr>
        <p:spPr>
          <a:xfrm>
            <a:off x="6217920" y="4937760"/>
            <a:ext cx="5486400" cy="292608"/>
          </a:xfrm>
          <a:prstGeom prst="rect">
            <a:avLst/>
          </a:prstGeom>
          <a:noFill/>
        </p:spPr>
        <p:txBody>
          <a:bodyPr wrap="square">
            <a:spAutoFit/>
          </a:bodyPr>
          <a:lstStyle/>
          <a:p>
            <a:pPr algn="l"/>
            <a:r>
              <a:rPr sz="1000" b="0" i="0">
                <a:solidFill>
                  <a:srgbClr val="ECF0F1"/>
                </a:solidFill>
              </a:rPr>
              <a:t>Execution Flow:</a:t>
            </a:r>
          </a:p>
        </p:txBody>
      </p:sp>
      <p:sp>
        <p:nvSpPr>
          <p:cNvPr id="35" name="TextBox 34"/>
          <p:cNvSpPr txBox="1"/>
          <p:nvPr/>
        </p:nvSpPr>
        <p:spPr>
          <a:xfrm>
            <a:off x="6217920" y="5230368"/>
            <a:ext cx="5486400" cy="292608"/>
          </a:xfrm>
          <a:prstGeom prst="rect">
            <a:avLst/>
          </a:prstGeom>
          <a:noFill/>
        </p:spPr>
        <p:txBody>
          <a:bodyPr wrap="square">
            <a:spAutoFit/>
          </a:bodyPr>
          <a:lstStyle/>
          <a:p>
            <a:pPr algn="l"/>
            <a:r>
              <a:rPr sz="1000" b="0" i="0">
                <a:solidFill>
                  <a:srgbClr val="ECF0F1"/>
                </a:solidFill>
              </a:rPr>
              <a:t>  1. Parse user intent</a:t>
            </a:r>
          </a:p>
        </p:txBody>
      </p:sp>
      <p:sp>
        <p:nvSpPr>
          <p:cNvPr id="36" name="TextBox 35"/>
          <p:cNvSpPr txBox="1"/>
          <p:nvPr/>
        </p:nvSpPr>
        <p:spPr>
          <a:xfrm>
            <a:off x="6217920" y="5522976"/>
            <a:ext cx="5486400" cy="292608"/>
          </a:xfrm>
          <a:prstGeom prst="rect">
            <a:avLst/>
          </a:prstGeom>
          <a:noFill/>
        </p:spPr>
        <p:txBody>
          <a:bodyPr wrap="square">
            <a:spAutoFit/>
          </a:bodyPr>
          <a:lstStyle/>
          <a:p>
            <a:pPr algn="l"/>
            <a:r>
              <a:rPr sz="1000" b="0" i="0">
                <a:solidFill>
                  <a:srgbClr val="ECF0F1"/>
                </a:solidFill>
              </a:rPr>
              <a:t>  2. Identify Docker action</a:t>
            </a:r>
          </a:p>
        </p:txBody>
      </p:sp>
      <p:sp>
        <p:nvSpPr>
          <p:cNvPr id="37" name="TextBox 36"/>
          <p:cNvSpPr txBox="1"/>
          <p:nvPr/>
        </p:nvSpPr>
        <p:spPr>
          <a:xfrm>
            <a:off x="6217920" y="5815584"/>
            <a:ext cx="5486400" cy="292608"/>
          </a:xfrm>
          <a:prstGeom prst="rect">
            <a:avLst/>
          </a:prstGeom>
          <a:noFill/>
        </p:spPr>
        <p:txBody>
          <a:bodyPr wrap="square">
            <a:spAutoFit/>
          </a:bodyPr>
          <a:lstStyle/>
          <a:p>
            <a:pPr algn="l"/>
            <a:r>
              <a:rPr sz="1000" b="0" i="0">
                <a:solidFill>
                  <a:srgbClr val="ECF0F1"/>
                </a:solidFill>
              </a:rPr>
              <a:t>  3. Validate container name</a:t>
            </a:r>
          </a:p>
        </p:txBody>
      </p:sp>
      <p:sp>
        <p:nvSpPr>
          <p:cNvPr id="38" name="TextBox 37"/>
          <p:cNvSpPr txBox="1"/>
          <p:nvPr/>
        </p:nvSpPr>
        <p:spPr>
          <a:xfrm>
            <a:off x="6217920" y="6108192"/>
            <a:ext cx="5486400" cy="292608"/>
          </a:xfrm>
          <a:prstGeom prst="rect">
            <a:avLst/>
          </a:prstGeom>
          <a:noFill/>
        </p:spPr>
        <p:txBody>
          <a:bodyPr wrap="square">
            <a:spAutoFit/>
          </a:bodyPr>
          <a:lstStyle/>
          <a:p>
            <a:pPr algn="l"/>
            <a:r>
              <a:rPr sz="1000" b="0" i="0">
                <a:solidFill>
                  <a:srgbClr val="ECF0F1"/>
                </a:solidFill>
              </a:rPr>
              <a:t>  4. Execute Docker command</a:t>
            </a:r>
          </a:p>
        </p:txBody>
      </p:sp>
      <p:sp>
        <p:nvSpPr>
          <p:cNvPr id="39" name="TextBox 38"/>
          <p:cNvSpPr txBox="1"/>
          <p:nvPr/>
        </p:nvSpPr>
        <p:spPr>
          <a:xfrm>
            <a:off x="6217920" y="6400800"/>
            <a:ext cx="5486400" cy="292608"/>
          </a:xfrm>
          <a:prstGeom prst="rect">
            <a:avLst/>
          </a:prstGeom>
          <a:noFill/>
        </p:spPr>
        <p:txBody>
          <a:bodyPr wrap="square">
            <a:spAutoFit/>
          </a:bodyPr>
          <a:lstStyle/>
          <a:p>
            <a:pPr algn="l"/>
            <a:r>
              <a:rPr sz="1000" b="0" i="0">
                <a:solidFill>
                  <a:srgbClr val="ECF0F1"/>
                </a:solidFill>
              </a:rPr>
              <a:t>  5. Capture output</a:t>
            </a:r>
          </a:p>
        </p:txBody>
      </p:sp>
      <p:sp>
        <p:nvSpPr>
          <p:cNvPr id="40" name="TextBox 39"/>
          <p:cNvSpPr txBox="1"/>
          <p:nvPr/>
        </p:nvSpPr>
        <p:spPr>
          <a:xfrm>
            <a:off x="6217920" y="6693408"/>
            <a:ext cx="5486400" cy="292608"/>
          </a:xfrm>
          <a:prstGeom prst="rect">
            <a:avLst/>
          </a:prstGeom>
          <a:noFill/>
        </p:spPr>
        <p:txBody>
          <a:bodyPr wrap="square">
            <a:spAutoFit/>
          </a:bodyPr>
          <a:lstStyle/>
          <a:p>
            <a:pPr algn="l"/>
            <a:r>
              <a:rPr sz="1000" b="0" i="0">
                <a:solidFill>
                  <a:srgbClr val="ECF0F1"/>
                </a:solidFill>
              </a:rPr>
              <a:t>  6. Generate summary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Logs &amp; Analytics Pages</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Audit trail, history, and visual insights</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3657600" cy="246888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36576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52144"/>
            <a:ext cx="3438144" cy="411480"/>
          </a:xfrm>
          <a:prstGeom prst="rect">
            <a:avLst/>
          </a:prstGeom>
          <a:noFill/>
        </p:spPr>
        <p:txBody>
          <a:bodyPr wrap="square">
            <a:spAutoFit/>
          </a:bodyPr>
          <a:lstStyle/>
          <a:p>
            <a:pPr algn="l"/>
            <a:r>
              <a:rPr sz="1200" b="1" i="0">
                <a:solidFill>
                  <a:srgbClr val="FFFFFF"/>
                </a:solidFill>
              </a:rPr>
              <a:t>📋  Prompt Logs Tab</a:t>
            </a:r>
          </a:p>
        </p:txBody>
      </p:sp>
      <p:sp>
        <p:nvSpPr>
          <p:cNvPr id="10" name="TextBox 9"/>
          <p:cNvSpPr txBox="1"/>
          <p:nvPr/>
        </p:nvSpPr>
        <p:spPr>
          <a:xfrm>
            <a:off x="384048" y="1664207"/>
            <a:ext cx="3438144" cy="347472"/>
          </a:xfrm>
          <a:prstGeom prst="rect">
            <a:avLst/>
          </a:prstGeom>
          <a:noFill/>
        </p:spPr>
        <p:txBody>
          <a:bodyPr wrap="square">
            <a:spAutoFit/>
          </a:bodyPr>
          <a:lstStyle/>
          <a:p>
            <a:pPr algn="l"/>
            <a:r>
              <a:rPr sz="1000" b="0" i="0">
                <a:solidFill>
                  <a:srgbClr val="ECF0F1"/>
                </a:solidFill>
              </a:rPr>
              <a:t>▸  Every AI command is logged</a:t>
            </a:r>
          </a:p>
        </p:txBody>
      </p:sp>
      <p:sp>
        <p:nvSpPr>
          <p:cNvPr id="11" name="TextBox 10"/>
          <p:cNvSpPr txBox="1"/>
          <p:nvPr/>
        </p:nvSpPr>
        <p:spPr>
          <a:xfrm>
            <a:off x="384048" y="2011679"/>
            <a:ext cx="3438144" cy="347472"/>
          </a:xfrm>
          <a:prstGeom prst="rect">
            <a:avLst/>
          </a:prstGeom>
          <a:noFill/>
        </p:spPr>
        <p:txBody>
          <a:bodyPr wrap="square">
            <a:spAutoFit/>
          </a:bodyPr>
          <a:lstStyle/>
          <a:p>
            <a:pPr algn="l"/>
            <a:r>
              <a:rPr sz="1000" b="0" i="0">
                <a:solidFill>
                  <a:srgbClr val="ECF0F1"/>
                </a:solidFill>
              </a:rPr>
              <a:t>▸  Stores: timestamp, user prompt</a:t>
            </a:r>
          </a:p>
        </p:txBody>
      </p:sp>
      <p:sp>
        <p:nvSpPr>
          <p:cNvPr id="12" name="TextBox 11"/>
          <p:cNvSpPr txBox="1"/>
          <p:nvPr/>
        </p:nvSpPr>
        <p:spPr>
          <a:xfrm>
            <a:off x="384048" y="2359151"/>
            <a:ext cx="3438144" cy="347472"/>
          </a:xfrm>
          <a:prstGeom prst="rect">
            <a:avLst/>
          </a:prstGeom>
          <a:noFill/>
        </p:spPr>
        <p:txBody>
          <a:bodyPr wrap="square">
            <a:spAutoFit/>
          </a:bodyPr>
          <a:lstStyle/>
          <a:p>
            <a:pPr algn="l"/>
            <a:r>
              <a:rPr sz="1000" b="0" i="0">
                <a:solidFill>
                  <a:srgbClr val="ECF0F1"/>
                </a:solidFill>
              </a:rPr>
              <a:t>▸  Generated action (JSON)</a:t>
            </a:r>
          </a:p>
        </p:txBody>
      </p:sp>
      <p:sp>
        <p:nvSpPr>
          <p:cNvPr id="13" name="TextBox 12"/>
          <p:cNvSpPr txBox="1"/>
          <p:nvPr/>
        </p:nvSpPr>
        <p:spPr>
          <a:xfrm>
            <a:off x="384048" y="2706623"/>
            <a:ext cx="3438144" cy="347472"/>
          </a:xfrm>
          <a:prstGeom prst="rect">
            <a:avLst/>
          </a:prstGeom>
          <a:noFill/>
        </p:spPr>
        <p:txBody>
          <a:bodyPr wrap="square">
            <a:spAutoFit/>
          </a:bodyPr>
          <a:lstStyle/>
          <a:p>
            <a:pPr algn="l"/>
            <a:r>
              <a:rPr sz="1000" b="0" i="0">
                <a:solidFill>
                  <a:srgbClr val="ECF0F1"/>
                </a:solidFill>
              </a:rPr>
              <a:t>▸  Execution result &amp; status</a:t>
            </a:r>
          </a:p>
        </p:txBody>
      </p:sp>
      <p:sp>
        <p:nvSpPr>
          <p:cNvPr id="14" name="TextBox 13"/>
          <p:cNvSpPr txBox="1"/>
          <p:nvPr/>
        </p:nvSpPr>
        <p:spPr>
          <a:xfrm>
            <a:off x="384048" y="3054095"/>
            <a:ext cx="3438144" cy="347472"/>
          </a:xfrm>
          <a:prstGeom prst="rect">
            <a:avLst/>
          </a:prstGeom>
          <a:noFill/>
        </p:spPr>
        <p:txBody>
          <a:bodyPr wrap="square">
            <a:spAutoFit/>
          </a:bodyPr>
          <a:lstStyle/>
          <a:p>
            <a:pPr algn="l"/>
            <a:r>
              <a:rPr sz="1000" b="0" i="0">
                <a:solidFill>
                  <a:srgbClr val="ECF0F1"/>
                </a:solidFill>
              </a:rPr>
              <a:t>▸  Duration in milliseconds</a:t>
            </a:r>
          </a:p>
        </p:txBody>
      </p:sp>
      <p:sp>
        <p:nvSpPr>
          <p:cNvPr id="15" name="Rectangle 14"/>
          <p:cNvSpPr/>
          <p:nvPr/>
        </p:nvSpPr>
        <p:spPr>
          <a:xfrm>
            <a:off x="4114800" y="1097280"/>
            <a:ext cx="3657600" cy="246888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0" y="1097280"/>
            <a:ext cx="3657600"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24528" y="1152144"/>
            <a:ext cx="3438144" cy="411480"/>
          </a:xfrm>
          <a:prstGeom prst="rect">
            <a:avLst/>
          </a:prstGeom>
          <a:noFill/>
        </p:spPr>
        <p:txBody>
          <a:bodyPr wrap="square">
            <a:spAutoFit/>
          </a:bodyPr>
          <a:lstStyle/>
          <a:p>
            <a:pPr algn="l"/>
            <a:r>
              <a:rPr sz="1200" b="1" i="0">
                <a:solidFill>
                  <a:srgbClr val="FFFFFF"/>
                </a:solidFill>
              </a:rPr>
              <a:t>🔍  Audit Logs Tab</a:t>
            </a:r>
          </a:p>
        </p:txBody>
      </p:sp>
      <p:sp>
        <p:nvSpPr>
          <p:cNvPr id="18" name="TextBox 17"/>
          <p:cNvSpPr txBox="1"/>
          <p:nvPr/>
        </p:nvSpPr>
        <p:spPr>
          <a:xfrm>
            <a:off x="4224528" y="1664207"/>
            <a:ext cx="3438144" cy="347472"/>
          </a:xfrm>
          <a:prstGeom prst="rect">
            <a:avLst/>
          </a:prstGeom>
          <a:noFill/>
        </p:spPr>
        <p:txBody>
          <a:bodyPr wrap="square">
            <a:spAutoFit/>
          </a:bodyPr>
          <a:lstStyle/>
          <a:p>
            <a:pPr algn="l"/>
            <a:r>
              <a:rPr sz="1000" b="0" i="0">
                <a:solidFill>
                  <a:srgbClr val="ECF0F1"/>
                </a:solidFill>
              </a:rPr>
              <a:t>▸  All container operations logged</a:t>
            </a:r>
          </a:p>
        </p:txBody>
      </p:sp>
      <p:sp>
        <p:nvSpPr>
          <p:cNvPr id="19" name="TextBox 18"/>
          <p:cNvSpPr txBox="1"/>
          <p:nvPr/>
        </p:nvSpPr>
        <p:spPr>
          <a:xfrm>
            <a:off x="4224528" y="2011679"/>
            <a:ext cx="3438144" cy="347472"/>
          </a:xfrm>
          <a:prstGeom prst="rect">
            <a:avLst/>
          </a:prstGeom>
          <a:noFill/>
        </p:spPr>
        <p:txBody>
          <a:bodyPr wrap="square">
            <a:spAutoFit/>
          </a:bodyPr>
          <a:lstStyle/>
          <a:p>
            <a:pPr algn="l"/>
            <a:r>
              <a:rPr sz="1000" b="0" i="0">
                <a:solidFill>
                  <a:srgbClr val="ECF0F1"/>
                </a:solidFill>
              </a:rPr>
              <a:t>▸  Who did what and when</a:t>
            </a:r>
          </a:p>
        </p:txBody>
      </p:sp>
      <p:sp>
        <p:nvSpPr>
          <p:cNvPr id="20" name="TextBox 19"/>
          <p:cNvSpPr txBox="1"/>
          <p:nvPr/>
        </p:nvSpPr>
        <p:spPr>
          <a:xfrm>
            <a:off x="4224528" y="2359151"/>
            <a:ext cx="3438144" cy="347472"/>
          </a:xfrm>
          <a:prstGeom prst="rect">
            <a:avLst/>
          </a:prstGeom>
          <a:noFill/>
        </p:spPr>
        <p:txBody>
          <a:bodyPr wrap="square">
            <a:spAutoFit/>
          </a:bodyPr>
          <a:lstStyle/>
          <a:p>
            <a:pPr algn="l"/>
            <a:r>
              <a:rPr sz="1000" b="0" i="0">
                <a:solidFill>
                  <a:srgbClr val="ECF0F1"/>
                </a:solidFill>
              </a:rPr>
              <a:t>▸  DataFrame table display</a:t>
            </a:r>
          </a:p>
        </p:txBody>
      </p:sp>
      <p:sp>
        <p:nvSpPr>
          <p:cNvPr id="21" name="TextBox 20"/>
          <p:cNvSpPr txBox="1"/>
          <p:nvPr/>
        </p:nvSpPr>
        <p:spPr>
          <a:xfrm>
            <a:off x="4224528" y="2706623"/>
            <a:ext cx="3438144" cy="347472"/>
          </a:xfrm>
          <a:prstGeom prst="rect">
            <a:avLst/>
          </a:prstGeom>
          <a:noFill/>
        </p:spPr>
        <p:txBody>
          <a:bodyPr wrap="square">
            <a:spAutoFit/>
          </a:bodyPr>
          <a:lstStyle/>
          <a:p>
            <a:pPr algn="l"/>
            <a:r>
              <a:rPr sz="1000" b="0" i="0">
                <a:solidFill>
                  <a:srgbClr val="ECF0F1"/>
                </a:solidFill>
              </a:rPr>
              <a:t>▸  Filterable and scrollable</a:t>
            </a:r>
          </a:p>
        </p:txBody>
      </p:sp>
      <p:sp>
        <p:nvSpPr>
          <p:cNvPr id="22" name="TextBox 21"/>
          <p:cNvSpPr txBox="1"/>
          <p:nvPr/>
        </p:nvSpPr>
        <p:spPr>
          <a:xfrm>
            <a:off x="4224528" y="3054095"/>
            <a:ext cx="3438144" cy="347472"/>
          </a:xfrm>
          <a:prstGeom prst="rect">
            <a:avLst/>
          </a:prstGeom>
          <a:noFill/>
        </p:spPr>
        <p:txBody>
          <a:bodyPr wrap="square">
            <a:spAutoFit/>
          </a:bodyPr>
          <a:lstStyle/>
          <a:p>
            <a:pPr algn="l"/>
            <a:r>
              <a:rPr sz="1000" b="0" i="0">
                <a:solidFill>
                  <a:srgbClr val="ECF0F1"/>
                </a:solidFill>
              </a:rPr>
              <a:t>▸  SQLite persistent storage</a:t>
            </a:r>
          </a:p>
        </p:txBody>
      </p:sp>
      <p:sp>
        <p:nvSpPr>
          <p:cNvPr id="23" name="Rectangle 22"/>
          <p:cNvSpPr/>
          <p:nvPr/>
        </p:nvSpPr>
        <p:spPr>
          <a:xfrm>
            <a:off x="7955279" y="1097280"/>
            <a:ext cx="3931920" cy="246888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55279" y="1097280"/>
            <a:ext cx="3931920" cy="502920"/>
          </a:xfrm>
          <a:prstGeom prst="rect">
            <a:avLst/>
          </a:prstGeom>
          <a:solidFill>
            <a:srgbClr val="236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65007" y="1152144"/>
            <a:ext cx="3712463" cy="411480"/>
          </a:xfrm>
          <a:prstGeom prst="rect">
            <a:avLst/>
          </a:prstGeom>
          <a:noFill/>
        </p:spPr>
        <p:txBody>
          <a:bodyPr wrap="square">
            <a:spAutoFit/>
          </a:bodyPr>
          <a:lstStyle/>
          <a:p>
            <a:pPr algn="l"/>
            <a:r>
              <a:rPr sz="1200" b="1" i="0">
                <a:solidFill>
                  <a:srgbClr val="FFFFFF"/>
                </a:solidFill>
              </a:rPr>
              <a:t>📅  Container History</a:t>
            </a:r>
          </a:p>
        </p:txBody>
      </p:sp>
      <p:sp>
        <p:nvSpPr>
          <p:cNvPr id="26" name="TextBox 25"/>
          <p:cNvSpPr txBox="1"/>
          <p:nvPr/>
        </p:nvSpPr>
        <p:spPr>
          <a:xfrm>
            <a:off x="8065007" y="1664207"/>
            <a:ext cx="3712463" cy="347472"/>
          </a:xfrm>
          <a:prstGeom prst="rect">
            <a:avLst/>
          </a:prstGeom>
          <a:noFill/>
        </p:spPr>
        <p:txBody>
          <a:bodyPr wrap="square">
            <a:spAutoFit/>
          </a:bodyPr>
          <a:lstStyle/>
          <a:p>
            <a:pPr algn="l"/>
            <a:r>
              <a:rPr sz="1000" b="0" i="0">
                <a:solidFill>
                  <a:srgbClr val="ECF0F1"/>
                </a:solidFill>
              </a:rPr>
              <a:t>▸  Timeline of status changes</a:t>
            </a:r>
          </a:p>
        </p:txBody>
      </p:sp>
      <p:sp>
        <p:nvSpPr>
          <p:cNvPr id="27" name="TextBox 26"/>
          <p:cNvSpPr txBox="1"/>
          <p:nvPr/>
        </p:nvSpPr>
        <p:spPr>
          <a:xfrm>
            <a:off x="8065007" y="2011679"/>
            <a:ext cx="3712463" cy="347472"/>
          </a:xfrm>
          <a:prstGeom prst="rect">
            <a:avLst/>
          </a:prstGeom>
          <a:noFill/>
        </p:spPr>
        <p:txBody>
          <a:bodyPr wrap="square">
            <a:spAutoFit/>
          </a:bodyPr>
          <a:lstStyle/>
          <a:p>
            <a:pPr algn="l"/>
            <a:r>
              <a:rPr sz="1000" b="0" i="0">
                <a:solidFill>
                  <a:srgbClr val="ECF0F1"/>
                </a:solidFill>
              </a:rPr>
              <a:t>▸  Container start/stop events</a:t>
            </a:r>
          </a:p>
        </p:txBody>
      </p:sp>
      <p:sp>
        <p:nvSpPr>
          <p:cNvPr id="28" name="TextBox 27"/>
          <p:cNvSpPr txBox="1"/>
          <p:nvPr/>
        </p:nvSpPr>
        <p:spPr>
          <a:xfrm>
            <a:off x="8065007" y="2359151"/>
            <a:ext cx="3712463" cy="347472"/>
          </a:xfrm>
          <a:prstGeom prst="rect">
            <a:avLst/>
          </a:prstGeom>
          <a:noFill/>
        </p:spPr>
        <p:txBody>
          <a:bodyPr wrap="square">
            <a:spAutoFit/>
          </a:bodyPr>
          <a:lstStyle/>
          <a:p>
            <a:pPr algn="l"/>
            <a:r>
              <a:rPr sz="1000" b="0" i="0">
                <a:solidFill>
                  <a:srgbClr val="ECF0F1"/>
                </a:solidFill>
              </a:rPr>
              <a:t>▸  Last 100 events displayed</a:t>
            </a:r>
          </a:p>
        </p:txBody>
      </p:sp>
      <p:sp>
        <p:nvSpPr>
          <p:cNvPr id="29" name="TextBox 28"/>
          <p:cNvSpPr txBox="1"/>
          <p:nvPr/>
        </p:nvSpPr>
        <p:spPr>
          <a:xfrm>
            <a:off x="8065007" y="2706623"/>
            <a:ext cx="3712463" cy="347472"/>
          </a:xfrm>
          <a:prstGeom prst="rect">
            <a:avLst/>
          </a:prstGeom>
          <a:noFill/>
        </p:spPr>
        <p:txBody>
          <a:bodyPr wrap="square">
            <a:spAutoFit/>
          </a:bodyPr>
          <a:lstStyle/>
          <a:p>
            <a:pPr algn="l"/>
            <a:r>
              <a:rPr sz="1000" b="0" i="0">
                <a:solidFill>
                  <a:srgbClr val="ECF0F1"/>
                </a:solidFill>
              </a:rPr>
              <a:t>▸  Timestamp with container name</a:t>
            </a:r>
          </a:p>
        </p:txBody>
      </p:sp>
      <p:sp>
        <p:nvSpPr>
          <p:cNvPr id="30" name="TextBox 29"/>
          <p:cNvSpPr txBox="1"/>
          <p:nvPr/>
        </p:nvSpPr>
        <p:spPr>
          <a:xfrm>
            <a:off x="8065007" y="3054095"/>
            <a:ext cx="3712463" cy="347472"/>
          </a:xfrm>
          <a:prstGeom prst="rect">
            <a:avLst/>
          </a:prstGeom>
          <a:noFill/>
        </p:spPr>
        <p:txBody>
          <a:bodyPr wrap="square">
            <a:spAutoFit/>
          </a:bodyPr>
          <a:lstStyle/>
          <a:p>
            <a:pPr algn="l"/>
            <a:r>
              <a:rPr sz="1000" b="0" i="0">
                <a:solidFill>
                  <a:srgbClr val="ECF0F1"/>
                </a:solidFill>
              </a:rPr>
              <a:t>▸  Useful for post-mortem analysis</a:t>
            </a:r>
          </a:p>
        </p:txBody>
      </p:sp>
      <p:sp>
        <p:nvSpPr>
          <p:cNvPr id="31" name="Rectangle 30"/>
          <p:cNvSpPr/>
          <p:nvPr/>
        </p:nvSpPr>
        <p:spPr>
          <a:xfrm>
            <a:off x="274320" y="3794760"/>
            <a:ext cx="11612880" cy="269748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858768"/>
            <a:ext cx="9144000" cy="384048"/>
          </a:xfrm>
          <a:prstGeom prst="rect">
            <a:avLst/>
          </a:prstGeom>
          <a:noFill/>
        </p:spPr>
        <p:txBody>
          <a:bodyPr wrap="square">
            <a:spAutoFit/>
          </a:bodyPr>
          <a:lstStyle/>
          <a:p>
            <a:pPr algn="l"/>
            <a:r>
              <a:rPr sz="1400" b="1" i="0">
                <a:solidFill>
                  <a:srgbClr val="27AE60"/>
                </a:solidFill>
              </a:rPr>
              <a:t>📊  Analytics Page — Visual Charts</a:t>
            </a:r>
          </a:p>
        </p:txBody>
      </p:sp>
      <p:sp>
        <p:nvSpPr>
          <p:cNvPr id="33" name="TextBox 32"/>
          <p:cNvSpPr txBox="1"/>
          <p:nvPr/>
        </p:nvSpPr>
        <p:spPr>
          <a:xfrm>
            <a:off x="457200" y="4315968"/>
            <a:ext cx="2743200" cy="329184"/>
          </a:xfrm>
          <a:prstGeom prst="rect">
            <a:avLst/>
          </a:prstGeom>
          <a:noFill/>
        </p:spPr>
        <p:txBody>
          <a:bodyPr wrap="square">
            <a:spAutoFit/>
          </a:bodyPr>
          <a:lstStyle/>
          <a:p>
            <a:pPr algn="l"/>
            <a:r>
              <a:rPr sz="1050" b="1" i="0">
                <a:solidFill>
                  <a:srgbClr val="F39C12"/>
                </a:solidFill>
              </a:rPr>
              <a:t>📈  Bar Chart:</a:t>
            </a:r>
          </a:p>
        </p:txBody>
      </p:sp>
      <p:sp>
        <p:nvSpPr>
          <p:cNvPr id="34" name="TextBox 33"/>
          <p:cNvSpPr txBox="1"/>
          <p:nvPr/>
        </p:nvSpPr>
        <p:spPr>
          <a:xfrm>
            <a:off x="3291840" y="4315968"/>
            <a:ext cx="8229600" cy="329184"/>
          </a:xfrm>
          <a:prstGeom prst="rect">
            <a:avLst/>
          </a:prstGeom>
          <a:noFill/>
        </p:spPr>
        <p:txBody>
          <a:bodyPr wrap="square">
            <a:spAutoFit/>
          </a:bodyPr>
          <a:lstStyle/>
          <a:p>
            <a:pPr algn="l"/>
            <a:r>
              <a:rPr sz="1050" b="0" i="0">
                <a:solidFill>
                  <a:srgbClr val="ECF0F1"/>
                </a:solidFill>
              </a:rPr>
              <a:t>Container count grouped by status (running/stopped/paused)</a:t>
            </a:r>
          </a:p>
        </p:txBody>
      </p:sp>
      <p:sp>
        <p:nvSpPr>
          <p:cNvPr id="35" name="TextBox 34"/>
          <p:cNvSpPr txBox="1"/>
          <p:nvPr/>
        </p:nvSpPr>
        <p:spPr>
          <a:xfrm>
            <a:off x="457200" y="4681728"/>
            <a:ext cx="2743200" cy="329184"/>
          </a:xfrm>
          <a:prstGeom prst="rect">
            <a:avLst/>
          </a:prstGeom>
          <a:noFill/>
        </p:spPr>
        <p:txBody>
          <a:bodyPr wrap="square">
            <a:spAutoFit/>
          </a:bodyPr>
          <a:lstStyle/>
          <a:p>
            <a:pPr algn="l"/>
            <a:r>
              <a:rPr sz="1050" b="1" i="0">
                <a:solidFill>
                  <a:srgbClr val="F39C12"/>
                </a:solidFill>
              </a:rPr>
              <a:t>📈  Pie Chart:</a:t>
            </a:r>
          </a:p>
        </p:txBody>
      </p:sp>
      <p:sp>
        <p:nvSpPr>
          <p:cNvPr id="36" name="TextBox 35"/>
          <p:cNvSpPr txBox="1"/>
          <p:nvPr/>
        </p:nvSpPr>
        <p:spPr>
          <a:xfrm>
            <a:off x="3291840" y="4681728"/>
            <a:ext cx="8229600" cy="329184"/>
          </a:xfrm>
          <a:prstGeom prst="rect">
            <a:avLst/>
          </a:prstGeom>
          <a:noFill/>
        </p:spPr>
        <p:txBody>
          <a:bodyPr wrap="square">
            <a:spAutoFit/>
          </a:bodyPr>
          <a:lstStyle/>
          <a:p>
            <a:pPr algn="l"/>
            <a:r>
              <a:rPr sz="1050" b="0" i="0">
                <a:solidFill>
                  <a:srgbClr val="ECF0F1"/>
                </a:solidFill>
              </a:rPr>
              <a:t>Percentage distribution of container statuses</a:t>
            </a:r>
          </a:p>
        </p:txBody>
      </p:sp>
      <p:sp>
        <p:nvSpPr>
          <p:cNvPr id="37" name="TextBox 36"/>
          <p:cNvSpPr txBox="1"/>
          <p:nvPr/>
        </p:nvSpPr>
        <p:spPr>
          <a:xfrm>
            <a:off x="457200" y="5047488"/>
            <a:ext cx="2743200" cy="329184"/>
          </a:xfrm>
          <a:prstGeom prst="rect">
            <a:avLst/>
          </a:prstGeom>
          <a:noFill/>
        </p:spPr>
        <p:txBody>
          <a:bodyPr wrap="square">
            <a:spAutoFit/>
          </a:bodyPr>
          <a:lstStyle/>
          <a:p>
            <a:pPr algn="l"/>
            <a:r>
              <a:rPr sz="1050" b="1" i="0">
                <a:solidFill>
                  <a:srgbClr val="F39C12"/>
                </a:solidFill>
              </a:rPr>
              <a:t>📈  CPU Chart:</a:t>
            </a:r>
          </a:p>
        </p:txBody>
      </p:sp>
      <p:sp>
        <p:nvSpPr>
          <p:cNvPr id="38" name="TextBox 37"/>
          <p:cNvSpPr txBox="1"/>
          <p:nvPr/>
        </p:nvSpPr>
        <p:spPr>
          <a:xfrm>
            <a:off x="3291840" y="5047488"/>
            <a:ext cx="8229600" cy="329184"/>
          </a:xfrm>
          <a:prstGeom prst="rect">
            <a:avLst/>
          </a:prstGeom>
          <a:noFill/>
        </p:spPr>
        <p:txBody>
          <a:bodyPr wrap="square">
            <a:spAutoFit/>
          </a:bodyPr>
          <a:lstStyle/>
          <a:p>
            <a:pPr algn="l"/>
            <a:r>
              <a:rPr sz="1050" b="0" i="0">
                <a:solidFill>
                  <a:srgbClr val="ECF0F1"/>
                </a:solidFill>
              </a:rPr>
              <a:t>Horizontal bar chart — CPU % per running container</a:t>
            </a:r>
          </a:p>
        </p:txBody>
      </p:sp>
      <p:sp>
        <p:nvSpPr>
          <p:cNvPr id="39" name="TextBox 38"/>
          <p:cNvSpPr txBox="1"/>
          <p:nvPr/>
        </p:nvSpPr>
        <p:spPr>
          <a:xfrm>
            <a:off x="457200" y="5413248"/>
            <a:ext cx="2743200" cy="329184"/>
          </a:xfrm>
          <a:prstGeom prst="rect">
            <a:avLst/>
          </a:prstGeom>
          <a:noFill/>
        </p:spPr>
        <p:txBody>
          <a:bodyPr wrap="square">
            <a:spAutoFit/>
          </a:bodyPr>
          <a:lstStyle/>
          <a:p>
            <a:pPr algn="l"/>
            <a:r>
              <a:rPr sz="1050" b="1" i="0">
                <a:solidFill>
                  <a:srgbClr val="F39C12"/>
                </a:solidFill>
              </a:rPr>
              <a:t>📈  Memory Chart:</a:t>
            </a:r>
          </a:p>
        </p:txBody>
      </p:sp>
      <p:sp>
        <p:nvSpPr>
          <p:cNvPr id="40" name="TextBox 39"/>
          <p:cNvSpPr txBox="1"/>
          <p:nvPr/>
        </p:nvSpPr>
        <p:spPr>
          <a:xfrm>
            <a:off x="3291840" y="5413248"/>
            <a:ext cx="8229600" cy="329184"/>
          </a:xfrm>
          <a:prstGeom prst="rect">
            <a:avLst/>
          </a:prstGeom>
          <a:noFill/>
        </p:spPr>
        <p:txBody>
          <a:bodyPr wrap="square">
            <a:spAutoFit/>
          </a:bodyPr>
          <a:lstStyle/>
          <a:p>
            <a:pPr algn="l"/>
            <a:r>
              <a:rPr sz="1050" b="0" i="0">
                <a:solidFill>
                  <a:srgbClr val="ECF0F1"/>
                </a:solidFill>
              </a:rPr>
              <a:t>Memory usage in MB per running container</a:t>
            </a:r>
          </a:p>
        </p:txBody>
      </p:sp>
      <p:sp>
        <p:nvSpPr>
          <p:cNvPr id="41" name="TextBox 40"/>
          <p:cNvSpPr txBox="1"/>
          <p:nvPr/>
        </p:nvSpPr>
        <p:spPr>
          <a:xfrm>
            <a:off x="457200" y="5779008"/>
            <a:ext cx="2743200" cy="329184"/>
          </a:xfrm>
          <a:prstGeom prst="rect">
            <a:avLst/>
          </a:prstGeom>
          <a:noFill/>
        </p:spPr>
        <p:txBody>
          <a:bodyPr wrap="square">
            <a:spAutoFit/>
          </a:bodyPr>
          <a:lstStyle/>
          <a:p>
            <a:pPr algn="l"/>
            <a:r>
              <a:rPr sz="1050" b="1" i="0">
                <a:solidFill>
                  <a:srgbClr val="F39C12"/>
                </a:solidFill>
              </a:rPr>
              <a:t>📈  Timeline:</a:t>
            </a:r>
          </a:p>
        </p:txBody>
      </p:sp>
      <p:sp>
        <p:nvSpPr>
          <p:cNvPr id="42" name="TextBox 41"/>
          <p:cNvSpPr txBox="1"/>
          <p:nvPr/>
        </p:nvSpPr>
        <p:spPr>
          <a:xfrm>
            <a:off x="3291840" y="5779008"/>
            <a:ext cx="8229600" cy="329184"/>
          </a:xfrm>
          <a:prstGeom prst="rect">
            <a:avLst/>
          </a:prstGeom>
          <a:noFill/>
        </p:spPr>
        <p:txBody>
          <a:bodyPr wrap="square">
            <a:spAutoFit/>
          </a:bodyPr>
          <a:lstStyle/>
          <a:p>
            <a:pPr algn="l"/>
            <a:r>
              <a:rPr sz="1050" b="0" i="0">
                <a:solidFill>
                  <a:srgbClr val="ECF0F1"/>
                </a:solidFill>
              </a:rPr>
              <a:t>Scatter plot of container status changes over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GitHub API &amp; Settings Pages</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External integrations and configuration</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5486400" cy="274320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54864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52144"/>
            <a:ext cx="5266944" cy="411480"/>
          </a:xfrm>
          <a:prstGeom prst="rect">
            <a:avLst/>
          </a:prstGeom>
          <a:noFill/>
        </p:spPr>
        <p:txBody>
          <a:bodyPr wrap="square">
            <a:spAutoFit/>
          </a:bodyPr>
          <a:lstStyle/>
          <a:p>
            <a:pPr algn="l"/>
            <a:r>
              <a:rPr sz="1200" b="1" i="0">
                <a:solidFill>
                  <a:srgbClr val="FFFFFF"/>
                </a:solidFill>
              </a:rPr>
              <a:t>🔗  GitHub API Page</a:t>
            </a:r>
          </a:p>
        </p:txBody>
      </p:sp>
      <p:sp>
        <p:nvSpPr>
          <p:cNvPr id="10" name="TextBox 9"/>
          <p:cNvSpPr txBox="1"/>
          <p:nvPr/>
        </p:nvSpPr>
        <p:spPr>
          <a:xfrm>
            <a:off x="384048" y="1664207"/>
            <a:ext cx="5266944" cy="347472"/>
          </a:xfrm>
          <a:prstGeom prst="rect">
            <a:avLst/>
          </a:prstGeom>
          <a:noFill/>
        </p:spPr>
        <p:txBody>
          <a:bodyPr wrap="square">
            <a:spAutoFit/>
          </a:bodyPr>
          <a:lstStyle/>
          <a:p>
            <a:pPr algn="l"/>
            <a:r>
              <a:rPr sz="1000" b="0" i="0">
                <a:solidFill>
                  <a:srgbClr val="ECF0F1"/>
                </a:solidFill>
              </a:rPr>
              <a:t>▸  GitHub system status (live)</a:t>
            </a:r>
          </a:p>
        </p:txBody>
      </p:sp>
      <p:sp>
        <p:nvSpPr>
          <p:cNvPr id="11" name="TextBox 10"/>
          <p:cNvSpPr txBox="1"/>
          <p:nvPr/>
        </p:nvSpPr>
        <p:spPr>
          <a:xfrm>
            <a:off x="384048" y="2011679"/>
            <a:ext cx="5266944" cy="347472"/>
          </a:xfrm>
          <a:prstGeom prst="rect">
            <a:avLst/>
          </a:prstGeom>
          <a:noFill/>
        </p:spPr>
        <p:txBody>
          <a:bodyPr wrap="square">
            <a:spAutoFit/>
          </a:bodyPr>
          <a:lstStyle/>
          <a:p>
            <a:pPr algn="l"/>
            <a:r>
              <a:rPr sz="1000" b="0" i="0">
                <a:solidFill>
                  <a:srgbClr val="ECF0F1"/>
                </a:solidFill>
              </a:rPr>
              <a:t>▸  Incident/outage indicator</a:t>
            </a:r>
          </a:p>
        </p:txBody>
      </p:sp>
      <p:sp>
        <p:nvSpPr>
          <p:cNvPr id="12" name="TextBox 11"/>
          <p:cNvSpPr txBox="1"/>
          <p:nvPr/>
        </p:nvSpPr>
        <p:spPr>
          <a:xfrm>
            <a:off x="384048" y="2359151"/>
            <a:ext cx="5266944" cy="347472"/>
          </a:xfrm>
          <a:prstGeom prst="rect">
            <a:avLst/>
          </a:prstGeom>
          <a:noFill/>
        </p:spPr>
        <p:txBody>
          <a:bodyPr wrap="square">
            <a:spAutoFit/>
          </a:bodyPr>
          <a:lstStyle/>
          <a:p>
            <a:pPr algn="l"/>
            <a:r>
              <a:rPr sz="1000" b="0" i="0">
                <a:solidFill>
                  <a:srgbClr val="ECF0F1"/>
                </a:solidFill>
              </a:rPr>
              <a:t>▸  API rate limit monitoring</a:t>
            </a:r>
          </a:p>
        </p:txBody>
      </p:sp>
      <p:sp>
        <p:nvSpPr>
          <p:cNvPr id="13" name="TextBox 12"/>
          <p:cNvSpPr txBox="1"/>
          <p:nvPr/>
        </p:nvSpPr>
        <p:spPr>
          <a:xfrm>
            <a:off x="384048" y="2706623"/>
            <a:ext cx="5266944" cy="347472"/>
          </a:xfrm>
          <a:prstGeom prst="rect">
            <a:avLst/>
          </a:prstGeom>
          <a:noFill/>
        </p:spPr>
        <p:txBody>
          <a:bodyPr wrap="square">
            <a:spAutoFit/>
          </a:bodyPr>
          <a:lstStyle/>
          <a:p>
            <a:pPr algn="l"/>
            <a:r>
              <a:rPr sz="1000" b="0" i="0">
                <a:solidFill>
                  <a:srgbClr val="ECF0F1"/>
                </a:solidFill>
              </a:rPr>
              <a:t>▸  Remaining / Total / Used counts</a:t>
            </a:r>
          </a:p>
        </p:txBody>
      </p:sp>
      <p:sp>
        <p:nvSpPr>
          <p:cNvPr id="14" name="TextBox 13"/>
          <p:cNvSpPr txBox="1"/>
          <p:nvPr/>
        </p:nvSpPr>
        <p:spPr>
          <a:xfrm>
            <a:off x="384048" y="3054095"/>
            <a:ext cx="5266944" cy="347472"/>
          </a:xfrm>
          <a:prstGeom prst="rect">
            <a:avLst/>
          </a:prstGeom>
          <a:noFill/>
        </p:spPr>
        <p:txBody>
          <a:bodyPr wrap="square">
            <a:spAutoFit/>
          </a:bodyPr>
          <a:lstStyle/>
          <a:p>
            <a:pPr algn="l"/>
            <a:r>
              <a:rPr sz="1000" b="0" i="0">
                <a:solidFill>
                  <a:srgbClr val="ECF0F1"/>
                </a:solidFill>
              </a:rPr>
              <a:t>▸  Progress bar for rate limit</a:t>
            </a:r>
          </a:p>
        </p:txBody>
      </p:sp>
      <p:sp>
        <p:nvSpPr>
          <p:cNvPr id="15" name="TextBox 14"/>
          <p:cNvSpPr txBox="1"/>
          <p:nvPr/>
        </p:nvSpPr>
        <p:spPr>
          <a:xfrm>
            <a:off x="384048" y="3401567"/>
            <a:ext cx="5266944" cy="347472"/>
          </a:xfrm>
          <a:prstGeom prst="rect">
            <a:avLst/>
          </a:prstGeom>
          <a:noFill/>
        </p:spPr>
        <p:txBody>
          <a:bodyPr wrap="square">
            <a:spAutoFit/>
          </a:bodyPr>
          <a:lstStyle/>
          <a:p>
            <a:pPr algn="l"/>
            <a:r>
              <a:rPr sz="1000" b="0" i="0">
                <a:solidFill>
                  <a:srgbClr val="ECF0F1"/>
                </a:solidFill>
              </a:rPr>
              <a:t>▸  Recent 15 public GitHub events</a:t>
            </a:r>
          </a:p>
        </p:txBody>
      </p:sp>
      <p:sp>
        <p:nvSpPr>
          <p:cNvPr id="16" name="TextBox 15"/>
          <p:cNvSpPr txBox="1"/>
          <p:nvPr/>
        </p:nvSpPr>
        <p:spPr>
          <a:xfrm>
            <a:off x="384048" y="3749039"/>
            <a:ext cx="5266944" cy="347472"/>
          </a:xfrm>
          <a:prstGeom prst="rect">
            <a:avLst/>
          </a:prstGeom>
          <a:noFill/>
        </p:spPr>
        <p:txBody>
          <a:bodyPr wrap="square">
            <a:spAutoFit/>
          </a:bodyPr>
          <a:lstStyle/>
          <a:p>
            <a:pPr algn="l"/>
            <a:r>
              <a:rPr sz="1000" b="0" i="0">
                <a:solidFill>
                  <a:srgbClr val="ECF0F1"/>
                </a:solidFill>
              </a:rPr>
              <a:t>▸  Event type, repo, actor, timestamp</a:t>
            </a:r>
          </a:p>
        </p:txBody>
      </p:sp>
      <p:sp>
        <p:nvSpPr>
          <p:cNvPr id="17" name="Rectangle 16"/>
          <p:cNvSpPr/>
          <p:nvPr/>
        </p:nvSpPr>
        <p:spPr>
          <a:xfrm>
            <a:off x="6035040" y="1097280"/>
            <a:ext cx="5852160" cy="274320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5040" y="1097280"/>
            <a:ext cx="5852160"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44768" y="1152144"/>
            <a:ext cx="5632704" cy="411480"/>
          </a:xfrm>
          <a:prstGeom prst="rect">
            <a:avLst/>
          </a:prstGeom>
          <a:noFill/>
        </p:spPr>
        <p:txBody>
          <a:bodyPr wrap="square">
            <a:spAutoFit/>
          </a:bodyPr>
          <a:lstStyle/>
          <a:p>
            <a:pPr algn="l"/>
            <a:r>
              <a:rPr sz="1200" b="1" i="0">
                <a:solidFill>
                  <a:srgbClr val="FFFFFF"/>
                </a:solidFill>
              </a:rPr>
              <a:t>⚙️  Settings Page</a:t>
            </a:r>
          </a:p>
        </p:txBody>
      </p:sp>
      <p:sp>
        <p:nvSpPr>
          <p:cNvPr id="20" name="TextBox 19"/>
          <p:cNvSpPr txBox="1"/>
          <p:nvPr/>
        </p:nvSpPr>
        <p:spPr>
          <a:xfrm>
            <a:off x="6144768" y="1664207"/>
            <a:ext cx="5632704" cy="347472"/>
          </a:xfrm>
          <a:prstGeom prst="rect">
            <a:avLst/>
          </a:prstGeom>
          <a:noFill/>
        </p:spPr>
        <p:txBody>
          <a:bodyPr wrap="square">
            <a:spAutoFit/>
          </a:bodyPr>
          <a:lstStyle/>
          <a:p>
            <a:pPr algn="l"/>
            <a:r>
              <a:rPr sz="1000" b="0" i="0">
                <a:solidFill>
                  <a:srgbClr val="ECF0F1"/>
                </a:solidFill>
              </a:rPr>
              <a:t>▸  Docker socket configuration</a:t>
            </a:r>
          </a:p>
        </p:txBody>
      </p:sp>
      <p:sp>
        <p:nvSpPr>
          <p:cNvPr id="21" name="TextBox 20"/>
          <p:cNvSpPr txBox="1"/>
          <p:nvPr/>
        </p:nvSpPr>
        <p:spPr>
          <a:xfrm>
            <a:off x="6144768" y="2011679"/>
            <a:ext cx="5632704" cy="347472"/>
          </a:xfrm>
          <a:prstGeom prst="rect">
            <a:avLst/>
          </a:prstGeom>
          <a:noFill/>
        </p:spPr>
        <p:txBody>
          <a:bodyPr wrap="square">
            <a:spAutoFit/>
          </a:bodyPr>
          <a:lstStyle/>
          <a:p>
            <a:pPr algn="l"/>
            <a:r>
              <a:rPr sz="1000" b="0" i="0">
                <a:solidFill>
                  <a:srgbClr val="ECF0F1"/>
                </a:solidFill>
              </a:rPr>
              <a:t>▸  Docker host URL setting</a:t>
            </a:r>
          </a:p>
        </p:txBody>
      </p:sp>
      <p:sp>
        <p:nvSpPr>
          <p:cNvPr id="22" name="TextBox 21"/>
          <p:cNvSpPr txBox="1"/>
          <p:nvPr/>
        </p:nvSpPr>
        <p:spPr>
          <a:xfrm>
            <a:off x="6144768" y="2359151"/>
            <a:ext cx="5632704" cy="347472"/>
          </a:xfrm>
          <a:prstGeom prst="rect">
            <a:avLst/>
          </a:prstGeom>
          <a:noFill/>
        </p:spPr>
        <p:txBody>
          <a:bodyPr wrap="square">
            <a:spAutoFit/>
          </a:bodyPr>
          <a:lstStyle/>
          <a:p>
            <a:pPr algn="l"/>
            <a:r>
              <a:rPr sz="1000" b="0" i="0">
                <a:solidFill>
                  <a:srgbClr val="ECF0F1"/>
                </a:solidFill>
              </a:rPr>
              <a:t>▸  Groq API key (password field)</a:t>
            </a:r>
          </a:p>
        </p:txBody>
      </p:sp>
      <p:sp>
        <p:nvSpPr>
          <p:cNvPr id="23" name="TextBox 22"/>
          <p:cNvSpPr txBox="1"/>
          <p:nvPr/>
        </p:nvSpPr>
        <p:spPr>
          <a:xfrm>
            <a:off x="6144768" y="2706623"/>
            <a:ext cx="5632704" cy="347472"/>
          </a:xfrm>
          <a:prstGeom prst="rect">
            <a:avLst/>
          </a:prstGeom>
          <a:noFill/>
        </p:spPr>
        <p:txBody>
          <a:bodyPr wrap="square">
            <a:spAutoFit/>
          </a:bodyPr>
          <a:lstStyle/>
          <a:p>
            <a:pPr algn="l"/>
            <a:r>
              <a:rPr sz="1000" b="0" i="0">
                <a:solidFill>
                  <a:srgbClr val="ECF0F1"/>
                </a:solidFill>
              </a:rPr>
              <a:t>▸  Model selection input</a:t>
            </a:r>
          </a:p>
        </p:txBody>
      </p:sp>
      <p:sp>
        <p:nvSpPr>
          <p:cNvPr id="24" name="TextBox 23"/>
          <p:cNvSpPr txBox="1"/>
          <p:nvPr/>
        </p:nvSpPr>
        <p:spPr>
          <a:xfrm>
            <a:off x="6144768" y="3054095"/>
            <a:ext cx="5632704" cy="347472"/>
          </a:xfrm>
          <a:prstGeom prst="rect">
            <a:avLst/>
          </a:prstGeom>
          <a:noFill/>
        </p:spPr>
        <p:txBody>
          <a:bodyPr wrap="square">
            <a:spAutoFit/>
          </a:bodyPr>
          <a:lstStyle/>
          <a:p>
            <a:pPr algn="l"/>
            <a:r>
              <a:rPr sz="1000" b="0" i="0">
                <a:solidFill>
                  <a:srgbClr val="ECF0F1"/>
                </a:solidFill>
              </a:rPr>
              <a:t>▸  Test Groq connection button</a:t>
            </a:r>
          </a:p>
        </p:txBody>
      </p:sp>
      <p:sp>
        <p:nvSpPr>
          <p:cNvPr id="25" name="TextBox 24"/>
          <p:cNvSpPr txBox="1"/>
          <p:nvPr/>
        </p:nvSpPr>
        <p:spPr>
          <a:xfrm>
            <a:off x="6144768" y="3401567"/>
            <a:ext cx="5632704" cy="347472"/>
          </a:xfrm>
          <a:prstGeom prst="rect">
            <a:avLst/>
          </a:prstGeom>
          <a:noFill/>
        </p:spPr>
        <p:txBody>
          <a:bodyPr wrap="square">
            <a:spAutoFit/>
          </a:bodyPr>
          <a:lstStyle/>
          <a:p>
            <a:pPr algn="l"/>
            <a:r>
              <a:rPr sz="1000" b="0" i="0">
                <a:solidFill>
                  <a:srgbClr val="ECF0F1"/>
                </a:solidFill>
              </a:rPr>
              <a:t>▸  Database path configuration</a:t>
            </a:r>
          </a:p>
        </p:txBody>
      </p:sp>
      <p:sp>
        <p:nvSpPr>
          <p:cNvPr id="26" name="TextBox 25"/>
          <p:cNvSpPr txBox="1"/>
          <p:nvPr/>
        </p:nvSpPr>
        <p:spPr>
          <a:xfrm>
            <a:off x="6144768" y="3749039"/>
            <a:ext cx="5632704" cy="347472"/>
          </a:xfrm>
          <a:prstGeom prst="rect">
            <a:avLst/>
          </a:prstGeom>
          <a:noFill/>
        </p:spPr>
        <p:txBody>
          <a:bodyPr wrap="square">
            <a:spAutoFit/>
          </a:bodyPr>
          <a:lstStyle/>
          <a:p>
            <a:pPr algn="l"/>
            <a:r>
              <a:rPr sz="1000" b="0" i="0">
                <a:solidFill>
                  <a:srgbClr val="ECF0F1"/>
                </a:solidFill>
              </a:rPr>
              <a:t>▸  Log retention days setting</a:t>
            </a:r>
          </a:p>
        </p:txBody>
      </p:sp>
      <p:sp>
        <p:nvSpPr>
          <p:cNvPr id="27" name="Rectangle 26"/>
          <p:cNvSpPr/>
          <p:nvPr/>
        </p:nvSpPr>
        <p:spPr>
          <a:xfrm>
            <a:off x="274320" y="4023360"/>
            <a:ext cx="11612880" cy="246888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087368"/>
            <a:ext cx="9144000" cy="384048"/>
          </a:xfrm>
          <a:prstGeom prst="rect">
            <a:avLst/>
          </a:prstGeom>
          <a:noFill/>
        </p:spPr>
        <p:txBody>
          <a:bodyPr wrap="square">
            <a:spAutoFit/>
          </a:bodyPr>
          <a:lstStyle/>
          <a:p>
            <a:pPr algn="l"/>
            <a:r>
              <a:rPr sz="1400" b="1" i="0">
                <a:solidFill>
                  <a:srgbClr val="27AE60"/>
                </a:solidFill>
              </a:rPr>
              <a:t>🔧  Configuration Details</a:t>
            </a:r>
          </a:p>
        </p:txBody>
      </p:sp>
      <p:sp>
        <p:nvSpPr>
          <p:cNvPr id="29" name="TextBox 28"/>
          <p:cNvSpPr txBox="1"/>
          <p:nvPr/>
        </p:nvSpPr>
        <p:spPr>
          <a:xfrm>
            <a:off x="457200" y="4526280"/>
            <a:ext cx="3474720" cy="320040"/>
          </a:xfrm>
          <a:prstGeom prst="rect">
            <a:avLst/>
          </a:prstGeom>
          <a:noFill/>
        </p:spPr>
        <p:txBody>
          <a:bodyPr wrap="square">
            <a:spAutoFit/>
          </a:bodyPr>
          <a:lstStyle/>
          <a:p>
            <a:pPr algn="l"/>
            <a:r>
              <a:rPr sz="1000" b="1" i="0">
                <a:solidFill>
                  <a:srgbClr val="F39C12"/>
                </a:solidFill>
              </a:rPr>
              <a:t>GROQ_API_KEY:</a:t>
            </a:r>
          </a:p>
        </p:txBody>
      </p:sp>
      <p:sp>
        <p:nvSpPr>
          <p:cNvPr id="30" name="TextBox 29"/>
          <p:cNvSpPr txBox="1"/>
          <p:nvPr/>
        </p:nvSpPr>
        <p:spPr>
          <a:xfrm>
            <a:off x="4023360" y="4526280"/>
            <a:ext cx="7680960" cy="320040"/>
          </a:xfrm>
          <a:prstGeom prst="rect">
            <a:avLst/>
          </a:prstGeom>
          <a:noFill/>
        </p:spPr>
        <p:txBody>
          <a:bodyPr wrap="square">
            <a:spAutoFit/>
          </a:bodyPr>
          <a:lstStyle/>
          <a:p>
            <a:pPr algn="l"/>
            <a:r>
              <a:rPr sz="1000" b="0" i="0">
                <a:solidFill>
                  <a:srgbClr val="ECF0F1"/>
                </a:solidFill>
              </a:rPr>
              <a:t>Your Groq API key — free at console.groq.com/keys</a:t>
            </a:r>
          </a:p>
        </p:txBody>
      </p:sp>
      <p:sp>
        <p:nvSpPr>
          <p:cNvPr id="31" name="TextBox 30"/>
          <p:cNvSpPr txBox="1"/>
          <p:nvPr/>
        </p:nvSpPr>
        <p:spPr>
          <a:xfrm>
            <a:off x="457200" y="4873752"/>
            <a:ext cx="3474720" cy="320040"/>
          </a:xfrm>
          <a:prstGeom prst="rect">
            <a:avLst/>
          </a:prstGeom>
          <a:noFill/>
        </p:spPr>
        <p:txBody>
          <a:bodyPr wrap="square">
            <a:spAutoFit/>
          </a:bodyPr>
          <a:lstStyle/>
          <a:p>
            <a:pPr algn="l"/>
            <a:r>
              <a:rPr sz="1000" b="1" i="0">
                <a:solidFill>
                  <a:srgbClr val="F39C12"/>
                </a:solidFill>
              </a:rPr>
              <a:t>GROQ_MODEL:</a:t>
            </a:r>
          </a:p>
        </p:txBody>
      </p:sp>
      <p:sp>
        <p:nvSpPr>
          <p:cNvPr id="32" name="TextBox 31"/>
          <p:cNvSpPr txBox="1"/>
          <p:nvPr/>
        </p:nvSpPr>
        <p:spPr>
          <a:xfrm>
            <a:off x="4023360" y="4873752"/>
            <a:ext cx="7680960" cy="320040"/>
          </a:xfrm>
          <a:prstGeom prst="rect">
            <a:avLst/>
          </a:prstGeom>
          <a:noFill/>
        </p:spPr>
        <p:txBody>
          <a:bodyPr wrap="square">
            <a:spAutoFit/>
          </a:bodyPr>
          <a:lstStyle/>
          <a:p>
            <a:pPr algn="l"/>
            <a:r>
              <a:rPr sz="1000" b="0" i="0">
                <a:solidFill>
                  <a:srgbClr val="ECF0F1"/>
                </a:solidFill>
              </a:rPr>
              <a:t>llama-3.3-70b-versatile (default) or gemma2-9b-it</a:t>
            </a:r>
          </a:p>
        </p:txBody>
      </p:sp>
      <p:sp>
        <p:nvSpPr>
          <p:cNvPr id="33" name="TextBox 32"/>
          <p:cNvSpPr txBox="1"/>
          <p:nvPr/>
        </p:nvSpPr>
        <p:spPr>
          <a:xfrm>
            <a:off x="457200" y="5221224"/>
            <a:ext cx="3474720" cy="320040"/>
          </a:xfrm>
          <a:prstGeom prst="rect">
            <a:avLst/>
          </a:prstGeom>
          <a:noFill/>
        </p:spPr>
        <p:txBody>
          <a:bodyPr wrap="square">
            <a:spAutoFit/>
          </a:bodyPr>
          <a:lstStyle/>
          <a:p>
            <a:pPr algn="l"/>
            <a:r>
              <a:rPr sz="1000" b="1" i="0">
                <a:solidFill>
                  <a:srgbClr val="F39C12"/>
                </a:solidFill>
              </a:rPr>
              <a:t>DOCKER_HOST:</a:t>
            </a:r>
          </a:p>
        </p:txBody>
      </p:sp>
      <p:sp>
        <p:nvSpPr>
          <p:cNvPr id="34" name="TextBox 33"/>
          <p:cNvSpPr txBox="1"/>
          <p:nvPr/>
        </p:nvSpPr>
        <p:spPr>
          <a:xfrm>
            <a:off x="4023360" y="5221224"/>
            <a:ext cx="7680960" cy="320040"/>
          </a:xfrm>
          <a:prstGeom prst="rect">
            <a:avLst/>
          </a:prstGeom>
          <a:noFill/>
        </p:spPr>
        <p:txBody>
          <a:bodyPr wrap="square">
            <a:spAutoFit/>
          </a:bodyPr>
          <a:lstStyle/>
          <a:p>
            <a:pPr algn="l"/>
            <a:r>
              <a:rPr sz="1000" b="0" i="0">
                <a:solidFill>
                  <a:srgbClr val="ECF0F1"/>
                </a:solidFill>
              </a:rPr>
              <a:t>unix:///var/run/docker.sock (default on Linux/Mac)</a:t>
            </a:r>
          </a:p>
        </p:txBody>
      </p:sp>
      <p:sp>
        <p:nvSpPr>
          <p:cNvPr id="35" name="TextBox 34"/>
          <p:cNvSpPr txBox="1"/>
          <p:nvPr/>
        </p:nvSpPr>
        <p:spPr>
          <a:xfrm>
            <a:off x="457200" y="5568696"/>
            <a:ext cx="3474720" cy="320040"/>
          </a:xfrm>
          <a:prstGeom prst="rect">
            <a:avLst/>
          </a:prstGeom>
          <a:noFill/>
        </p:spPr>
        <p:txBody>
          <a:bodyPr wrap="square">
            <a:spAutoFit/>
          </a:bodyPr>
          <a:lstStyle/>
          <a:p>
            <a:pPr algn="l"/>
            <a:r>
              <a:rPr sz="1000" b="1" i="0">
                <a:solidFill>
                  <a:srgbClr val="F39C12"/>
                </a:solidFill>
              </a:rPr>
              <a:t>DATABASE_PATH:</a:t>
            </a:r>
          </a:p>
        </p:txBody>
      </p:sp>
      <p:sp>
        <p:nvSpPr>
          <p:cNvPr id="36" name="TextBox 35"/>
          <p:cNvSpPr txBox="1"/>
          <p:nvPr/>
        </p:nvSpPr>
        <p:spPr>
          <a:xfrm>
            <a:off x="4023360" y="5568696"/>
            <a:ext cx="7680960" cy="320040"/>
          </a:xfrm>
          <a:prstGeom prst="rect">
            <a:avLst/>
          </a:prstGeom>
          <a:noFill/>
        </p:spPr>
        <p:txBody>
          <a:bodyPr wrap="square">
            <a:spAutoFit/>
          </a:bodyPr>
          <a:lstStyle/>
          <a:p>
            <a:pPr algn="l"/>
            <a:r>
              <a:rPr sz="1000" b="0" i="0">
                <a:solidFill>
                  <a:srgbClr val="ECF0F1"/>
                </a:solidFill>
              </a:rPr>
              <a:t>data/dashboard.db — SQLite file location</a:t>
            </a:r>
          </a:p>
        </p:txBody>
      </p:sp>
      <p:sp>
        <p:nvSpPr>
          <p:cNvPr id="37" name="TextBox 36"/>
          <p:cNvSpPr txBox="1"/>
          <p:nvPr/>
        </p:nvSpPr>
        <p:spPr>
          <a:xfrm>
            <a:off x="457200" y="5916168"/>
            <a:ext cx="3474720" cy="320040"/>
          </a:xfrm>
          <a:prstGeom prst="rect">
            <a:avLst/>
          </a:prstGeom>
          <a:noFill/>
        </p:spPr>
        <p:txBody>
          <a:bodyPr wrap="square">
            <a:spAutoFit/>
          </a:bodyPr>
          <a:lstStyle/>
          <a:p>
            <a:pPr algn="l"/>
            <a:r>
              <a:rPr sz="1000" b="1" i="0">
                <a:solidFill>
                  <a:srgbClr val="F39C12"/>
                </a:solidFill>
              </a:rPr>
              <a:t>LOG_RETENTION:</a:t>
            </a:r>
          </a:p>
        </p:txBody>
      </p:sp>
      <p:sp>
        <p:nvSpPr>
          <p:cNvPr id="38" name="TextBox 37"/>
          <p:cNvSpPr txBox="1"/>
          <p:nvPr/>
        </p:nvSpPr>
        <p:spPr>
          <a:xfrm>
            <a:off x="4023360" y="5916168"/>
            <a:ext cx="7680960" cy="320040"/>
          </a:xfrm>
          <a:prstGeom prst="rect">
            <a:avLst/>
          </a:prstGeom>
          <a:noFill/>
        </p:spPr>
        <p:txBody>
          <a:bodyPr wrap="square">
            <a:spAutoFit/>
          </a:bodyPr>
          <a:lstStyle/>
          <a:p>
            <a:pPr algn="l"/>
            <a:r>
              <a:rPr sz="1000" b="0" i="0">
                <a:solidFill>
                  <a:srgbClr val="ECF0F1"/>
                </a:solidFill>
              </a:rPr>
              <a:t>Days to keep prompt and audit logs (default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Technology Stack</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All tools, libraries and frameworks used</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2743200" cy="53949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27432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52144"/>
            <a:ext cx="2523744" cy="411480"/>
          </a:xfrm>
          <a:prstGeom prst="rect">
            <a:avLst/>
          </a:prstGeom>
          <a:noFill/>
        </p:spPr>
        <p:txBody>
          <a:bodyPr wrap="square">
            <a:spAutoFit/>
          </a:bodyPr>
          <a:lstStyle/>
          <a:p>
            <a:pPr algn="l"/>
            <a:r>
              <a:rPr sz="1200" b="1" i="0">
                <a:solidFill>
                  <a:srgbClr val="FFFFFF"/>
                </a:solidFill>
              </a:rPr>
              <a:t>🖥️  Frontend</a:t>
            </a:r>
          </a:p>
        </p:txBody>
      </p:sp>
      <p:sp>
        <p:nvSpPr>
          <p:cNvPr id="10" name="TextBox 9"/>
          <p:cNvSpPr txBox="1"/>
          <p:nvPr/>
        </p:nvSpPr>
        <p:spPr>
          <a:xfrm>
            <a:off x="384048" y="1664207"/>
            <a:ext cx="2523744" cy="347472"/>
          </a:xfrm>
          <a:prstGeom prst="rect">
            <a:avLst/>
          </a:prstGeom>
          <a:noFill/>
        </p:spPr>
        <p:txBody>
          <a:bodyPr wrap="square">
            <a:spAutoFit/>
          </a:bodyPr>
          <a:lstStyle/>
          <a:p>
            <a:pPr algn="l"/>
            <a:r>
              <a:rPr sz="1000" b="0" i="0">
                <a:solidFill>
                  <a:srgbClr val="ECF0F1"/>
                </a:solidFill>
              </a:rPr>
              <a:t>▸  Streamlit 1.35+</a:t>
            </a:r>
          </a:p>
        </p:txBody>
      </p:sp>
      <p:sp>
        <p:nvSpPr>
          <p:cNvPr id="11" name="TextBox 10"/>
          <p:cNvSpPr txBox="1"/>
          <p:nvPr/>
        </p:nvSpPr>
        <p:spPr>
          <a:xfrm>
            <a:off x="384048" y="2011679"/>
            <a:ext cx="2523744" cy="347472"/>
          </a:xfrm>
          <a:prstGeom prst="rect">
            <a:avLst/>
          </a:prstGeom>
          <a:noFill/>
        </p:spPr>
        <p:txBody>
          <a:bodyPr wrap="square">
            <a:spAutoFit/>
          </a:bodyPr>
          <a:lstStyle/>
          <a:p>
            <a:pPr algn="l"/>
            <a:r>
              <a:rPr sz="1000" b="0" i="0">
                <a:solidFill>
                  <a:srgbClr val="ECF0F1"/>
                </a:solidFill>
              </a:rPr>
              <a:t>▸  Plotly 6.x (charts)</a:t>
            </a:r>
          </a:p>
        </p:txBody>
      </p:sp>
      <p:sp>
        <p:nvSpPr>
          <p:cNvPr id="12" name="TextBox 11"/>
          <p:cNvSpPr txBox="1"/>
          <p:nvPr/>
        </p:nvSpPr>
        <p:spPr>
          <a:xfrm>
            <a:off x="384048" y="2359151"/>
            <a:ext cx="2523744" cy="347472"/>
          </a:xfrm>
          <a:prstGeom prst="rect">
            <a:avLst/>
          </a:prstGeom>
          <a:noFill/>
        </p:spPr>
        <p:txBody>
          <a:bodyPr wrap="square">
            <a:spAutoFit/>
          </a:bodyPr>
          <a:lstStyle/>
          <a:p>
            <a:pPr algn="l"/>
            <a:r>
              <a:rPr sz="1000" b="0" i="0">
                <a:solidFill>
                  <a:srgbClr val="ECF0F1"/>
                </a:solidFill>
              </a:rPr>
              <a:t>▸  Pandas 2.x (tables)</a:t>
            </a:r>
          </a:p>
        </p:txBody>
      </p:sp>
      <p:sp>
        <p:nvSpPr>
          <p:cNvPr id="13" name="TextBox 12"/>
          <p:cNvSpPr txBox="1"/>
          <p:nvPr/>
        </p:nvSpPr>
        <p:spPr>
          <a:xfrm>
            <a:off x="384048" y="2706623"/>
            <a:ext cx="2523744" cy="347472"/>
          </a:xfrm>
          <a:prstGeom prst="rect">
            <a:avLst/>
          </a:prstGeom>
          <a:noFill/>
        </p:spPr>
        <p:txBody>
          <a:bodyPr wrap="square">
            <a:spAutoFit/>
          </a:bodyPr>
          <a:lstStyle/>
          <a:p>
            <a:pPr algn="l"/>
            <a:r>
              <a:rPr sz="1000" b="0" i="0">
                <a:solidFill>
                  <a:srgbClr val="ECF0F1"/>
                </a:solidFill>
              </a:rPr>
              <a:t>▸  Custom CSS styling</a:t>
            </a:r>
          </a:p>
        </p:txBody>
      </p:sp>
      <p:sp>
        <p:nvSpPr>
          <p:cNvPr id="14" name="TextBox 13"/>
          <p:cNvSpPr txBox="1"/>
          <p:nvPr/>
        </p:nvSpPr>
        <p:spPr>
          <a:xfrm>
            <a:off x="384048" y="3054095"/>
            <a:ext cx="2523744" cy="347472"/>
          </a:xfrm>
          <a:prstGeom prst="rect">
            <a:avLst/>
          </a:prstGeom>
          <a:noFill/>
        </p:spPr>
        <p:txBody>
          <a:bodyPr wrap="square">
            <a:spAutoFit/>
          </a:bodyPr>
          <a:lstStyle/>
          <a:p>
            <a:pPr algn="l"/>
            <a:r>
              <a:rPr sz="1000" b="0" i="0">
                <a:solidFill>
                  <a:srgbClr val="ECF0F1"/>
                </a:solidFill>
              </a:rPr>
              <a:t>▸  Plotly Express</a:t>
            </a:r>
          </a:p>
        </p:txBody>
      </p:sp>
      <p:sp>
        <p:nvSpPr>
          <p:cNvPr id="15" name="TextBox 14"/>
          <p:cNvSpPr txBox="1"/>
          <p:nvPr/>
        </p:nvSpPr>
        <p:spPr>
          <a:xfrm>
            <a:off x="384048" y="3401567"/>
            <a:ext cx="2523744" cy="347472"/>
          </a:xfrm>
          <a:prstGeom prst="rect">
            <a:avLst/>
          </a:prstGeom>
          <a:noFill/>
        </p:spPr>
        <p:txBody>
          <a:bodyPr wrap="square">
            <a:spAutoFit/>
          </a:bodyPr>
          <a:lstStyle/>
          <a:p>
            <a:pPr algn="l"/>
            <a:r>
              <a:rPr sz="1000" b="0" i="0">
                <a:solidFill>
                  <a:srgbClr val="ECF0F1"/>
                </a:solidFill>
              </a:rPr>
              <a:t>▸  Plotly Graph Objects</a:t>
            </a:r>
          </a:p>
        </p:txBody>
      </p:sp>
      <p:sp>
        <p:nvSpPr>
          <p:cNvPr id="16" name="Rectangle 15"/>
          <p:cNvSpPr/>
          <p:nvPr/>
        </p:nvSpPr>
        <p:spPr>
          <a:xfrm>
            <a:off x="3255263" y="1097280"/>
            <a:ext cx="2743200" cy="53949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55263" y="1097280"/>
            <a:ext cx="2743200" cy="502920"/>
          </a:xfrm>
          <a:prstGeom prst="rect">
            <a:avLst/>
          </a:prstGeom>
          <a:solidFill>
            <a:srgbClr val="842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64991" y="1152144"/>
            <a:ext cx="2523744" cy="411480"/>
          </a:xfrm>
          <a:prstGeom prst="rect">
            <a:avLst/>
          </a:prstGeom>
          <a:noFill/>
        </p:spPr>
        <p:txBody>
          <a:bodyPr wrap="square">
            <a:spAutoFit/>
          </a:bodyPr>
          <a:lstStyle/>
          <a:p>
            <a:pPr algn="l"/>
            <a:r>
              <a:rPr sz="1200" b="1" i="0">
                <a:solidFill>
                  <a:srgbClr val="FFFFFF"/>
                </a:solidFill>
              </a:rPr>
              <a:t>🤖  AI / LLM</a:t>
            </a:r>
          </a:p>
        </p:txBody>
      </p:sp>
      <p:sp>
        <p:nvSpPr>
          <p:cNvPr id="19" name="TextBox 18"/>
          <p:cNvSpPr txBox="1"/>
          <p:nvPr/>
        </p:nvSpPr>
        <p:spPr>
          <a:xfrm>
            <a:off x="3364991" y="1664207"/>
            <a:ext cx="2523744" cy="347472"/>
          </a:xfrm>
          <a:prstGeom prst="rect">
            <a:avLst/>
          </a:prstGeom>
          <a:noFill/>
        </p:spPr>
        <p:txBody>
          <a:bodyPr wrap="square">
            <a:spAutoFit/>
          </a:bodyPr>
          <a:lstStyle/>
          <a:p>
            <a:pPr algn="l"/>
            <a:r>
              <a:rPr sz="1000" b="0" i="0">
                <a:solidFill>
                  <a:srgbClr val="ECF0F1"/>
                </a:solidFill>
              </a:rPr>
              <a:t>▸  Groq Python SDK 1.4</a:t>
            </a:r>
          </a:p>
        </p:txBody>
      </p:sp>
      <p:sp>
        <p:nvSpPr>
          <p:cNvPr id="20" name="TextBox 19"/>
          <p:cNvSpPr txBox="1"/>
          <p:nvPr/>
        </p:nvSpPr>
        <p:spPr>
          <a:xfrm>
            <a:off x="3364991" y="2011679"/>
            <a:ext cx="2523744" cy="347472"/>
          </a:xfrm>
          <a:prstGeom prst="rect">
            <a:avLst/>
          </a:prstGeom>
          <a:noFill/>
        </p:spPr>
        <p:txBody>
          <a:bodyPr wrap="square">
            <a:spAutoFit/>
          </a:bodyPr>
          <a:lstStyle/>
          <a:p>
            <a:pPr algn="l"/>
            <a:r>
              <a:rPr sz="1000" b="0" i="0">
                <a:solidFill>
                  <a:srgbClr val="ECF0F1"/>
                </a:solidFill>
              </a:rPr>
              <a:t>▸  llama-3.3-70b-versatile</a:t>
            </a:r>
          </a:p>
        </p:txBody>
      </p:sp>
      <p:sp>
        <p:nvSpPr>
          <p:cNvPr id="21" name="TextBox 20"/>
          <p:cNvSpPr txBox="1"/>
          <p:nvPr/>
        </p:nvSpPr>
        <p:spPr>
          <a:xfrm>
            <a:off x="3364991" y="2359151"/>
            <a:ext cx="2523744" cy="347472"/>
          </a:xfrm>
          <a:prstGeom prst="rect">
            <a:avLst/>
          </a:prstGeom>
          <a:noFill/>
        </p:spPr>
        <p:txBody>
          <a:bodyPr wrap="square">
            <a:spAutoFit/>
          </a:bodyPr>
          <a:lstStyle/>
          <a:p>
            <a:pPr algn="l"/>
            <a:r>
              <a:rPr sz="1000" b="0" i="0">
                <a:solidFill>
                  <a:srgbClr val="ECF0F1"/>
                </a:solidFill>
              </a:rPr>
              <a:t>▸  gemma2-9b-it (fallback)</a:t>
            </a:r>
          </a:p>
        </p:txBody>
      </p:sp>
      <p:sp>
        <p:nvSpPr>
          <p:cNvPr id="22" name="TextBox 21"/>
          <p:cNvSpPr txBox="1"/>
          <p:nvPr/>
        </p:nvSpPr>
        <p:spPr>
          <a:xfrm>
            <a:off x="3364991" y="2706623"/>
            <a:ext cx="2523744" cy="347472"/>
          </a:xfrm>
          <a:prstGeom prst="rect">
            <a:avLst/>
          </a:prstGeom>
          <a:noFill/>
        </p:spPr>
        <p:txBody>
          <a:bodyPr wrap="square">
            <a:spAutoFit/>
          </a:bodyPr>
          <a:lstStyle/>
          <a:p>
            <a:pPr algn="l"/>
            <a:r>
              <a:rPr sz="1000" b="0" i="0">
                <a:solidFill>
                  <a:srgbClr val="ECF0F1"/>
                </a:solidFill>
              </a:rPr>
              <a:t>▸  llama-3.1-8b-instant</a:t>
            </a:r>
          </a:p>
        </p:txBody>
      </p:sp>
      <p:sp>
        <p:nvSpPr>
          <p:cNvPr id="23" name="TextBox 22"/>
          <p:cNvSpPr txBox="1"/>
          <p:nvPr/>
        </p:nvSpPr>
        <p:spPr>
          <a:xfrm>
            <a:off x="3364991" y="3054095"/>
            <a:ext cx="2523744" cy="347472"/>
          </a:xfrm>
          <a:prstGeom prst="rect">
            <a:avLst/>
          </a:prstGeom>
          <a:noFill/>
        </p:spPr>
        <p:txBody>
          <a:bodyPr wrap="square">
            <a:spAutoFit/>
          </a:bodyPr>
          <a:lstStyle/>
          <a:p>
            <a:pPr algn="l"/>
            <a:r>
              <a:rPr sz="1000" b="0" i="0">
                <a:solidFill>
                  <a:srgbClr val="ECF0F1"/>
                </a:solidFill>
              </a:rPr>
              <a:t>▸  ReAct framework</a:t>
            </a:r>
          </a:p>
        </p:txBody>
      </p:sp>
      <p:sp>
        <p:nvSpPr>
          <p:cNvPr id="24" name="TextBox 23"/>
          <p:cNvSpPr txBox="1"/>
          <p:nvPr/>
        </p:nvSpPr>
        <p:spPr>
          <a:xfrm>
            <a:off x="3364991" y="3401567"/>
            <a:ext cx="2523744" cy="347472"/>
          </a:xfrm>
          <a:prstGeom prst="rect">
            <a:avLst/>
          </a:prstGeom>
          <a:noFill/>
        </p:spPr>
        <p:txBody>
          <a:bodyPr wrap="square">
            <a:spAutoFit/>
          </a:bodyPr>
          <a:lstStyle/>
          <a:p>
            <a:pPr algn="l"/>
            <a:r>
              <a:rPr sz="1000" b="0" i="0">
                <a:solidFill>
                  <a:srgbClr val="ECF0F1"/>
                </a:solidFill>
              </a:rPr>
              <a:t>▸  Prompt engineering</a:t>
            </a:r>
          </a:p>
        </p:txBody>
      </p:sp>
      <p:sp>
        <p:nvSpPr>
          <p:cNvPr id="25" name="Rectangle 24"/>
          <p:cNvSpPr/>
          <p:nvPr/>
        </p:nvSpPr>
        <p:spPr>
          <a:xfrm>
            <a:off x="6236207" y="1097280"/>
            <a:ext cx="2743200" cy="53949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6207" y="1097280"/>
            <a:ext cx="2743200"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45936" y="1152144"/>
            <a:ext cx="2523744" cy="411480"/>
          </a:xfrm>
          <a:prstGeom prst="rect">
            <a:avLst/>
          </a:prstGeom>
          <a:noFill/>
        </p:spPr>
        <p:txBody>
          <a:bodyPr wrap="square">
            <a:spAutoFit/>
          </a:bodyPr>
          <a:lstStyle/>
          <a:p>
            <a:pPr algn="l"/>
            <a:r>
              <a:rPr sz="1200" b="1" i="0">
                <a:solidFill>
                  <a:srgbClr val="FFFFFF"/>
                </a:solidFill>
              </a:rPr>
              <a:t>⚙️  Backend</a:t>
            </a:r>
          </a:p>
        </p:txBody>
      </p:sp>
      <p:sp>
        <p:nvSpPr>
          <p:cNvPr id="28" name="TextBox 27"/>
          <p:cNvSpPr txBox="1"/>
          <p:nvPr/>
        </p:nvSpPr>
        <p:spPr>
          <a:xfrm>
            <a:off x="6345936" y="1664207"/>
            <a:ext cx="2523744" cy="347472"/>
          </a:xfrm>
          <a:prstGeom prst="rect">
            <a:avLst/>
          </a:prstGeom>
          <a:noFill/>
        </p:spPr>
        <p:txBody>
          <a:bodyPr wrap="square">
            <a:spAutoFit/>
          </a:bodyPr>
          <a:lstStyle/>
          <a:p>
            <a:pPr algn="l"/>
            <a:r>
              <a:rPr sz="1000" b="0" i="0">
                <a:solidFill>
                  <a:srgbClr val="ECF0F1"/>
                </a:solidFill>
              </a:rPr>
              <a:t>▸  Python 3.12 / 3.13</a:t>
            </a:r>
          </a:p>
        </p:txBody>
      </p:sp>
      <p:sp>
        <p:nvSpPr>
          <p:cNvPr id="29" name="TextBox 28"/>
          <p:cNvSpPr txBox="1"/>
          <p:nvPr/>
        </p:nvSpPr>
        <p:spPr>
          <a:xfrm>
            <a:off x="6345936" y="2011679"/>
            <a:ext cx="2523744" cy="347472"/>
          </a:xfrm>
          <a:prstGeom prst="rect">
            <a:avLst/>
          </a:prstGeom>
          <a:noFill/>
        </p:spPr>
        <p:txBody>
          <a:bodyPr wrap="square">
            <a:spAutoFit/>
          </a:bodyPr>
          <a:lstStyle/>
          <a:p>
            <a:pPr algn="l"/>
            <a:r>
              <a:rPr sz="1000" b="0" i="0">
                <a:solidFill>
                  <a:srgbClr val="ECF0F1"/>
                </a:solidFill>
              </a:rPr>
              <a:t>▸  Docker SDK 7.x</a:t>
            </a:r>
          </a:p>
        </p:txBody>
      </p:sp>
      <p:sp>
        <p:nvSpPr>
          <p:cNvPr id="30" name="TextBox 29"/>
          <p:cNvSpPr txBox="1"/>
          <p:nvPr/>
        </p:nvSpPr>
        <p:spPr>
          <a:xfrm>
            <a:off x="6345936" y="2359151"/>
            <a:ext cx="2523744" cy="347472"/>
          </a:xfrm>
          <a:prstGeom prst="rect">
            <a:avLst/>
          </a:prstGeom>
          <a:noFill/>
        </p:spPr>
        <p:txBody>
          <a:bodyPr wrap="square">
            <a:spAutoFit/>
          </a:bodyPr>
          <a:lstStyle/>
          <a:p>
            <a:pPr algn="l"/>
            <a:r>
              <a:rPr sz="1000" b="0" i="0">
                <a:solidFill>
                  <a:srgbClr val="ECF0F1"/>
                </a:solidFill>
              </a:rPr>
              <a:t>▸  SQLite3 (built-in)</a:t>
            </a:r>
          </a:p>
        </p:txBody>
      </p:sp>
      <p:sp>
        <p:nvSpPr>
          <p:cNvPr id="31" name="TextBox 30"/>
          <p:cNvSpPr txBox="1"/>
          <p:nvPr/>
        </p:nvSpPr>
        <p:spPr>
          <a:xfrm>
            <a:off x="6345936" y="2706623"/>
            <a:ext cx="2523744" cy="347472"/>
          </a:xfrm>
          <a:prstGeom prst="rect">
            <a:avLst/>
          </a:prstGeom>
          <a:noFill/>
        </p:spPr>
        <p:txBody>
          <a:bodyPr wrap="square">
            <a:spAutoFit/>
          </a:bodyPr>
          <a:lstStyle/>
          <a:p>
            <a:pPr algn="l"/>
            <a:r>
              <a:rPr sz="1000" b="0" i="0">
                <a:solidFill>
                  <a:srgbClr val="ECF0F1"/>
                </a:solidFill>
              </a:rPr>
              <a:t>▸  Requests 2.31+</a:t>
            </a:r>
          </a:p>
        </p:txBody>
      </p:sp>
      <p:sp>
        <p:nvSpPr>
          <p:cNvPr id="32" name="TextBox 31"/>
          <p:cNvSpPr txBox="1"/>
          <p:nvPr/>
        </p:nvSpPr>
        <p:spPr>
          <a:xfrm>
            <a:off x="6345936" y="3054095"/>
            <a:ext cx="2523744" cy="347472"/>
          </a:xfrm>
          <a:prstGeom prst="rect">
            <a:avLst/>
          </a:prstGeom>
          <a:noFill/>
        </p:spPr>
        <p:txBody>
          <a:bodyPr wrap="square">
            <a:spAutoFit/>
          </a:bodyPr>
          <a:lstStyle/>
          <a:p>
            <a:pPr algn="l"/>
            <a:r>
              <a:rPr sz="1000" b="0" i="0">
                <a:solidFill>
                  <a:srgbClr val="ECF0F1"/>
                </a:solidFill>
              </a:rPr>
              <a:t>▸  JSON / datetime</a:t>
            </a:r>
          </a:p>
        </p:txBody>
      </p:sp>
      <p:sp>
        <p:nvSpPr>
          <p:cNvPr id="33" name="TextBox 32"/>
          <p:cNvSpPr txBox="1"/>
          <p:nvPr/>
        </p:nvSpPr>
        <p:spPr>
          <a:xfrm>
            <a:off x="6345936" y="3401567"/>
            <a:ext cx="2523744" cy="347472"/>
          </a:xfrm>
          <a:prstGeom prst="rect">
            <a:avLst/>
          </a:prstGeom>
          <a:noFill/>
        </p:spPr>
        <p:txBody>
          <a:bodyPr wrap="square">
            <a:spAutoFit/>
          </a:bodyPr>
          <a:lstStyle/>
          <a:p>
            <a:pPr algn="l"/>
            <a:r>
              <a:rPr sz="1000" b="0" i="0">
                <a:solidFill>
                  <a:srgbClr val="ECF0F1"/>
                </a:solidFill>
              </a:rPr>
              <a:t>▸  OS / logging modules</a:t>
            </a:r>
          </a:p>
        </p:txBody>
      </p:sp>
      <p:sp>
        <p:nvSpPr>
          <p:cNvPr id="34" name="Rectangle 33"/>
          <p:cNvSpPr/>
          <p:nvPr/>
        </p:nvSpPr>
        <p:spPr>
          <a:xfrm>
            <a:off x="9217151" y="1097280"/>
            <a:ext cx="2743200" cy="53949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7151" y="1097280"/>
            <a:ext cx="2743200" cy="502920"/>
          </a:xfrm>
          <a:prstGeom prst="rect">
            <a:avLst/>
          </a:prstGeom>
          <a:solidFill>
            <a:srgbClr val="236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6879" y="1152144"/>
            <a:ext cx="2523744" cy="411480"/>
          </a:xfrm>
          <a:prstGeom prst="rect">
            <a:avLst/>
          </a:prstGeom>
          <a:noFill/>
        </p:spPr>
        <p:txBody>
          <a:bodyPr wrap="square">
            <a:spAutoFit/>
          </a:bodyPr>
          <a:lstStyle/>
          <a:p>
            <a:pPr algn="l"/>
            <a:r>
              <a:rPr sz="1200" b="1" i="0">
                <a:solidFill>
                  <a:srgbClr val="FFFFFF"/>
                </a:solidFill>
              </a:rPr>
              <a:t>🚀  DevOps</a:t>
            </a:r>
          </a:p>
        </p:txBody>
      </p:sp>
      <p:sp>
        <p:nvSpPr>
          <p:cNvPr id="37" name="TextBox 36"/>
          <p:cNvSpPr txBox="1"/>
          <p:nvPr/>
        </p:nvSpPr>
        <p:spPr>
          <a:xfrm>
            <a:off x="9326879" y="1664207"/>
            <a:ext cx="2523744" cy="347472"/>
          </a:xfrm>
          <a:prstGeom prst="rect">
            <a:avLst/>
          </a:prstGeom>
          <a:noFill/>
        </p:spPr>
        <p:txBody>
          <a:bodyPr wrap="square">
            <a:spAutoFit/>
          </a:bodyPr>
          <a:lstStyle/>
          <a:p>
            <a:pPr algn="l"/>
            <a:r>
              <a:rPr sz="1000" b="0" i="0">
                <a:solidFill>
                  <a:srgbClr val="ECF0F1"/>
                </a:solidFill>
              </a:rPr>
              <a:t>▸  Docker Engine 27+</a:t>
            </a:r>
          </a:p>
        </p:txBody>
      </p:sp>
      <p:sp>
        <p:nvSpPr>
          <p:cNvPr id="38" name="TextBox 37"/>
          <p:cNvSpPr txBox="1"/>
          <p:nvPr/>
        </p:nvSpPr>
        <p:spPr>
          <a:xfrm>
            <a:off x="9326879" y="2011679"/>
            <a:ext cx="2523744" cy="347472"/>
          </a:xfrm>
          <a:prstGeom prst="rect">
            <a:avLst/>
          </a:prstGeom>
          <a:noFill/>
        </p:spPr>
        <p:txBody>
          <a:bodyPr wrap="square">
            <a:spAutoFit/>
          </a:bodyPr>
          <a:lstStyle/>
          <a:p>
            <a:pPr algn="l"/>
            <a:r>
              <a:rPr sz="1000" b="0" i="0">
                <a:solidFill>
                  <a:srgbClr val="ECF0F1"/>
                </a:solidFill>
              </a:rPr>
              <a:t>▸  Docker Compose 3.8</a:t>
            </a:r>
          </a:p>
        </p:txBody>
      </p:sp>
      <p:sp>
        <p:nvSpPr>
          <p:cNvPr id="39" name="TextBox 38"/>
          <p:cNvSpPr txBox="1"/>
          <p:nvPr/>
        </p:nvSpPr>
        <p:spPr>
          <a:xfrm>
            <a:off x="9326879" y="2359151"/>
            <a:ext cx="2523744" cy="347472"/>
          </a:xfrm>
          <a:prstGeom prst="rect">
            <a:avLst/>
          </a:prstGeom>
          <a:noFill/>
        </p:spPr>
        <p:txBody>
          <a:bodyPr wrap="square">
            <a:spAutoFit/>
          </a:bodyPr>
          <a:lstStyle/>
          <a:p>
            <a:pPr algn="l"/>
            <a:r>
              <a:rPr sz="1000" b="0" i="0">
                <a:solidFill>
                  <a:srgbClr val="ECF0F1"/>
                </a:solidFill>
              </a:rPr>
              <a:t>▸  Dockerfile (multi-stage)</a:t>
            </a:r>
          </a:p>
        </p:txBody>
      </p:sp>
      <p:sp>
        <p:nvSpPr>
          <p:cNvPr id="40" name="TextBox 39"/>
          <p:cNvSpPr txBox="1"/>
          <p:nvPr/>
        </p:nvSpPr>
        <p:spPr>
          <a:xfrm>
            <a:off x="9326879" y="2706623"/>
            <a:ext cx="2523744" cy="347472"/>
          </a:xfrm>
          <a:prstGeom prst="rect">
            <a:avLst/>
          </a:prstGeom>
          <a:noFill/>
        </p:spPr>
        <p:txBody>
          <a:bodyPr wrap="square">
            <a:spAutoFit/>
          </a:bodyPr>
          <a:lstStyle/>
          <a:p>
            <a:pPr algn="l"/>
            <a:r>
              <a:rPr sz="1000" b="0" i="0">
                <a:solidFill>
                  <a:srgbClr val="ECF0F1"/>
                </a:solidFill>
              </a:rPr>
              <a:t>▸  Health checks</a:t>
            </a:r>
          </a:p>
        </p:txBody>
      </p:sp>
      <p:sp>
        <p:nvSpPr>
          <p:cNvPr id="41" name="TextBox 40"/>
          <p:cNvSpPr txBox="1"/>
          <p:nvPr/>
        </p:nvSpPr>
        <p:spPr>
          <a:xfrm>
            <a:off x="9326879" y="3054095"/>
            <a:ext cx="2523744" cy="347472"/>
          </a:xfrm>
          <a:prstGeom prst="rect">
            <a:avLst/>
          </a:prstGeom>
          <a:noFill/>
        </p:spPr>
        <p:txBody>
          <a:bodyPr wrap="square">
            <a:spAutoFit/>
          </a:bodyPr>
          <a:lstStyle/>
          <a:p>
            <a:pPr algn="l"/>
            <a:r>
              <a:rPr sz="1000" b="0" i="0">
                <a:solidFill>
                  <a:srgbClr val="ECF0F1"/>
                </a:solidFill>
              </a:rPr>
              <a:t>▸  Volume mounts</a:t>
            </a:r>
          </a:p>
        </p:txBody>
      </p:sp>
      <p:sp>
        <p:nvSpPr>
          <p:cNvPr id="42" name="TextBox 41"/>
          <p:cNvSpPr txBox="1"/>
          <p:nvPr/>
        </p:nvSpPr>
        <p:spPr>
          <a:xfrm>
            <a:off x="9326879" y="3401567"/>
            <a:ext cx="2523744" cy="347472"/>
          </a:xfrm>
          <a:prstGeom prst="rect">
            <a:avLst/>
          </a:prstGeom>
          <a:noFill/>
        </p:spPr>
        <p:txBody>
          <a:bodyPr wrap="square">
            <a:spAutoFit/>
          </a:bodyPr>
          <a:lstStyle/>
          <a:p>
            <a:pPr algn="l"/>
            <a:r>
              <a:rPr sz="1000" b="0" i="0">
                <a:solidFill>
                  <a:srgbClr val="ECF0F1"/>
                </a:solidFill>
              </a:rPr>
              <a:t>▸  Bridge networking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Groq AI Integration</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How the LLM powers natural language understanding</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539496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70432"/>
            <a:ext cx="5120640" cy="384048"/>
          </a:xfrm>
          <a:prstGeom prst="rect">
            <a:avLst/>
          </a:prstGeom>
          <a:noFill/>
        </p:spPr>
        <p:txBody>
          <a:bodyPr wrap="square">
            <a:spAutoFit/>
          </a:bodyPr>
          <a:lstStyle/>
          <a:p>
            <a:pPr algn="l"/>
            <a:r>
              <a:rPr sz="1400" b="1" i="0">
                <a:solidFill>
                  <a:srgbClr val="27AE60"/>
                </a:solidFill>
              </a:rPr>
              <a:t>🤖  Why Groq?</a:t>
            </a:r>
          </a:p>
        </p:txBody>
      </p:sp>
      <p:sp>
        <p:nvSpPr>
          <p:cNvPr id="9" name="TextBox 8"/>
          <p:cNvSpPr txBox="1"/>
          <p:nvPr/>
        </p:nvSpPr>
        <p:spPr>
          <a:xfrm>
            <a:off x="457200" y="1627632"/>
            <a:ext cx="5120640" cy="338328"/>
          </a:xfrm>
          <a:prstGeom prst="rect">
            <a:avLst/>
          </a:prstGeom>
          <a:noFill/>
        </p:spPr>
        <p:txBody>
          <a:bodyPr wrap="square">
            <a:spAutoFit/>
          </a:bodyPr>
          <a:lstStyle/>
          <a:p>
            <a:pPr algn="l"/>
            <a:r>
              <a:rPr sz="1050" b="0" i="0">
                <a:solidFill>
                  <a:srgbClr val="ECF0F1"/>
                </a:solidFill>
              </a:rPr>
              <a:t>▸  Extremely fast inference (&lt; 1 second)</a:t>
            </a:r>
          </a:p>
        </p:txBody>
      </p:sp>
      <p:sp>
        <p:nvSpPr>
          <p:cNvPr id="10" name="TextBox 9"/>
          <p:cNvSpPr txBox="1"/>
          <p:nvPr/>
        </p:nvSpPr>
        <p:spPr>
          <a:xfrm>
            <a:off x="457200" y="1965960"/>
            <a:ext cx="5120640" cy="338328"/>
          </a:xfrm>
          <a:prstGeom prst="rect">
            <a:avLst/>
          </a:prstGeom>
          <a:noFill/>
        </p:spPr>
        <p:txBody>
          <a:bodyPr wrap="square">
            <a:spAutoFit/>
          </a:bodyPr>
          <a:lstStyle/>
          <a:p>
            <a:pPr algn="l"/>
            <a:r>
              <a:rPr sz="1050" b="0" i="0">
                <a:solidFill>
                  <a:srgbClr val="ECF0F1"/>
                </a:solidFill>
              </a:rPr>
              <a:t>▸  Free tier available for development</a:t>
            </a:r>
          </a:p>
        </p:txBody>
      </p:sp>
      <p:sp>
        <p:nvSpPr>
          <p:cNvPr id="11" name="TextBox 10"/>
          <p:cNvSpPr txBox="1"/>
          <p:nvPr/>
        </p:nvSpPr>
        <p:spPr>
          <a:xfrm>
            <a:off x="457200" y="2304288"/>
            <a:ext cx="5120640" cy="338328"/>
          </a:xfrm>
          <a:prstGeom prst="rect">
            <a:avLst/>
          </a:prstGeom>
          <a:noFill/>
        </p:spPr>
        <p:txBody>
          <a:bodyPr wrap="square">
            <a:spAutoFit/>
          </a:bodyPr>
          <a:lstStyle/>
          <a:p>
            <a:pPr algn="l"/>
            <a:r>
              <a:rPr sz="1050" b="0" i="0">
                <a:solidFill>
                  <a:srgbClr val="ECF0F1"/>
                </a:solidFill>
              </a:rPr>
              <a:t>▸  Multiple powerful open-source models</a:t>
            </a:r>
          </a:p>
        </p:txBody>
      </p:sp>
      <p:sp>
        <p:nvSpPr>
          <p:cNvPr id="12" name="TextBox 11"/>
          <p:cNvSpPr txBox="1"/>
          <p:nvPr/>
        </p:nvSpPr>
        <p:spPr>
          <a:xfrm>
            <a:off x="457200" y="2642616"/>
            <a:ext cx="5120640" cy="338328"/>
          </a:xfrm>
          <a:prstGeom prst="rect">
            <a:avLst/>
          </a:prstGeom>
          <a:noFill/>
        </p:spPr>
        <p:txBody>
          <a:bodyPr wrap="square">
            <a:spAutoFit/>
          </a:bodyPr>
          <a:lstStyle/>
          <a:p>
            <a:pPr algn="l"/>
            <a:r>
              <a:rPr sz="1050" b="0" i="0">
                <a:solidFill>
                  <a:srgbClr val="ECF0F1"/>
                </a:solidFill>
              </a:rPr>
              <a:t>▸  Simple Python SDK integration</a:t>
            </a:r>
          </a:p>
        </p:txBody>
      </p:sp>
      <p:sp>
        <p:nvSpPr>
          <p:cNvPr id="13" name="TextBox 12"/>
          <p:cNvSpPr txBox="1"/>
          <p:nvPr/>
        </p:nvSpPr>
        <p:spPr>
          <a:xfrm>
            <a:off x="457200" y="2980944"/>
            <a:ext cx="5120640" cy="338328"/>
          </a:xfrm>
          <a:prstGeom prst="rect">
            <a:avLst/>
          </a:prstGeom>
          <a:noFill/>
        </p:spPr>
        <p:txBody>
          <a:bodyPr wrap="square">
            <a:spAutoFit/>
          </a:bodyPr>
          <a:lstStyle/>
          <a:p>
            <a:pPr algn="l"/>
            <a:r>
              <a:rPr sz="1050" b="0" i="0">
                <a:solidFill>
                  <a:srgbClr val="ECF0F1"/>
                </a:solidFill>
              </a:rPr>
              <a:t>▸  llama-3.3-70b: best reasoning quality</a:t>
            </a:r>
          </a:p>
        </p:txBody>
      </p:sp>
      <p:sp>
        <p:nvSpPr>
          <p:cNvPr id="14" name="TextBox 13"/>
          <p:cNvSpPr txBox="1"/>
          <p:nvPr/>
        </p:nvSpPr>
        <p:spPr>
          <a:xfrm>
            <a:off x="457200" y="3319272"/>
            <a:ext cx="5120640" cy="338328"/>
          </a:xfrm>
          <a:prstGeom prst="rect">
            <a:avLst/>
          </a:prstGeom>
          <a:noFill/>
        </p:spPr>
        <p:txBody>
          <a:bodyPr wrap="square">
            <a:spAutoFit/>
          </a:bodyPr>
          <a:lstStyle/>
          <a:p>
            <a:pPr algn="l"/>
            <a:r>
              <a:rPr sz="1050" b="0" i="0">
                <a:solidFill>
                  <a:srgbClr val="ECF0F1"/>
                </a:solidFill>
              </a:rPr>
              <a:t>▸  gemma2-9b: fast &amp; lightweight</a:t>
            </a:r>
          </a:p>
        </p:txBody>
      </p:sp>
      <p:sp>
        <p:nvSpPr>
          <p:cNvPr id="15" name="TextBox 14"/>
          <p:cNvSpPr txBox="1"/>
          <p:nvPr/>
        </p:nvSpPr>
        <p:spPr>
          <a:xfrm>
            <a:off x="457200" y="3657600"/>
            <a:ext cx="5120640" cy="338328"/>
          </a:xfrm>
          <a:prstGeom prst="rect">
            <a:avLst/>
          </a:prstGeom>
          <a:noFill/>
        </p:spPr>
        <p:txBody>
          <a:bodyPr wrap="square">
            <a:spAutoFit/>
          </a:bodyPr>
          <a:lstStyle/>
          <a:p>
            <a:pPr algn="l"/>
            <a:r>
              <a:rPr sz="1050" b="0" i="0">
                <a:solidFill>
                  <a:srgbClr val="ECF0F1"/>
                </a:solidFill>
              </a:rPr>
              <a:t>▸  llama-3.1-8b: ultra-fast responses</a:t>
            </a:r>
          </a:p>
        </p:txBody>
      </p:sp>
      <p:sp>
        <p:nvSpPr>
          <p:cNvPr id="16" name="TextBox 15"/>
          <p:cNvSpPr txBox="1"/>
          <p:nvPr/>
        </p:nvSpPr>
        <p:spPr>
          <a:xfrm>
            <a:off x="457200" y="3995928"/>
            <a:ext cx="5120640" cy="338328"/>
          </a:xfrm>
          <a:prstGeom prst="rect">
            <a:avLst/>
          </a:prstGeom>
          <a:noFill/>
        </p:spPr>
        <p:txBody>
          <a:bodyPr wrap="square">
            <a:spAutoFit/>
          </a:bodyPr>
          <a:lstStyle/>
          <a:p>
            <a:pPr algn="l"/>
            <a:r>
              <a:rPr sz="1050" b="0" i="0">
                <a:solidFill>
                  <a:srgbClr val="ECF0F1"/>
                </a:solidFill>
              </a:rPr>
              <a:t>▸  JSON-structured output support</a:t>
            </a:r>
          </a:p>
        </p:txBody>
      </p:sp>
      <p:sp>
        <p:nvSpPr>
          <p:cNvPr id="17" name="TextBox 16"/>
          <p:cNvSpPr txBox="1"/>
          <p:nvPr/>
        </p:nvSpPr>
        <p:spPr>
          <a:xfrm>
            <a:off x="457200" y="4334256"/>
            <a:ext cx="5120640" cy="338328"/>
          </a:xfrm>
          <a:prstGeom prst="rect">
            <a:avLst/>
          </a:prstGeom>
          <a:noFill/>
        </p:spPr>
        <p:txBody>
          <a:bodyPr wrap="square">
            <a:spAutoFit/>
          </a:bodyPr>
          <a:lstStyle/>
          <a:p>
            <a:pPr algn="l"/>
            <a:r>
              <a:rPr sz="1050" b="0" i="0">
                <a:solidFill>
                  <a:srgbClr val="ECF0F1"/>
                </a:solidFill>
              </a:rPr>
              <a:t>▸  Reliable uptime &amp; API availability</a:t>
            </a:r>
          </a:p>
        </p:txBody>
      </p:sp>
      <p:sp>
        <p:nvSpPr>
          <p:cNvPr id="18" name="TextBox 17"/>
          <p:cNvSpPr txBox="1"/>
          <p:nvPr/>
        </p:nvSpPr>
        <p:spPr>
          <a:xfrm>
            <a:off x="457200" y="4672584"/>
            <a:ext cx="5120640" cy="338328"/>
          </a:xfrm>
          <a:prstGeom prst="rect">
            <a:avLst/>
          </a:prstGeom>
          <a:noFill/>
        </p:spPr>
        <p:txBody>
          <a:bodyPr wrap="square">
            <a:spAutoFit/>
          </a:bodyPr>
          <a:lstStyle/>
          <a:p>
            <a:pPr algn="l"/>
            <a:r>
              <a:rPr sz="1050" b="0" i="0">
                <a:solidFill>
                  <a:srgbClr val="ECF0F1"/>
                </a:solidFill>
              </a:rPr>
              <a:t>▸  No GPU needed on local machine</a:t>
            </a:r>
          </a:p>
        </p:txBody>
      </p:sp>
      <p:sp>
        <p:nvSpPr>
          <p:cNvPr id="19" name="TextBox 18"/>
          <p:cNvSpPr txBox="1"/>
          <p:nvPr/>
        </p:nvSpPr>
        <p:spPr>
          <a:xfrm>
            <a:off x="457200" y="5010912"/>
            <a:ext cx="5120640" cy="338328"/>
          </a:xfrm>
          <a:prstGeom prst="rect">
            <a:avLst/>
          </a:prstGeom>
          <a:noFill/>
        </p:spPr>
        <p:txBody>
          <a:bodyPr wrap="square">
            <a:spAutoFit/>
          </a:bodyPr>
          <a:lstStyle/>
          <a:p>
            <a:pPr algn="l"/>
            <a:r>
              <a:rPr sz="1050" b="0" i="0">
                <a:solidFill>
                  <a:srgbClr val="ECF0F1"/>
                </a:solidFill>
              </a:rPr>
              <a:t>▸  Supports function/tool calling</a:t>
            </a:r>
          </a:p>
        </p:txBody>
      </p:sp>
      <p:sp>
        <p:nvSpPr>
          <p:cNvPr id="20" name="TextBox 19"/>
          <p:cNvSpPr txBox="1"/>
          <p:nvPr/>
        </p:nvSpPr>
        <p:spPr>
          <a:xfrm>
            <a:off x="457200" y="5349240"/>
            <a:ext cx="5120640" cy="338328"/>
          </a:xfrm>
          <a:prstGeom prst="rect">
            <a:avLst/>
          </a:prstGeom>
          <a:noFill/>
        </p:spPr>
        <p:txBody>
          <a:bodyPr wrap="square">
            <a:spAutoFit/>
          </a:bodyPr>
          <a:lstStyle/>
          <a:p>
            <a:pPr algn="l"/>
            <a:r>
              <a:rPr sz="1050" b="0" i="0">
                <a:solidFill>
                  <a:srgbClr val="ECF0F1"/>
                </a:solidFill>
              </a:rPr>
              <a:t>▸  Console at console.groq.com/keys</a:t>
            </a:r>
          </a:p>
        </p:txBody>
      </p:sp>
      <p:sp>
        <p:nvSpPr>
          <p:cNvPr id="21" name="Rectangle 20"/>
          <p:cNvSpPr/>
          <p:nvPr/>
        </p:nvSpPr>
        <p:spPr>
          <a:xfrm>
            <a:off x="5943600" y="1097280"/>
            <a:ext cx="594360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0" y="1170432"/>
            <a:ext cx="5577840" cy="384048"/>
          </a:xfrm>
          <a:prstGeom prst="rect">
            <a:avLst/>
          </a:prstGeom>
          <a:noFill/>
        </p:spPr>
        <p:txBody>
          <a:bodyPr wrap="square">
            <a:spAutoFit/>
          </a:bodyPr>
          <a:lstStyle/>
          <a:p>
            <a:pPr algn="l"/>
            <a:r>
              <a:rPr sz="1400" b="1" i="0">
                <a:solidFill>
                  <a:srgbClr val="27AE60"/>
                </a:solidFill>
              </a:rPr>
              <a:t>⚙️  LLM Manager — llm.py</a:t>
            </a:r>
          </a:p>
        </p:txBody>
      </p:sp>
      <p:sp>
        <p:nvSpPr>
          <p:cNvPr id="23" name="TextBox 22"/>
          <p:cNvSpPr txBox="1"/>
          <p:nvPr/>
        </p:nvSpPr>
        <p:spPr>
          <a:xfrm>
            <a:off x="6126480" y="1627632"/>
            <a:ext cx="5577840" cy="292608"/>
          </a:xfrm>
          <a:prstGeom prst="rect">
            <a:avLst/>
          </a:prstGeom>
          <a:noFill/>
        </p:spPr>
        <p:txBody>
          <a:bodyPr wrap="square">
            <a:spAutoFit/>
          </a:bodyPr>
          <a:lstStyle/>
          <a:p>
            <a:pPr algn="l"/>
            <a:r>
              <a:rPr sz="1050" b="0" i="0">
                <a:solidFill>
                  <a:srgbClr val="F39C12"/>
                </a:solidFill>
              </a:rPr>
              <a:t>class LLMManager:</a:t>
            </a:r>
          </a:p>
        </p:txBody>
      </p:sp>
      <p:sp>
        <p:nvSpPr>
          <p:cNvPr id="24" name="TextBox 23"/>
          <p:cNvSpPr txBox="1"/>
          <p:nvPr/>
        </p:nvSpPr>
        <p:spPr>
          <a:xfrm>
            <a:off x="6126480" y="1920240"/>
            <a:ext cx="5577840" cy="292608"/>
          </a:xfrm>
          <a:prstGeom prst="rect">
            <a:avLst/>
          </a:prstGeom>
          <a:noFill/>
        </p:spPr>
        <p:txBody>
          <a:bodyPr wrap="square">
            <a:spAutoFit/>
          </a:bodyPr>
          <a:lstStyle/>
          <a:p>
            <a:pPr algn="l"/>
            <a:r>
              <a:rPr sz="1050" b="0" i="0">
                <a:solidFill>
                  <a:srgbClr val="F39C12"/>
                </a:solidFill>
              </a:rPr>
              <a:t>  __init__(model, api_key)</a:t>
            </a:r>
          </a:p>
        </p:txBody>
      </p:sp>
      <p:sp>
        <p:nvSpPr>
          <p:cNvPr id="25" name="TextBox 24"/>
          <p:cNvSpPr txBox="1"/>
          <p:nvPr/>
        </p:nvSpPr>
        <p:spPr>
          <a:xfrm>
            <a:off x="6126480" y="2212848"/>
            <a:ext cx="5577840" cy="292608"/>
          </a:xfrm>
          <a:prstGeom prst="rect">
            <a:avLst/>
          </a:prstGeom>
          <a:noFill/>
        </p:spPr>
        <p:txBody>
          <a:bodyPr wrap="square">
            <a:spAutoFit/>
          </a:bodyPr>
          <a:lstStyle/>
          <a:p>
            <a:pPr algn="l"/>
            <a:r>
              <a:rPr sz="1050" b="0" i="0">
                <a:solidFill>
                  <a:srgbClr val="F39C12"/>
                </a:solidFill>
              </a:rPr>
              <a:t>  generate(prompt) → str</a:t>
            </a:r>
          </a:p>
        </p:txBody>
      </p:sp>
      <p:sp>
        <p:nvSpPr>
          <p:cNvPr id="26" name="TextBox 25"/>
          <p:cNvSpPr txBox="1"/>
          <p:nvPr/>
        </p:nvSpPr>
        <p:spPr>
          <a:xfrm>
            <a:off x="6126480" y="2505456"/>
            <a:ext cx="5577840" cy="292608"/>
          </a:xfrm>
          <a:prstGeom prst="rect">
            <a:avLst/>
          </a:prstGeom>
          <a:noFill/>
        </p:spPr>
        <p:txBody>
          <a:bodyPr wrap="square">
            <a:spAutoFit/>
          </a:bodyPr>
          <a:lstStyle/>
          <a:p>
            <a:pPr algn="l"/>
            <a:r>
              <a:rPr sz="1050" b="0" i="0">
                <a:solidFill>
                  <a:srgbClr val="F39C12"/>
                </a:solidFill>
              </a:rPr>
              <a:t>  test_connection() → dict</a:t>
            </a:r>
          </a:p>
        </p:txBody>
      </p:sp>
      <p:sp>
        <p:nvSpPr>
          <p:cNvPr id="27" name="TextBox 26"/>
          <p:cNvSpPr txBox="1"/>
          <p:nvPr/>
        </p:nvSpPr>
        <p:spPr>
          <a:xfrm>
            <a:off x="6126480" y="2798063"/>
            <a:ext cx="5577840" cy="292608"/>
          </a:xfrm>
          <a:prstGeom prst="rect">
            <a:avLst/>
          </a:prstGeom>
          <a:noFill/>
        </p:spPr>
        <p:txBody>
          <a:bodyPr wrap="square">
            <a:spAutoFit/>
          </a:bodyPr>
          <a:lstStyle/>
          <a:p>
            <a:pPr algn="l"/>
            <a:r>
              <a:rPr sz="1050" b="0" i="0">
                <a:solidFill>
                  <a:srgbClr val="ECF0F1"/>
                </a:solidFill>
              </a:rPr>
              <a:t/>
            </a:r>
          </a:p>
        </p:txBody>
      </p:sp>
      <p:sp>
        <p:nvSpPr>
          <p:cNvPr id="28" name="TextBox 27"/>
          <p:cNvSpPr txBox="1"/>
          <p:nvPr/>
        </p:nvSpPr>
        <p:spPr>
          <a:xfrm>
            <a:off x="6126480" y="3090671"/>
            <a:ext cx="5577840" cy="292608"/>
          </a:xfrm>
          <a:prstGeom prst="rect">
            <a:avLst/>
          </a:prstGeom>
          <a:noFill/>
        </p:spPr>
        <p:txBody>
          <a:bodyPr wrap="square">
            <a:spAutoFit/>
          </a:bodyPr>
          <a:lstStyle/>
          <a:p>
            <a:pPr algn="l"/>
            <a:r>
              <a:rPr sz="1050" b="0" i="0">
                <a:solidFill>
                  <a:srgbClr val="ECF0F1"/>
                </a:solidFill>
              </a:rPr>
              <a:t>System prompt loaded from:</a:t>
            </a:r>
          </a:p>
        </p:txBody>
      </p:sp>
      <p:sp>
        <p:nvSpPr>
          <p:cNvPr id="29" name="TextBox 28"/>
          <p:cNvSpPr txBox="1"/>
          <p:nvPr/>
        </p:nvSpPr>
        <p:spPr>
          <a:xfrm>
            <a:off x="6126480" y="3383279"/>
            <a:ext cx="5577840" cy="292608"/>
          </a:xfrm>
          <a:prstGeom prst="rect">
            <a:avLst/>
          </a:prstGeom>
          <a:noFill/>
        </p:spPr>
        <p:txBody>
          <a:bodyPr wrap="square">
            <a:spAutoFit/>
          </a:bodyPr>
          <a:lstStyle/>
          <a:p>
            <a:pPr algn="l"/>
            <a:r>
              <a:rPr sz="1050" b="0" i="0">
                <a:solidFill>
                  <a:srgbClr val="ECF0F1"/>
                </a:solidFill>
              </a:rPr>
              <a:t>  prompts/system_prompt.txt</a:t>
            </a:r>
          </a:p>
        </p:txBody>
      </p:sp>
      <p:sp>
        <p:nvSpPr>
          <p:cNvPr id="30" name="TextBox 29"/>
          <p:cNvSpPr txBox="1"/>
          <p:nvPr/>
        </p:nvSpPr>
        <p:spPr>
          <a:xfrm>
            <a:off x="6126480" y="3675887"/>
            <a:ext cx="5577840" cy="292608"/>
          </a:xfrm>
          <a:prstGeom prst="rect">
            <a:avLst/>
          </a:prstGeom>
          <a:noFill/>
        </p:spPr>
        <p:txBody>
          <a:bodyPr wrap="square">
            <a:spAutoFit/>
          </a:bodyPr>
          <a:lstStyle/>
          <a:p>
            <a:pPr algn="l"/>
            <a:r>
              <a:rPr sz="1050" b="0" i="0">
                <a:solidFill>
                  <a:srgbClr val="ECF0F1"/>
                </a:solidFill>
              </a:rPr>
              <a:t/>
            </a:r>
          </a:p>
        </p:txBody>
      </p:sp>
      <p:sp>
        <p:nvSpPr>
          <p:cNvPr id="31" name="TextBox 30"/>
          <p:cNvSpPr txBox="1"/>
          <p:nvPr/>
        </p:nvSpPr>
        <p:spPr>
          <a:xfrm>
            <a:off x="6126480" y="3968496"/>
            <a:ext cx="5577840" cy="292608"/>
          </a:xfrm>
          <a:prstGeom prst="rect">
            <a:avLst/>
          </a:prstGeom>
          <a:noFill/>
        </p:spPr>
        <p:txBody>
          <a:bodyPr wrap="square">
            <a:spAutoFit/>
          </a:bodyPr>
          <a:lstStyle/>
          <a:p>
            <a:pPr algn="l"/>
            <a:r>
              <a:rPr sz="1050" b="0" i="0">
                <a:solidFill>
                  <a:srgbClr val="ECF0F1"/>
                </a:solidFill>
              </a:rPr>
              <a:t>Prompt includes:</a:t>
            </a:r>
          </a:p>
        </p:txBody>
      </p:sp>
      <p:sp>
        <p:nvSpPr>
          <p:cNvPr id="32" name="TextBox 31"/>
          <p:cNvSpPr txBox="1"/>
          <p:nvPr/>
        </p:nvSpPr>
        <p:spPr>
          <a:xfrm>
            <a:off x="6126480" y="4261104"/>
            <a:ext cx="5577840" cy="292608"/>
          </a:xfrm>
          <a:prstGeom prst="rect">
            <a:avLst/>
          </a:prstGeom>
          <a:noFill/>
        </p:spPr>
        <p:txBody>
          <a:bodyPr wrap="square">
            <a:spAutoFit/>
          </a:bodyPr>
          <a:lstStyle/>
          <a:p>
            <a:pPr algn="l"/>
            <a:r>
              <a:rPr sz="1050" b="0" i="0">
                <a:solidFill>
                  <a:srgbClr val="ECF0F1"/>
                </a:solidFill>
              </a:rPr>
              <a:t>  • Available Docker actions</a:t>
            </a:r>
          </a:p>
        </p:txBody>
      </p:sp>
      <p:sp>
        <p:nvSpPr>
          <p:cNvPr id="33" name="TextBox 32"/>
          <p:cNvSpPr txBox="1"/>
          <p:nvPr/>
        </p:nvSpPr>
        <p:spPr>
          <a:xfrm>
            <a:off x="6126480" y="4553712"/>
            <a:ext cx="5577840" cy="292608"/>
          </a:xfrm>
          <a:prstGeom prst="rect">
            <a:avLst/>
          </a:prstGeom>
          <a:noFill/>
        </p:spPr>
        <p:txBody>
          <a:bodyPr wrap="square">
            <a:spAutoFit/>
          </a:bodyPr>
          <a:lstStyle/>
          <a:p>
            <a:pPr algn="l"/>
            <a:r>
              <a:rPr sz="1050" b="0" i="0">
                <a:solidFill>
                  <a:srgbClr val="ECF0F1"/>
                </a:solidFill>
              </a:rPr>
              <a:t>  • Expected JSON output format</a:t>
            </a:r>
          </a:p>
        </p:txBody>
      </p:sp>
      <p:sp>
        <p:nvSpPr>
          <p:cNvPr id="34" name="TextBox 33"/>
          <p:cNvSpPr txBox="1"/>
          <p:nvPr/>
        </p:nvSpPr>
        <p:spPr>
          <a:xfrm>
            <a:off x="6126480" y="4846320"/>
            <a:ext cx="5577840" cy="292608"/>
          </a:xfrm>
          <a:prstGeom prst="rect">
            <a:avLst/>
          </a:prstGeom>
          <a:noFill/>
        </p:spPr>
        <p:txBody>
          <a:bodyPr wrap="square">
            <a:spAutoFit/>
          </a:bodyPr>
          <a:lstStyle/>
          <a:p>
            <a:pPr algn="l"/>
            <a:r>
              <a:rPr sz="1050" b="0" i="0">
                <a:solidFill>
                  <a:srgbClr val="ECF0F1"/>
                </a:solidFill>
              </a:rPr>
              <a:t>  • Container name extraction</a:t>
            </a:r>
          </a:p>
        </p:txBody>
      </p:sp>
      <p:sp>
        <p:nvSpPr>
          <p:cNvPr id="35" name="TextBox 34"/>
          <p:cNvSpPr txBox="1"/>
          <p:nvPr/>
        </p:nvSpPr>
        <p:spPr>
          <a:xfrm>
            <a:off x="6126480" y="5138928"/>
            <a:ext cx="5577840" cy="292608"/>
          </a:xfrm>
          <a:prstGeom prst="rect">
            <a:avLst/>
          </a:prstGeom>
          <a:noFill/>
        </p:spPr>
        <p:txBody>
          <a:bodyPr wrap="square">
            <a:spAutoFit/>
          </a:bodyPr>
          <a:lstStyle/>
          <a:p>
            <a:pPr algn="l"/>
            <a:r>
              <a:rPr sz="1050" b="0" i="0">
                <a:solidFill>
                  <a:srgbClr val="ECF0F1"/>
                </a:solidFill>
              </a:rPr>
              <a:t>  • Error handling instructions</a:t>
            </a:r>
          </a:p>
        </p:txBody>
      </p:sp>
      <p:sp>
        <p:nvSpPr>
          <p:cNvPr id="36" name="TextBox 35"/>
          <p:cNvSpPr txBox="1"/>
          <p:nvPr/>
        </p:nvSpPr>
        <p:spPr>
          <a:xfrm>
            <a:off x="6126480" y="5431536"/>
            <a:ext cx="5577840" cy="292608"/>
          </a:xfrm>
          <a:prstGeom prst="rect">
            <a:avLst/>
          </a:prstGeom>
          <a:noFill/>
        </p:spPr>
        <p:txBody>
          <a:bodyPr wrap="square">
            <a:spAutoFit/>
          </a:bodyPr>
          <a:lstStyle/>
          <a:p>
            <a:pPr algn="l"/>
            <a:r>
              <a:rPr sz="1050" b="0" i="0">
                <a:solidFill>
                  <a:srgbClr val="ECF0F1"/>
                </a:solidFill>
              </a:rPr>
              <a:t/>
            </a:r>
          </a:p>
        </p:txBody>
      </p:sp>
      <p:sp>
        <p:nvSpPr>
          <p:cNvPr id="37" name="TextBox 36"/>
          <p:cNvSpPr txBox="1"/>
          <p:nvPr/>
        </p:nvSpPr>
        <p:spPr>
          <a:xfrm>
            <a:off x="6126480" y="5724144"/>
            <a:ext cx="5577840" cy="292608"/>
          </a:xfrm>
          <a:prstGeom prst="rect">
            <a:avLst/>
          </a:prstGeom>
          <a:noFill/>
        </p:spPr>
        <p:txBody>
          <a:bodyPr wrap="square">
            <a:spAutoFit/>
          </a:bodyPr>
          <a:lstStyle/>
          <a:p>
            <a:pPr algn="l"/>
            <a:r>
              <a:rPr sz="1050" b="0" i="0">
                <a:solidFill>
                  <a:srgbClr val="ECF0F1"/>
                </a:solidFill>
              </a:rPr>
              <a:t>Response parsed as JSON:</a:t>
            </a:r>
          </a:p>
        </p:txBody>
      </p:sp>
      <p:sp>
        <p:nvSpPr>
          <p:cNvPr id="38" name="TextBox 37"/>
          <p:cNvSpPr txBox="1"/>
          <p:nvPr/>
        </p:nvSpPr>
        <p:spPr>
          <a:xfrm>
            <a:off x="6126480" y="6016752"/>
            <a:ext cx="5577840" cy="292608"/>
          </a:xfrm>
          <a:prstGeom prst="rect">
            <a:avLst/>
          </a:prstGeom>
          <a:noFill/>
        </p:spPr>
        <p:txBody>
          <a:bodyPr wrap="square">
            <a:spAutoFit/>
          </a:bodyPr>
          <a:lstStyle/>
          <a:p>
            <a:pPr algn="l"/>
            <a:r>
              <a:rPr sz="1050" b="0" i="0">
                <a:solidFill>
                  <a:srgbClr val="ECF0F1"/>
                </a:solidFill>
              </a:rPr>
              <a:t>  { action, container, params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Database &amp; Logging System</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Persistent storage and audit trail</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356616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356616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52144"/>
            <a:ext cx="3346704" cy="411480"/>
          </a:xfrm>
          <a:prstGeom prst="rect">
            <a:avLst/>
          </a:prstGeom>
          <a:noFill/>
        </p:spPr>
        <p:txBody>
          <a:bodyPr wrap="square">
            <a:spAutoFit/>
          </a:bodyPr>
          <a:lstStyle/>
          <a:p>
            <a:pPr algn="l"/>
            <a:r>
              <a:rPr sz="1200" b="1" i="0">
                <a:solidFill>
                  <a:srgbClr val="FFFFFF"/>
                </a:solidFill>
              </a:rPr>
              <a:t>🗄️  SQLite Database</a:t>
            </a:r>
          </a:p>
        </p:txBody>
      </p:sp>
      <p:sp>
        <p:nvSpPr>
          <p:cNvPr id="10" name="TextBox 9"/>
          <p:cNvSpPr txBox="1"/>
          <p:nvPr/>
        </p:nvSpPr>
        <p:spPr>
          <a:xfrm>
            <a:off x="384048" y="1664207"/>
            <a:ext cx="3346704" cy="347472"/>
          </a:xfrm>
          <a:prstGeom prst="rect">
            <a:avLst/>
          </a:prstGeom>
          <a:noFill/>
        </p:spPr>
        <p:txBody>
          <a:bodyPr wrap="square">
            <a:spAutoFit/>
          </a:bodyPr>
          <a:lstStyle/>
          <a:p>
            <a:pPr algn="l"/>
            <a:r>
              <a:rPr sz="1000" b="0" i="0">
                <a:solidFill>
                  <a:srgbClr val="ECF0F1"/>
                </a:solidFill>
              </a:rPr>
              <a:t>▸  File: data/dashboard.db</a:t>
            </a:r>
          </a:p>
        </p:txBody>
      </p:sp>
      <p:sp>
        <p:nvSpPr>
          <p:cNvPr id="11" name="TextBox 10"/>
          <p:cNvSpPr txBox="1"/>
          <p:nvPr/>
        </p:nvSpPr>
        <p:spPr>
          <a:xfrm>
            <a:off x="384048" y="2011679"/>
            <a:ext cx="3346704" cy="347472"/>
          </a:xfrm>
          <a:prstGeom prst="rect">
            <a:avLst/>
          </a:prstGeom>
          <a:noFill/>
        </p:spPr>
        <p:txBody>
          <a:bodyPr wrap="square">
            <a:spAutoFit/>
          </a:bodyPr>
          <a:lstStyle/>
          <a:p>
            <a:pPr algn="l"/>
            <a:r>
              <a:rPr sz="1000" b="0" i="0">
                <a:solidFill>
                  <a:srgbClr val="ECF0F1"/>
                </a:solidFill>
              </a:rPr>
              <a:t>▸  3 main tables:</a:t>
            </a:r>
          </a:p>
        </p:txBody>
      </p:sp>
      <p:sp>
        <p:nvSpPr>
          <p:cNvPr id="12" name="TextBox 11"/>
          <p:cNvSpPr txBox="1"/>
          <p:nvPr/>
        </p:nvSpPr>
        <p:spPr>
          <a:xfrm>
            <a:off x="384048" y="2359151"/>
            <a:ext cx="3346704" cy="347472"/>
          </a:xfrm>
          <a:prstGeom prst="rect">
            <a:avLst/>
          </a:prstGeom>
          <a:noFill/>
        </p:spPr>
        <p:txBody>
          <a:bodyPr wrap="square">
            <a:spAutoFit/>
          </a:bodyPr>
          <a:lstStyle/>
          <a:p>
            <a:pPr algn="l"/>
            <a:r>
              <a:rPr sz="1000" b="0" i="0">
                <a:solidFill>
                  <a:srgbClr val="ECF0F1"/>
                </a:solidFill>
              </a:rPr>
              <a:t>▸    • prompt_logs</a:t>
            </a:r>
          </a:p>
        </p:txBody>
      </p:sp>
      <p:sp>
        <p:nvSpPr>
          <p:cNvPr id="13" name="TextBox 12"/>
          <p:cNvSpPr txBox="1"/>
          <p:nvPr/>
        </p:nvSpPr>
        <p:spPr>
          <a:xfrm>
            <a:off x="384048" y="2706623"/>
            <a:ext cx="3346704" cy="347472"/>
          </a:xfrm>
          <a:prstGeom prst="rect">
            <a:avLst/>
          </a:prstGeom>
          <a:noFill/>
        </p:spPr>
        <p:txBody>
          <a:bodyPr wrap="square">
            <a:spAutoFit/>
          </a:bodyPr>
          <a:lstStyle/>
          <a:p>
            <a:pPr algn="l"/>
            <a:r>
              <a:rPr sz="1000" b="0" i="0">
                <a:solidFill>
                  <a:srgbClr val="ECF0F1"/>
                </a:solidFill>
              </a:rPr>
              <a:t>▸    • audit_logs</a:t>
            </a:r>
          </a:p>
        </p:txBody>
      </p:sp>
      <p:sp>
        <p:nvSpPr>
          <p:cNvPr id="14" name="TextBox 13"/>
          <p:cNvSpPr txBox="1"/>
          <p:nvPr/>
        </p:nvSpPr>
        <p:spPr>
          <a:xfrm>
            <a:off x="384048" y="3054095"/>
            <a:ext cx="3346704" cy="347472"/>
          </a:xfrm>
          <a:prstGeom prst="rect">
            <a:avLst/>
          </a:prstGeom>
          <a:noFill/>
        </p:spPr>
        <p:txBody>
          <a:bodyPr wrap="square">
            <a:spAutoFit/>
          </a:bodyPr>
          <a:lstStyle/>
          <a:p>
            <a:pPr algn="l"/>
            <a:r>
              <a:rPr sz="1000" b="0" i="0">
                <a:solidFill>
                  <a:srgbClr val="ECF0F1"/>
                </a:solidFill>
              </a:rPr>
              <a:t>▸    • container_history</a:t>
            </a:r>
          </a:p>
        </p:txBody>
      </p:sp>
      <p:sp>
        <p:nvSpPr>
          <p:cNvPr id="15" name="TextBox 14"/>
          <p:cNvSpPr txBox="1"/>
          <p:nvPr/>
        </p:nvSpPr>
        <p:spPr>
          <a:xfrm>
            <a:off x="384048" y="3401567"/>
            <a:ext cx="3346704" cy="347472"/>
          </a:xfrm>
          <a:prstGeom prst="rect">
            <a:avLst/>
          </a:prstGeom>
          <a:noFill/>
        </p:spPr>
        <p:txBody>
          <a:bodyPr wrap="square">
            <a:spAutoFit/>
          </a:bodyPr>
          <a:lstStyle/>
          <a:p>
            <a:pPr algn="l"/>
            <a:r>
              <a:rPr sz="1000" b="0" i="0">
                <a:solidFill>
                  <a:srgbClr val="ECF0F1"/>
                </a:solidFill>
              </a:rPr>
              <a:t>▸  Auto-created on startup</a:t>
            </a:r>
          </a:p>
        </p:txBody>
      </p:sp>
      <p:sp>
        <p:nvSpPr>
          <p:cNvPr id="16" name="TextBox 15"/>
          <p:cNvSpPr txBox="1"/>
          <p:nvPr/>
        </p:nvSpPr>
        <p:spPr>
          <a:xfrm>
            <a:off x="384048" y="3749039"/>
            <a:ext cx="3346704" cy="347472"/>
          </a:xfrm>
          <a:prstGeom prst="rect">
            <a:avLst/>
          </a:prstGeom>
          <a:noFill/>
        </p:spPr>
        <p:txBody>
          <a:bodyPr wrap="square">
            <a:spAutoFit/>
          </a:bodyPr>
          <a:lstStyle/>
          <a:p>
            <a:pPr algn="l"/>
            <a:r>
              <a:rPr sz="1000" b="0" i="0">
                <a:solidFill>
                  <a:srgbClr val="ECF0F1"/>
                </a:solidFill>
              </a:rPr>
              <a:t>▸  No external DB needed</a:t>
            </a:r>
          </a:p>
        </p:txBody>
      </p:sp>
      <p:sp>
        <p:nvSpPr>
          <p:cNvPr id="17" name="TextBox 16"/>
          <p:cNvSpPr txBox="1"/>
          <p:nvPr/>
        </p:nvSpPr>
        <p:spPr>
          <a:xfrm>
            <a:off x="384048" y="4096511"/>
            <a:ext cx="3346704" cy="347472"/>
          </a:xfrm>
          <a:prstGeom prst="rect">
            <a:avLst/>
          </a:prstGeom>
          <a:noFill/>
        </p:spPr>
        <p:txBody>
          <a:bodyPr wrap="square">
            <a:spAutoFit/>
          </a:bodyPr>
          <a:lstStyle/>
          <a:p>
            <a:pPr algn="l"/>
            <a:r>
              <a:rPr sz="1000" b="0" i="0">
                <a:solidFill>
                  <a:srgbClr val="ECF0F1"/>
                </a:solidFill>
              </a:rPr>
              <a:t>▸  Lightweight &amp; portable</a:t>
            </a:r>
          </a:p>
        </p:txBody>
      </p:sp>
      <p:sp>
        <p:nvSpPr>
          <p:cNvPr id="18" name="TextBox 17"/>
          <p:cNvSpPr txBox="1"/>
          <p:nvPr/>
        </p:nvSpPr>
        <p:spPr>
          <a:xfrm>
            <a:off x="384048" y="4443983"/>
            <a:ext cx="3346704" cy="347472"/>
          </a:xfrm>
          <a:prstGeom prst="rect">
            <a:avLst/>
          </a:prstGeom>
          <a:noFill/>
        </p:spPr>
        <p:txBody>
          <a:bodyPr wrap="square">
            <a:spAutoFit/>
          </a:bodyPr>
          <a:lstStyle/>
          <a:p>
            <a:pPr algn="l"/>
            <a:r>
              <a:rPr sz="1000" b="0" i="0">
                <a:solidFill>
                  <a:srgbClr val="ECF0F1"/>
                </a:solidFill>
              </a:rPr>
              <a:t>▸  get_prompt_logs(limit=50)</a:t>
            </a:r>
          </a:p>
        </p:txBody>
      </p:sp>
      <p:sp>
        <p:nvSpPr>
          <p:cNvPr id="19" name="TextBox 18"/>
          <p:cNvSpPr txBox="1"/>
          <p:nvPr/>
        </p:nvSpPr>
        <p:spPr>
          <a:xfrm>
            <a:off x="384048" y="4791455"/>
            <a:ext cx="3346704" cy="347472"/>
          </a:xfrm>
          <a:prstGeom prst="rect">
            <a:avLst/>
          </a:prstGeom>
          <a:noFill/>
        </p:spPr>
        <p:txBody>
          <a:bodyPr wrap="square">
            <a:spAutoFit/>
          </a:bodyPr>
          <a:lstStyle/>
          <a:p>
            <a:pPr algn="l"/>
            <a:r>
              <a:rPr sz="1000" b="0" i="0">
                <a:solidFill>
                  <a:srgbClr val="ECF0F1"/>
                </a:solidFill>
              </a:rPr>
              <a:t>▸  get_audit_logs(limit=50)</a:t>
            </a:r>
          </a:p>
        </p:txBody>
      </p:sp>
      <p:sp>
        <p:nvSpPr>
          <p:cNvPr id="20" name="TextBox 19"/>
          <p:cNvSpPr txBox="1"/>
          <p:nvPr/>
        </p:nvSpPr>
        <p:spPr>
          <a:xfrm>
            <a:off x="384048" y="5138927"/>
            <a:ext cx="3346704" cy="347472"/>
          </a:xfrm>
          <a:prstGeom prst="rect">
            <a:avLst/>
          </a:prstGeom>
          <a:noFill/>
        </p:spPr>
        <p:txBody>
          <a:bodyPr wrap="square">
            <a:spAutoFit/>
          </a:bodyPr>
          <a:lstStyle/>
          <a:p>
            <a:pPr algn="l"/>
            <a:r>
              <a:rPr sz="1000" b="0" i="0">
                <a:solidFill>
                  <a:srgbClr val="ECF0F1"/>
                </a:solidFill>
              </a:rPr>
              <a:t>▸  get_container_history()</a:t>
            </a:r>
          </a:p>
        </p:txBody>
      </p:sp>
      <p:sp>
        <p:nvSpPr>
          <p:cNvPr id="21" name="TextBox 20"/>
          <p:cNvSpPr txBox="1"/>
          <p:nvPr/>
        </p:nvSpPr>
        <p:spPr>
          <a:xfrm>
            <a:off x="384048" y="5486399"/>
            <a:ext cx="3346704" cy="347472"/>
          </a:xfrm>
          <a:prstGeom prst="rect">
            <a:avLst/>
          </a:prstGeom>
          <a:noFill/>
        </p:spPr>
        <p:txBody>
          <a:bodyPr wrap="square">
            <a:spAutoFit/>
          </a:bodyPr>
          <a:lstStyle/>
          <a:p>
            <a:pPr algn="l"/>
            <a:r>
              <a:rPr sz="1000" b="0" i="0">
                <a:solidFill>
                  <a:srgbClr val="ECF0F1"/>
                </a:solidFill>
              </a:rPr>
              <a:t>▸  log_prompt() method</a:t>
            </a:r>
          </a:p>
        </p:txBody>
      </p:sp>
      <p:sp>
        <p:nvSpPr>
          <p:cNvPr id="22" name="TextBox 21"/>
          <p:cNvSpPr txBox="1"/>
          <p:nvPr/>
        </p:nvSpPr>
        <p:spPr>
          <a:xfrm>
            <a:off x="384048" y="5833871"/>
            <a:ext cx="3346704" cy="347472"/>
          </a:xfrm>
          <a:prstGeom prst="rect">
            <a:avLst/>
          </a:prstGeom>
          <a:noFill/>
        </p:spPr>
        <p:txBody>
          <a:bodyPr wrap="square">
            <a:spAutoFit/>
          </a:bodyPr>
          <a:lstStyle/>
          <a:p>
            <a:pPr algn="l"/>
            <a:r>
              <a:rPr sz="1000" b="0" i="0">
                <a:solidFill>
                  <a:srgbClr val="ECF0F1"/>
                </a:solidFill>
              </a:rPr>
              <a:t>▸  log_audit() method</a:t>
            </a:r>
          </a:p>
        </p:txBody>
      </p:sp>
      <p:sp>
        <p:nvSpPr>
          <p:cNvPr id="23" name="Rectangle 22"/>
          <p:cNvSpPr/>
          <p:nvPr/>
        </p:nvSpPr>
        <p:spPr>
          <a:xfrm>
            <a:off x="4069080" y="1097280"/>
            <a:ext cx="365760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069080" y="1097280"/>
            <a:ext cx="3657600"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78808" y="1152144"/>
            <a:ext cx="3438144" cy="411480"/>
          </a:xfrm>
          <a:prstGeom prst="rect">
            <a:avLst/>
          </a:prstGeom>
          <a:noFill/>
        </p:spPr>
        <p:txBody>
          <a:bodyPr wrap="square">
            <a:spAutoFit/>
          </a:bodyPr>
          <a:lstStyle/>
          <a:p>
            <a:pPr algn="l"/>
            <a:r>
              <a:rPr sz="1200" b="1" i="0">
                <a:solidFill>
                  <a:srgbClr val="FFFFFF"/>
                </a:solidFill>
              </a:rPr>
              <a:t>📝  Prompt Logs Schema</a:t>
            </a:r>
          </a:p>
        </p:txBody>
      </p:sp>
      <p:sp>
        <p:nvSpPr>
          <p:cNvPr id="26" name="TextBox 25"/>
          <p:cNvSpPr txBox="1"/>
          <p:nvPr/>
        </p:nvSpPr>
        <p:spPr>
          <a:xfrm>
            <a:off x="4178808" y="1664207"/>
            <a:ext cx="3438144" cy="347472"/>
          </a:xfrm>
          <a:prstGeom prst="rect">
            <a:avLst/>
          </a:prstGeom>
          <a:noFill/>
        </p:spPr>
        <p:txBody>
          <a:bodyPr wrap="square">
            <a:spAutoFit/>
          </a:bodyPr>
          <a:lstStyle/>
          <a:p>
            <a:pPr algn="l"/>
            <a:r>
              <a:rPr sz="1000" b="0" i="0">
                <a:solidFill>
                  <a:srgbClr val="ECF0F1"/>
                </a:solidFill>
              </a:rPr>
              <a:t>▸  id: INTEGER PRIMARY KEY</a:t>
            </a:r>
          </a:p>
        </p:txBody>
      </p:sp>
      <p:sp>
        <p:nvSpPr>
          <p:cNvPr id="27" name="TextBox 26"/>
          <p:cNvSpPr txBox="1"/>
          <p:nvPr/>
        </p:nvSpPr>
        <p:spPr>
          <a:xfrm>
            <a:off x="4178808" y="2011679"/>
            <a:ext cx="3438144" cy="347472"/>
          </a:xfrm>
          <a:prstGeom prst="rect">
            <a:avLst/>
          </a:prstGeom>
          <a:noFill/>
        </p:spPr>
        <p:txBody>
          <a:bodyPr wrap="square">
            <a:spAutoFit/>
          </a:bodyPr>
          <a:lstStyle/>
          <a:p>
            <a:pPr algn="l"/>
            <a:r>
              <a:rPr sz="1000" b="0" i="0">
                <a:solidFill>
                  <a:srgbClr val="ECF0F1"/>
                </a:solidFill>
              </a:rPr>
              <a:t>▸  timestamp: DATETIME</a:t>
            </a:r>
          </a:p>
        </p:txBody>
      </p:sp>
      <p:sp>
        <p:nvSpPr>
          <p:cNvPr id="28" name="TextBox 27"/>
          <p:cNvSpPr txBox="1"/>
          <p:nvPr/>
        </p:nvSpPr>
        <p:spPr>
          <a:xfrm>
            <a:off x="4178808" y="2359151"/>
            <a:ext cx="3438144" cy="347472"/>
          </a:xfrm>
          <a:prstGeom prst="rect">
            <a:avLst/>
          </a:prstGeom>
          <a:noFill/>
        </p:spPr>
        <p:txBody>
          <a:bodyPr wrap="square">
            <a:spAutoFit/>
          </a:bodyPr>
          <a:lstStyle/>
          <a:p>
            <a:pPr algn="l"/>
            <a:r>
              <a:rPr sz="1000" b="0" i="0">
                <a:solidFill>
                  <a:srgbClr val="ECF0F1"/>
                </a:solidFill>
              </a:rPr>
              <a:t>▸  user_prompt: TEXT</a:t>
            </a:r>
          </a:p>
        </p:txBody>
      </p:sp>
      <p:sp>
        <p:nvSpPr>
          <p:cNvPr id="29" name="TextBox 28"/>
          <p:cNvSpPr txBox="1"/>
          <p:nvPr/>
        </p:nvSpPr>
        <p:spPr>
          <a:xfrm>
            <a:off x="4178808" y="2706623"/>
            <a:ext cx="3438144" cy="347472"/>
          </a:xfrm>
          <a:prstGeom prst="rect">
            <a:avLst/>
          </a:prstGeom>
          <a:noFill/>
        </p:spPr>
        <p:txBody>
          <a:bodyPr wrap="square">
            <a:spAutoFit/>
          </a:bodyPr>
          <a:lstStyle/>
          <a:p>
            <a:pPr algn="l"/>
            <a:r>
              <a:rPr sz="1000" b="0" i="0">
                <a:solidFill>
                  <a:srgbClr val="ECF0F1"/>
                </a:solidFill>
              </a:rPr>
              <a:t>▸  generated_action: TEXT</a:t>
            </a:r>
          </a:p>
        </p:txBody>
      </p:sp>
      <p:sp>
        <p:nvSpPr>
          <p:cNvPr id="30" name="TextBox 29"/>
          <p:cNvSpPr txBox="1"/>
          <p:nvPr/>
        </p:nvSpPr>
        <p:spPr>
          <a:xfrm>
            <a:off x="4178808" y="3054095"/>
            <a:ext cx="3438144" cy="347472"/>
          </a:xfrm>
          <a:prstGeom prst="rect">
            <a:avLst/>
          </a:prstGeom>
          <a:noFill/>
        </p:spPr>
        <p:txBody>
          <a:bodyPr wrap="square">
            <a:spAutoFit/>
          </a:bodyPr>
          <a:lstStyle/>
          <a:p>
            <a:pPr algn="l"/>
            <a:r>
              <a:rPr sz="1000" b="0" i="0">
                <a:solidFill>
                  <a:srgbClr val="ECF0F1"/>
                </a:solidFill>
              </a:rPr>
              <a:t>▸  execution_result: TEXT</a:t>
            </a:r>
          </a:p>
        </p:txBody>
      </p:sp>
      <p:sp>
        <p:nvSpPr>
          <p:cNvPr id="31" name="TextBox 30"/>
          <p:cNvSpPr txBox="1"/>
          <p:nvPr/>
        </p:nvSpPr>
        <p:spPr>
          <a:xfrm>
            <a:off x="4178808" y="3401567"/>
            <a:ext cx="3438144" cy="347472"/>
          </a:xfrm>
          <a:prstGeom prst="rect">
            <a:avLst/>
          </a:prstGeom>
          <a:noFill/>
        </p:spPr>
        <p:txBody>
          <a:bodyPr wrap="square">
            <a:spAutoFit/>
          </a:bodyPr>
          <a:lstStyle/>
          <a:p>
            <a:pPr algn="l"/>
            <a:r>
              <a:rPr sz="1000" b="0" i="0">
                <a:solidFill>
                  <a:srgbClr val="ECF0F1"/>
                </a:solidFill>
              </a:rPr>
              <a:t>▸  execution_time_ms: REAL</a:t>
            </a:r>
          </a:p>
        </p:txBody>
      </p:sp>
      <p:sp>
        <p:nvSpPr>
          <p:cNvPr id="32" name="TextBox 31"/>
          <p:cNvSpPr txBox="1"/>
          <p:nvPr/>
        </p:nvSpPr>
        <p:spPr>
          <a:xfrm>
            <a:off x="4178808" y="3749039"/>
            <a:ext cx="3438144" cy="347472"/>
          </a:xfrm>
          <a:prstGeom prst="rect">
            <a:avLst/>
          </a:prstGeom>
          <a:noFill/>
        </p:spPr>
        <p:txBody>
          <a:bodyPr wrap="square">
            <a:spAutoFit/>
          </a:bodyPr>
          <a:lstStyle/>
          <a:p>
            <a:pPr algn="l"/>
            <a:r>
              <a:rPr sz="1000" b="0" i="0">
                <a:solidFill>
                  <a:srgbClr val="ECF0F1"/>
                </a:solidFill>
              </a:rPr>
              <a:t>▸  </a:t>
            </a:r>
          </a:p>
        </p:txBody>
      </p:sp>
      <p:sp>
        <p:nvSpPr>
          <p:cNvPr id="33" name="TextBox 32"/>
          <p:cNvSpPr txBox="1"/>
          <p:nvPr/>
        </p:nvSpPr>
        <p:spPr>
          <a:xfrm>
            <a:off x="4178808" y="4096511"/>
            <a:ext cx="3438144" cy="347472"/>
          </a:xfrm>
          <a:prstGeom prst="rect">
            <a:avLst/>
          </a:prstGeom>
          <a:noFill/>
        </p:spPr>
        <p:txBody>
          <a:bodyPr wrap="square">
            <a:spAutoFit/>
          </a:bodyPr>
          <a:lstStyle/>
          <a:p>
            <a:pPr algn="l"/>
            <a:r>
              <a:rPr sz="1000" b="0" i="0">
                <a:solidFill>
                  <a:srgbClr val="ECF0F1"/>
                </a:solidFill>
              </a:rPr>
              <a:t>▸  Stored every AI command</a:t>
            </a:r>
          </a:p>
        </p:txBody>
      </p:sp>
      <p:sp>
        <p:nvSpPr>
          <p:cNvPr id="34" name="TextBox 33"/>
          <p:cNvSpPr txBox="1"/>
          <p:nvPr/>
        </p:nvSpPr>
        <p:spPr>
          <a:xfrm>
            <a:off x="4178808" y="4443983"/>
            <a:ext cx="3438144" cy="347472"/>
          </a:xfrm>
          <a:prstGeom prst="rect">
            <a:avLst/>
          </a:prstGeom>
          <a:noFill/>
        </p:spPr>
        <p:txBody>
          <a:bodyPr wrap="square">
            <a:spAutoFit/>
          </a:bodyPr>
          <a:lstStyle/>
          <a:p>
            <a:pPr algn="l"/>
            <a:r>
              <a:rPr sz="1000" b="0" i="0">
                <a:solidFill>
                  <a:srgbClr val="ECF0F1"/>
                </a:solidFill>
              </a:rPr>
              <a:t>▸  JSON action serialized</a:t>
            </a:r>
          </a:p>
        </p:txBody>
      </p:sp>
      <p:sp>
        <p:nvSpPr>
          <p:cNvPr id="35" name="TextBox 34"/>
          <p:cNvSpPr txBox="1"/>
          <p:nvPr/>
        </p:nvSpPr>
        <p:spPr>
          <a:xfrm>
            <a:off x="4178808" y="4791455"/>
            <a:ext cx="3438144" cy="347472"/>
          </a:xfrm>
          <a:prstGeom prst="rect">
            <a:avLst/>
          </a:prstGeom>
          <a:noFill/>
        </p:spPr>
        <p:txBody>
          <a:bodyPr wrap="square">
            <a:spAutoFit/>
          </a:bodyPr>
          <a:lstStyle/>
          <a:p>
            <a:pPr algn="l"/>
            <a:r>
              <a:rPr sz="1000" b="0" i="0">
                <a:solidFill>
                  <a:srgbClr val="ECF0F1"/>
                </a:solidFill>
              </a:rPr>
              <a:t>▸  Result stored as string</a:t>
            </a:r>
          </a:p>
        </p:txBody>
      </p:sp>
      <p:sp>
        <p:nvSpPr>
          <p:cNvPr id="36" name="TextBox 35"/>
          <p:cNvSpPr txBox="1"/>
          <p:nvPr/>
        </p:nvSpPr>
        <p:spPr>
          <a:xfrm>
            <a:off x="4178808" y="5138927"/>
            <a:ext cx="3438144" cy="347472"/>
          </a:xfrm>
          <a:prstGeom prst="rect">
            <a:avLst/>
          </a:prstGeom>
          <a:noFill/>
        </p:spPr>
        <p:txBody>
          <a:bodyPr wrap="square">
            <a:spAutoFit/>
          </a:bodyPr>
          <a:lstStyle/>
          <a:p>
            <a:pPr algn="l"/>
            <a:r>
              <a:rPr sz="1000" b="0" i="0">
                <a:solidFill>
                  <a:srgbClr val="ECF0F1"/>
                </a:solidFill>
              </a:rPr>
              <a:t>▸  Used for analytics</a:t>
            </a:r>
          </a:p>
        </p:txBody>
      </p:sp>
      <p:sp>
        <p:nvSpPr>
          <p:cNvPr id="37" name="TextBox 36"/>
          <p:cNvSpPr txBox="1"/>
          <p:nvPr/>
        </p:nvSpPr>
        <p:spPr>
          <a:xfrm>
            <a:off x="4178808" y="5486399"/>
            <a:ext cx="3438144" cy="347472"/>
          </a:xfrm>
          <a:prstGeom prst="rect">
            <a:avLst/>
          </a:prstGeom>
          <a:noFill/>
        </p:spPr>
        <p:txBody>
          <a:bodyPr wrap="square">
            <a:spAutoFit/>
          </a:bodyPr>
          <a:lstStyle/>
          <a:p>
            <a:pPr algn="l"/>
            <a:r>
              <a:rPr sz="1000" b="0" i="0">
                <a:solidFill>
                  <a:srgbClr val="ECF0F1"/>
                </a:solidFill>
              </a:rPr>
              <a:t>▸  Displayed in Logs page</a:t>
            </a:r>
          </a:p>
        </p:txBody>
      </p:sp>
      <p:sp>
        <p:nvSpPr>
          <p:cNvPr id="38" name="Rectangle 37"/>
          <p:cNvSpPr/>
          <p:nvPr/>
        </p:nvSpPr>
        <p:spPr>
          <a:xfrm>
            <a:off x="8001000" y="1097280"/>
            <a:ext cx="388620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01000" y="1097280"/>
            <a:ext cx="3886200" cy="502920"/>
          </a:xfrm>
          <a:prstGeom prst="rect">
            <a:avLst/>
          </a:prstGeom>
          <a:solidFill>
            <a:srgbClr val="236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10727" y="1152144"/>
            <a:ext cx="3666744" cy="411480"/>
          </a:xfrm>
          <a:prstGeom prst="rect">
            <a:avLst/>
          </a:prstGeom>
          <a:noFill/>
        </p:spPr>
        <p:txBody>
          <a:bodyPr wrap="square">
            <a:spAutoFit/>
          </a:bodyPr>
          <a:lstStyle/>
          <a:p>
            <a:pPr algn="l"/>
            <a:r>
              <a:rPr sz="1200" b="1" i="0">
                <a:solidFill>
                  <a:srgbClr val="FFFFFF"/>
                </a:solidFill>
              </a:rPr>
              <a:t>🔍  Audit Log Schema</a:t>
            </a:r>
          </a:p>
        </p:txBody>
      </p:sp>
      <p:sp>
        <p:nvSpPr>
          <p:cNvPr id="41" name="TextBox 40"/>
          <p:cNvSpPr txBox="1"/>
          <p:nvPr/>
        </p:nvSpPr>
        <p:spPr>
          <a:xfrm>
            <a:off x="8110727" y="1664207"/>
            <a:ext cx="3666744" cy="347472"/>
          </a:xfrm>
          <a:prstGeom prst="rect">
            <a:avLst/>
          </a:prstGeom>
          <a:noFill/>
        </p:spPr>
        <p:txBody>
          <a:bodyPr wrap="square">
            <a:spAutoFit/>
          </a:bodyPr>
          <a:lstStyle/>
          <a:p>
            <a:pPr algn="l"/>
            <a:r>
              <a:rPr sz="1000" b="0" i="0">
                <a:solidFill>
                  <a:srgbClr val="ECF0F1"/>
                </a:solidFill>
              </a:rPr>
              <a:t>▸  id: INTEGER PRIMARY KEY</a:t>
            </a:r>
          </a:p>
        </p:txBody>
      </p:sp>
      <p:sp>
        <p:nvSpPr>
          <p:cNvPr id="42" name="TextBox 41"/>
          <p:cNvSpPr txBox="1"/>
          <p:nvPr/>
        </p:nvSpPr>
        <p:spPr>
          <a:xfrm>
            <a:off x="8110727" y="2011679"/>
            <a:ext cx="3666744" cy="347472"/>
          </a:xfrm>
          <a:prstGeom prst="rect">
            <a:avLst/>
          </a:prstGeom>
          <a:noFill/>
        </p:spPr>
        <p:txBody>
          <a:bodyPr wrap="square">
            <a:spAutoFit/>
          </a:bodyPr>
          <a:lstStyle/>
          <a:p>
            <a:pPr algn="l"/>
            <a:r>
              <a:rPr sz="1000" b="0" i="0">
                <a:solidFill>
                  <a:srgbClr val="ECF0F1"/>
                </a:solidFill>
              </a:rPr>
              <a:t>▸  timestamp: DATETIME</a:t>
            </a:r>
          </a:p>
        </p:txBody>
      </p:sp>
      <p:sp>
        <p:nvSpPr>
          <p:cNvPr id="43" name="TextBox 42"/>
          <p:cNvSpPr txBox="1"/>
          <p:nvPr/>
        </p:nvSpPr>
        <p:spPr>
          <a:xfrm>
            <a:off x="8110727" y="2359151"/>
            <a:ext cx="3666744" cy="347472"/>
          </a:xfrm>
          <a:prstGeom prst="rect">
            <a:avLst/>
          </a:prstGeom>
          <a:noFill/>
        </p:spPr>
        <p:txBody>
          <a:bodyPr wrap="square">
            <a:spAutoFit/>
          </a:bodyPr>
          <a:lstStyle/>
          <a:p>
            <a:pPr algn="l"/>
            <a:r>
              <a:rPr sz="1000" b="0" i="0">
                <a:solidFill>
                  <a:srgbClr val="ECF0F1"/>
                </a:solidFill>
              </a:rPr>
              <a:t>▸  action: TEXT</a:t>
            </a:r>
          </a:p>
        </p:txBody>
      </p:sp>
      <p:sp>
        <p:nvSpPr>
          <p:cNvPr id="44" name="TextBox 43"/>
          <p:cNvSpPr txBox="1"/>
          <p:nvPr/>
        </p:nvSpPr>
        <p:spPr>
          <a:xfrm>
            <a:off x="8110727" y="2706623"/>
            <a:ext cx="3666744" cy="347472"/>
          </a:xfrm>
          <a:prstGeom prst="rect">
            <a:avLst/>
          </a:prstGeom>
          <a:noFill/>
        </p:spPr>
        <p:txBody>
          <a:bodyPr wrap="square">
            <a:spAutoFit/>
          </a:bodyPr>
          <a:lstStyle/>
          <a:p>
            <a:pPr algn="l"/>
            <a:r>
              <a:rPr sz="1000" b="0" i="0">
                <a:solidFill>
                  <a:srgbClr val="ECF0F1"/>
                </a:solidFill>
              </a:rPr>
              <a:t>▸  container_name: TEXT</a:t>
            </a:r>
          </a:p>
        </p:txBody>
      </p:sp>
      <p:sp>
        <p:nvSpPr>
          <p:cNvPr id="45" name="TextBox 44"/>
          <p:cNvSpPr txBox="1"/>
          <p:nvPr/>
        </p:nvSpPr>
        <p:spPr>
          <a:xfrm>
            <a:off x="8110727" y="3054095"/>
            <a:ext cx="3666744" cy="347472"/>
          </a:xfrm>
          <a:prstGeom prst="rect">
            <a:avLst/>
          </a:prstGeom>
          <a:noFill/>
        </p:spPr>
        <p:txBody>
          <a:bodyPr wrap="square">
            <a:spAutoFit/>
          </a:bodyPr>
          <a:lstStyle/>
          <a:p>
            <a:pPr algn="l"/>
            <a:r>
              <a:rPr sz="1000" b="0" i="0">
                <a:solidFill>
                  <a:srgbClr val="ECF0F1"/>
                </a:solidFill>
              </a:rPr>
              <a:t>▸  status: TEXT</a:t>
            </a:r>
          </a:p>
        </p:txBody>
      </p:sp>
      <p:sp>
        <p:nvSpPr>
          <p:cNvPr id="46" name="TextBox 45"/>
          <p:cNvSpPr txBox="1"/>
          <p:nvPr/>
        </p:nvSpPr>
        <p:spPr>
          <a:xfrm>
            <a:off x="8110727" y="3401567"/>
            <a:ext cx="3666744" cy="347472"/>
          </a:xfrm>
          <a:prstGeom prst="rect">
            <a:avLst/>
          </a:prstGeom>
          <a:noFill/>
        </p:spPr>
        <p:txBody>
          <a:bodyPr wrap="square">
            <a:spAutoFit/>
          </a:bodyPr>
          <a:lstStyle/>
          <a:p>
            <a:pPr algn="l"/>
            <a:r>
              <a:rPr sz="1000" b="0" i="0">
                <a:solidFill>
                  <a:srgbClr val="ECF0F1"/>
                </a:solidFill>
              </a:rPr>
              <a:t>▸  details: TEXT</a:t>
            </a:r>
          </a:p>
        </p:txBody>
      </p:sp>
      <p:sp>
        <p:nvSpPr>
          <p:cNvPr id="47" name="TextBox 46"/>
          <p:cNvSpPr txBox="1"/>
          <p:nvPr/>
        </p:nvSpPr>
        <p:spPr>
          <a:xfrm>
            <a:off x="8110727" y="3749039"/>
            <a:ext cx="3666744" cy="347472"/>
          </a:xfrm>
          <a:prstGeom prst="rect">
            <a:avLst/>
          </a:prstGeom>
          <a:noFill/>
        </p:spPr>
        <p:txBody>
          <a:bodyPr wrap="square">
            <a:spAutoFit/>
          </a:bodyPr>
          <a:lstStyle/>
          <a:p>
            <a:pPr algn="l"/>
            <a:r>
              <a:rPr sz="1000" b="0" i="0">
                <a:solidFill>
                  <a:srgbClr val="ECF0F1"/>
                </a:solidFill>
              </a:rPr>
              <a:t>▸  </a:t>
            </a:r>
          </a:p>
        </p:txBody>
      </p:sp>
      <p:sp>
        <p:nvSpPr>
          <p:cNvPr id="48" name="TextBox 47"/>
          <p:cNvSpPr txBox="1"/>
          <p:nvPr/>
        </p:nvSpPr>
        <p:spPr>
          <a:xfrm>
            <a:off x="8110727" y="4096511"/>
            <a:ext cx="3666744" cy="347472"/>
          </a:xfrm>
          <a:prstGeom prst="rect">
            <a:avLst/>
          </a:prstGeom>
          <a:noFill/>
        </p:spPr>
        <p:txBody>
          <a:bodyPr wrap="square">
            <a:spAutoFit/>
          </a:bodyPr>
          <a:lstStyle/>
          <a:p>
            <a:pPr algn="l"/>
            <a:r>
              <a:rPr sz="1000" b="0" i="0">
                <a:solidFill>
                  <a:srgbClr val="ECF0F1"/>
                </a:solidFill>
              </a:rPr>
              <a:t>▸  Tracks all operations</a:t>
            </a:r>
          </a:p>
        </p:txBody>
      </p:sp>
      <p:sp>
        <p:nvSpPr>
          <p:cNvPr id="49" name="TextBox 48"/>
          <p:cNvSpPr txBox="1"/>
          <p:nvPr/>
        </p:nvSpPr>
        <p:spPr>
          <a:xfrm>
            <a:off x="8110727" y="4443983"/>
            <a:ext cx="3666744" cy="347472"/>
          </a:xfrm>
          <a:prstGeom prst="rect">
            <a:avLst/>
          </a:prstGeom>
          <a:noFill/>
        </p:spPr>
        <p:txBody>
          <a:bodyPr wrap="square">
            <a:spAutoFit/>
          </a:bodyPr>
          <a:lstStyle/>
          <a:p>
            <a:pPr algn="l"/>
            <a:r>
              <a:rPr sz="1000" b="0" i="0">
                <a:solidFill>
                  <a:srgbClr val="ECF0F1"/>
                </a:solidFill>
              </a:rPr>
              <a:t>▸  Start/stop/restart logged</a:t>
            </a:r>
          </a:p>
        </p:txBody>
      </p:sp>
      <p:sp>
        <p:nvSpPr>
          <p:cNvPr id="50" name="TextBox 49"/>
          <p:cNvSpPr txBox="1"/>
          <p:nvPr/>
        </p:nvSpPr>
        <p:spPr>
          <a:xfrm>
            <a:off x="8110727" y="4791455"/>
            <a:ext cx="3666744" cy="347472"/>
          </a:xfrm>
          <a:prstGeom prst="rect">
            <a:avLst/>
          </a:prstGeom>
          <a:noFill/>
        </p:spPr>
        <p:txBody>
          <a:bodyPr wrap="square">
            <a:spAutoFit/>
          </a:bodyPr>
          <a:lstStyle/>
          <a:p>
            <a:pPr algn="l"/>
            <a:r>
              <a:rPr sz="1000" b="0" i="0">
                <a:solidFill>
                  <a:srgbClr val="ECF0F1"/>
                </a:solidFill>
              </a:rPr>
              <a:t>▸  Success and failure both</a:t>
            </a:r>
          </a:p>
        </p:txBody>
      </p:sp>
      <p:sp>
        <p:nvSpPr>
          <p:cNvPr id="51" name="TextBox 50"/>
          <p:cNvSpPr txBox="1"/>
          <p:nvPr/>
        </p:nvSpPr>
        <p:spPr>
          <a:xfrm>
            <a:off x="8110727" y="5138927"/>
            <a:ext cx="3666744" cy="347472"/>
          </a:xfrm>
          <a:prstGeom prst="rect">
            <a:avLst/>
          </a:prstGeom>
          <a:noFill/>
        </p:spPr>
        <p:txBody>
          <a:bodyPr wrap="square">
            <a:spAutoFit/>
          </a:bodyPr>
          <a:lstStyle/>
          <a:p>
            <a:pPr algn="l"/>
            <a:r>
              <a:rPr sz="1000" b="0" i="0">
                <a:solidFill>
                  <a:srgbClr val="ECF0F1"/>
                </a:solidFill>
              </a:rPr>
              <a:t>▸  Retained for 30 days</a:t>
            </a:r>
          </a:p>
        </p:txBody>
      </p:sp>
      <p:sp>
        <p:nvSpPr>
          <p:cNvPr id="52" name="TextBox 51"/>
          <p:cNvSpPr txBox="1"/>
          <p:nvPr/>
        </p:nvSpPr>
        <p:spPr>
          <a:xfrm>
            <a:off x="8110727" y="5486399"/>
            <a:ext cx="3666744" cy="347472"/>
          </a:xfrm>
          <a:prstGeom prst="rect">
            <a:avLst/>
          </a:prstGeom>
          <a:noFill/>
        </p:spPr>
        <p:txBody>
          <a:bodyPr wrap="square">
            <a:spAutoFit/>
          </a:bodyPr>
          <a:lstStyle/>
          <a:p>
            <a:pPr algn="l"/>
            <a:r>
              <a:rPr sz="1000" b="0" i="0">
                <a:solidFill>
                  <a:srgbClr val="ECF0F1"/>
                </a:solidFill>
              </a:rPr>
              <a:t>▸  Exportable as CSV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UI Design &amp; Theme</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Clean light theme with professional styling</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7132320" cy="23774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70432"/>
            <a:ext cx="6858000" cy="384048"/>
          </a:xfrm>
          <a:prstGeom prst="rect">
            <a:avLst/>
          </a:prstGeom>
          <a:noFill/>
        </p:spPr>
        <p:txBody>
          <a:bodyPr wrap="square">
            <a:spAutoFit/>
          </a:bodyPr>
          <a:lstStyle/>
          <a:p>
            <a:pPr algn="l"/>
            <a:r>
              <a:rPr sz="1400" b="1" i="0">
                <a:solidFill>
                  <a:srgbClr val="27AE60"/>
                </a:solidFill>
              </a:rPr>
              <a:t>🎨  Design Philosophy</a:t>
            </a:r>
          </a:p>
        </p:txBody>
      </p:sp>
      <p:sp>
        <p:nvSpPr>
          <p:cNvPr id="9" name="TextBox 8"/>
          <p:cNvSpPr txBox="1"/>
          <p:nvPr/>
        </p:nvSpPr>
        <p:spPr>
          <a:xfrm>
            <a:off x="457200" y="1627632"/>
            <a:ext cx="6858000" cy="338328"/>
          </a:xfrm>
          <a:prstGeom prst="rect">
            <a:avLst/>
          </a:prstGeom>
          <a:noFill/>
        </p:spPr>
        <p:txBody>
          <a:bodyPr wrap="square">
            <a:spAutoFit/>
          </a:bodyPr>
          <a:lstStyle/>
          <a:p>
            <a:pPr algn="l"/>
            <a:r>
              <a:rPr sz="1050" b="0" i="0">
                <a:solidFill>
                  <a:srgbClr val="ECF0F1"/>
                </a:solidFill>
              </a:rPr>
              <a:t>▸  Light background (#f5f7fa) — easy on the eyes for long sessions</a:t>
            </a:r>
          </a:p>
        </p:txBody>
      </p:sp>
      <p:sp>
        <p:nvSpPr>
          <p:cNvPr id="10" name="TextBox 9"/>
          <p:cNvSpPr txBox="1"/>
          <p:nvPr/>
        </p:nvSpPr>
        <p:spPr>
          <a:xfrm>
            <a:off x="457200" y="1993392"/>
            <a:ext cx="6858000" cy="338328"/>
          </a:xfrm>
          <a:prstGeom prst="rect">
            <a:avLst/>
          </a:prstGeom>
          <a:noFill/>
        </p:spPr>
        <p:txBody>
          <a:bodyPr wrap="square">
            <a:spAutoFit/>
          </a:bodyPr>
          <a:lstStyle/>
          <a:p>
            <a:pPr algn="l"/>
            <a:r>
              <a:rPr sz="1050" b="0" i="0">
                <a:solidFill>
                  <a:srgbClr val="ECF0F1"/>
                </a:solidFill>
              </a:rPr>
              <a:t>▸  White cards with subtle shadows — modern SaaS dashboard feel</a:t>
            </a:r>
          </a:p>
        </p:txBody>
      </p:sp>
      <p:sp>
        <p:nvSpPr>
          <p:cNvPr id="11" name="TextBox 10"/>
          <p:cNvSpPr txBox="1"/>
          <p:nvPr/>
        </p:nvSpPr>
        <p:spPr>
          <a:xfrm>
            <a:off x="457200" y="2359152"/>
            <a:ext cx="6858000" cy="338328"/>
          </a:xfrm>
          <a:prstGeom prst="rect">
            <a:avLst/>
          </a:prstGeom>
          <a:noFill/>
        </p:spPr>
        <p:txBody>
          <a:bodyPr wrap="square">
            <a:spAutoFit/>
          </a:bodyPr>
          <a:lstStyle/>
          <a:p>
            <a:pPr algn="l"/>
            <a:r>
              <a:rPr sz="1050" b="0" i="0">
                <a:solidFill>
                  <a:srgbClr val="ECF0F1"/>
                </a:solidFill>
              </a:rPr>
              <a:t>▸  Green accent (#27ae60) — primary action and highlight color</a:t>
            </a:r>
          </a:p>
        </p:txBody>
      </p:sp>
      <p:sp>
        <p:nvSpPr>
          <p:cNvPr id="12" name="TextBox 11"/>
          <p:cNvSpPr txBox="1"/>
          <p:nvPr/>
        </p:nvSpPr>
        <p:spPr>
          <a:xfrm>
            <a:off x="457200" y="2724912"/>
            <a:ext cx="6858000" cy="338328"/>
          </a:xfrm>
          <a:prstGeom prst="rect">
            <a:avLst/>
          </a:prstGeom>
          <a:noFill/>
        </p:spPr>
        <p:txBody>
          <a:bodyPr wrap="square">
            <a:spAutoFit/>
          </a:bodyPr>
          <a:lstStyle/>
          <a:p>
            <a:pPr algn="l"/>
            <a:r>
              <a:rPr sz="1050" b="0" i="0">
                <a:solidFill>
                  <a:srgbClr val="ECF0F1"/>
                </a:solidFill>
              </a:rPr>
              <a:t>▸  Dark navy text (#2c3e50) — high contrast and readable</a:t>
            </a:r>
          </a:p>
        </p:txBody>
      </p:sp>
      <p:sp>
        <p:nvSpPr>
          <p:cNvPr id="13" name="TextBox 12"/>
          <p:cNvSpPr txBox="1"/>
          <p:nvPr/>
        </p:nvSpPr>
        <p:spPr>
          <a:xfrm>
            <a:off x="457200" y="3090672"/>
            <a:ext cx="6858000" cy="338328"/>
          </a:xfrm>
          <a:prstGeom prst="rect">
            <a:avLst/>
          </a:prstGeom>
          <a:noFill/>
        </p:spPr>
        <p:txBody>
          <a:bodyPr wrap="square">
            <a:spAutoFit/>
          </a:bodyPr>
          <a:lstStyle/>
          <a:p>
            <a:pPr algn="l"/>
            <a:r>
              <a:rPr sz="1050" b="0" i="0">
                <a:solidFill>
                  <a:srgbClr val="ECF0F1"/>
                </a:solidFill>
              </a:rPr>
              <a:t>▸  Streamlit config.toml forces light mode — no dark mode override</a:t>
            </a:r>
          </a:p>
        </p:txBody>
      </p:sp>
      <p:sp>
        <p:nvSpPr>
          <p:cNvPr id="14" name="Rectangle 13"/>
          <p:cNvSpPr/>
          <p:nvPr/>
        </p:nvSpPr>
        <p:spPr>
          <a:xfrm>
            <a:off x="7680960" y="1097280"/>
            <a:ext cx="4206240" cy="23774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1170432"/>
            <a:ext cx="3840480" cy="384048"/>
          </a:xfrm>
          <a:prstGeom prst="rect">
            <a:avLst/>
          </a:prstGeom>
          <a:noFill/>
        </p:spPr>
        <p:txBody>
          <a:bodyPr wrap="square">
            <a:spAutoFit/>
          </a:bodyPr>
          <a:lstStyle/>
          <a:p>
            <a:pPr algn="l"/>
            <a:r>
              <a:rPr sz="1400" b="1" i="0">
                <a:solidFill>
                  <a:srgbClr val="27AE60"/>
                </a:solidFill>
              </a:rPr>
              <a:t>🎨  Color Palette</a:t>
            </a:r>
          </a:p>
        </p:txBody>
      </p:sp>
      <p:sp>
        <p:nvSpPr>
          <p:cNvPr id="16" name="Rectangle 15"/>
          <p:cNvSpPr/>
          <p:nvPr/>
        </p:nvSpPr>
        <p:spPr>
          <a:xfrm>
            <a:off x="7863840" y="1627632"/>
            <a:ext cx="41148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1645920"/>
            <a:ext cx="3383280" cy="274320"/>
          </a:xfrm>
          <a:prstGeom prst="rect">
            <a:avLst/>
          </a:prstGeom>
          <a:noFill/>
        </p:spPr>
        <p:txBody>
          <a:bodyPr wrap="square">
            <a:spAutoFit/>
          </a:bodyPr>
          <a:lstStyle/>
          <a:p>
            <a:pPr algn="l"/>
            <a:r>
              <a:rPr sz="1000" b="0" i="0">
                <a:solidFill>
                  <a:srgbClr val="ECF0F1"/>
                </a:solidFill>
              </a:rPr>
              <a:t>#27ae60  Primary Green</a:t>
            </a:r>
          </a:p>
        </p:txBody>
      </p:sp>
      <p:sp>
        <p:nvSpPr>
          <p:cNvPr id="18" name="Rectangle 17"/>
          <p:cNvSpPr/>
          <p:nvPr/>
        </p:nvSpPr>
        <p:spPr>
          <a:xfrm>
            <a:off x="7863840" y="1993392"/>
            <a:ext cx="411480" cy="2926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2011680"/>
            <a:ext cx="3383280" cy="274320"/>
          </a:xfrm>
          <a:prstGeom prst="rect">
            <a:avLst/>
          </a:prstGeom>
          <a:noFill/>
        </p:spPr>
        <p:txBody>
          <a:bodyPr wrap="square">
            <a:spAutoFit/>
          </a:bodyPr>
          <a:lstStyle/>
          <a:p>
            <a:pPr algn="l"/>
            <a:r>
              <a:rPr sz="1000" b="0" i="0">
                <a:solidFill>
                  <a:srgbClr val="ECF0F1"/>
                </a:solidFill>
              </a:rPr>
              <a:t>#1a1a2e  Dark Navy</a:t>
            </a:r>
          </a:p>
        </p:txBody>
      </p:sp>
      <p:sp>
        <p:nvSpPr>
          <p:cNvPr id="20" name="Rectangle 19"/>
          <p:cNvSpPr/>
          <p:nvPr/>
        </p:nvSpPr>
        <p:spPr>
          <a:xfrm>
            <a:off x="7863840" y="2359152"/>
            <a:ext cx="411480" cy="292608"/>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2377440"/>
            <a:ext cx="3383280" cy="274320"/>
          </a:xfrm>
          <a:prstGeom prst="rect">
            <a:avLst/>
          </a:prstGeom>
          <a:noFill/>
        </p:spPr>
        <p:txBody>
          <a:bodyPr wrap="square">
            <a:spAutoFit/>
          </a:bodyPr>
          <a:lstStyle/>
          <a:p>
            <a:pPr algn="l"/>
            <a:r>
              <a:rPr sz="1000" b="0" i="0">
                <a:solidFill>
                  <a:srgbClr val="ECF0F1"/>
                </a:solidFill>
              </a:rPr>
              <a:t>#0f3c78  Card Accent</a:t>
            </a:r>
          </a:p>
        </p:txBody>
      </p:sp>
      <p:sp>
        <p:nvSpPr>
          <p:cNvPr id="22" name="Rectangle 21"/>
          <p:cNvSpPr/>
          <p:nvPr/>
        </p:nvSpPr>
        <p:spPr>
          <a:xfrm>
            <a:off x="7863840" y="2724912"/>
            <a:ext cx="411480" cy="292608"/>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6760" y="2743200"/>
            <a:ext cx="3383280" cy="274320"/>
          </a:xfrm>
          <a:prstGeom prst="rect">
            <a:avLst/>
          </a:prstGeom>
          <a:noFill/>
        </p:spPr>
        <p:txBody>
          <a:bodyPr wrap="square">
            <a:spAutoFit/>
          </a:bodyPr>
          <a:lstStyle/>
          <a:p>
            <a:pPr algn="l"/>
            <a:r>
              <a:rPr sz="1000" b="0" i="0">
                <a:solidFill>
                  <a:srgbClr val="ECF0F1"/>
                </a:solidFill>
              </a:rPr>
              <a:t>#ecf0f1  Light Gray</a:t>
            </a:r>
          </a:p>
        </p:txBody>
      </p:sp>
      <p:sp>
        <p:nvSpPr>
          <p:cNvPr id="24" name="Rectangle 23"/>
          <p:cNvSpPr/>
          <p:nvPr/>
        </p:nvSpPr>
        <p:spPr>
          <a:xfrm>
            <a:off x="7863840" y="3090672"/>
            <a:ext cx="411480" cy="29260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60" y="3108960"/>
            <a:ext cx="3383280" cy="274320"/>
          </a:xfrm>
          <a:prstGeom prst="rect">
            <a:avLst/>
          </a:prstGeom>
          <a:noFill/>
        </p:spPr>
        <p:txBody>
          <a:bodyPr wrap="square">
            <a:spAutoFit/>
          </a:bodyPr>
          <a:lstStyle/>
          <a:p>
            <a:pPr algn="l"/>
            <a:r>
              <a:rPr sz="1000" b="0" i="0">
                <a:solidFill>
                  <a:srgbClr val="ECF0F1"/>
                </a:solidFill>
              </a:rPr>
              <a:t>#f39c12  Warning/Alt</a:t>
            </a:r>
          </a:p>
        </p:txBody>
      </p:sp>
      <p:sp>
        <p:nvSpPr>
          <p:cNvPr id="26" name="Rectangle 25"/>
          <p:cNvSpPr/>
          <p:nvPr/>
        </p:nvSpPr>
        <p:spPr>
          <a:xfrm>
            <a:off x="274320" y="3703320"/>
            <a:ext cx="11612880" cy="28346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767328"/>
            <a:ext cx="9144000" cy="384048"/>
          </a:xfrm>
          <a:prstGeom prst="rect">
            <a:avLst/>
          </a:prstGeom>
          <a:noFill/>
        </p:spPr>
        <p:txBody>
          <a:bodyPr wrap="square">
            <a:spAutoFit/>
          </a:bodyPr>
          <a:lstStyle/>
          <a:p>
            <a:pPr algn="l"/>
            <a:r>
              <a:rPr sz="1400" b="1" i="0">
                <a:solidFill>
                  <a:srgbClr val="27AE60"/>
                </a:solidFill>
              </a:rPr>
              <a:t>📐  CSS Customizations Applied</a:t>
            </a:r>
          </a:p>
        </p:txBody>
      </p:sp>
      <p:sp>
        <p:nvSpPr>
          <p:cNvPr id="28" name="TextBox 27"/>
          <p:cNvSpPr txBox="1"/>
          <p:nvPr/>
        </p:nvSpPr>
        <p:spPr>
          <a:xfrm>
            <a:off x="457200" y="4224528"/>
            <a:ext cx="2286000" cy="320040"/>
          </a:xfrm>
          <a:prstGeom prst="rect">
            <a:avLst/>
          </a:prstGeom>
          <a:noFill/>
        </p:spPr>
        <p:txBody>
          <a:bodyPr wrap="square">
            <a:spAutoFit/>
          </a:bodyPr>
          <a:lstStyle/>
          <a:p>
            <a:pPr algn="l"/>
            <a:r>
              <a:rPr sz="1050" b="1" i="0">
                <a:solidFill>
                  <a:srgbClr val="F39C12"/>
                </a:solidFill>
              </a:rPr>
              <a:t>Metric Cards:</a:t>
            </a:r>
          </a:p>
        </p:txBody>
      </p:sp>
      <p:sp>
        <p:nvSpPr>
          <p:cNvPr id="29" name="TextBox 28"/>
          <p:cNvSpPr txBox="1"/>
          <p:nvPr/>
        </p:nvSpPr>
        <p:spPr>
          <a:xfrm>
            <a:off x="2834640" y="4224528"/>
            <a:ext cx="8869680" cy="320040"/>
          </a:xfrm>
          <a:prstGeom prst="rect">
            <a:avLst/>
          </a:prstGeom>
          <a:noFill/>
        </p:spPr>
        <p:txBody>
          <a:bodyPr wrap="square">
            <a:spAutoFit/>
          </a:bodyPr>
          <a:lstStyle/>
          <a:p>
            <a:pPr algn="l"/>
            <a:r>
              <a:rPr sz="1050" b="0" i="0">
                <a:solidFill>
                  <a:srgbClr val="ECF0F1"/>
                </a:solidFill>
              </a:rPr>
              <a:t>White bg, rounded corners, hover lift shadow, uppercase labels</a:t>
            </a:r>
          </a:p>
        </p:txBody>
      </p:sp>
      <p:sp>
        <p:nvSpPr>
          <p:cNvPr id="30" name="TextBox 29"/>
          <p:cNvSpPr txBox="1"/>
          <p:nvPr/>
        </p:nvSpPr>
        <p:spPr>
          <a:xfrm>
            <a:off x="457200" y="4572000"/>
            <a:ext cx="2286000" cy="320040"/>
          </a:xfrm>
          <a:prstGeom prst="rect">
            <a:avLst/>
          </a:prstGeom>
          <a:noFill/>
        </p:spPr>
        <p:txBody>
          <a:bodyPr wrap="square">
            <a:spAutoFit/>
          </a:bodyPr>
          <a:lstStyle/>
          <a:p>
            <a:pPr algn="l"/>
            <a:r>
              <a:rPr sz="1050" b="1" i="0">
                <a:solidFill>
                  <a:srgbClr val="F39C12"/>
                </a:solidFill>
              </a:rPr>
              <a:t>Buttons:</a:t>
            </a:r>
          </a:p>
        </p:txBody>
      </p:sp>
      <p:sp>
        <p:nvSpPr>
          <p:cNvPr id="31" name="TextBox 30"/>
          <p:cNvSpPr txBox="1"/>
          <p:nvPr/>
        </p:nvSpPr>
        <p:spPr>
          <a:xfrm>
            <a:off x="2834640" y="4572000"/>
            <a:ext cx="8869680" cy="320040"/>
          </a:xfrm>
          <a:prstGeom prst="rect">
            <a:avLst/>
          </a:prstGeom>
          <a:noFill/>
        </p:spPr>
        <p:txBody>
          <a:bodyPr wrap="square">
            <a:spAutoFit/>
          </a:bodyPr>
          <a:lstStyle/>
          <a:p>
            <a:pPr algn="l"/>
            <a:r>
              <a:rPr sz="1050" b="0" i="0">
                <a:solidFill>
                  <a:srgbClr val="ECF0F1"/>
                </a:solidFill>
              </a:rPr>
              <a:t>Green gradient, black text, hover state with deeper green</a:t>
            </a:r>
          </a:p>
        </p:txBody>
      </p:sp>
      <p:sp>
        <p:nvSpPr>
          <p:cNvPr id="32" name="TextBox 31"/>
          <p:cNvSpPr txBox="1"/>
          <p:nvPr/>
        </p:nvSpPr>
        <p:spPr>
          <a:xfrm>
            <a:off x="457200" y="4919472"/>
            <a:ext cx="2286000" cy="320040"/>
          </a:xfrm>
          <a:prstGeom prst="rect">
            <a:avLst/>
          </a:prstGeom>
          <a:noFill/>
        </p:spPr>
        <p:txBody>
          <a:bodyPr wrap="square">
            <a:spAutoFit/>
          </a:bodyPr>
          <a:lstStyle/>
          <a:p>
            <a:pPr algn="l"/>
            <a:r>
              <a:rPr sz="1050" b="1" i="0">
                <a:solidFill>
                  <a:srgbClr val="F39C12"/>
                </a:solidFill>
              </a:rPr>
              <a:t>DataFrames:</a:t>
            </a:r>
          </a:p>
        </p:txBody>
      </p:sp>
      <p:sp>
        <p:nvSpPr>
          <p:cNvPr id="33" name="TextBox 32"/>
          <p:cNvSpPr txBox="1"/>
          <p:nvPr/>
        </p:nvSpPr>
        <p:spPr>
          <a:xfrm>
            <a:off x="2834640" y="4919472"/>
            <a:ext cx="8869680" cy="320040"/>
          </a:xfrm>
          <a:prstGeom prst="rect">
            <a:avLst/>
          </a:prstGeom>
          <a:noFill/>
        </p:spPr>
        <p:txBody>
          <a:bodyPr wrap="square">
            <a:spAutoFit/>
          </a:bodyPr>
          <a:lstStyle/>
          <a:p>
            <a:pPr algn="l"/>
            <a:r>
              <a:rPr sz="1050" b="0" i="0">
                <a:solidFill>
                  <a:srgbClr val="ECF0F1"/>
                </a:solidFill>
              </a:rPr>
              <a:t>White rows, light gray header, subtle row hover highlight</a:t>
            </a:r>
          </a:p>
        </p:txBody>
      </p:sp>
      <p:sp>
        <p:nvSpPr>
          <p:cNvPr id="34" name="TextBox 33"/>
          <p:cNvSpPr txBox="1"/>
          <p:nvPr/>
        </p:nvSpPr>
        <p:spPr>
          <a:xfrm>
            <a:off x="457200" y="5266944"/>
            <a:ext cx="2286000" cy="320040"/>
          </a:xfrm>
          <a:prstGeom prst="rect">
            <a:avLst/>
          </a:prstGeom>
          <a:noFill/>
        </p:spPr>
        <p:txBody>
          <a:bodyPr wrap="square">
            <a:spAutoFit/>
          </a:bodyPr>
          <a:lstStyle/>
          <a:p>
            <a:pPr algn="l"/>
            <a:r>
              <a:rPr sz="1050" b="1" i="0">
                <a:solidFill>
                  <a:srgbClr val="F39C12"/>
                </a:solidFill>
              </a:rPr>
              <a:t>Text Inputs:</a:t>
            </a:r>
          </a:p>
        </p:txBody>
      </p:sp>
      <p:sp>
        <p:nvSpPr>
          <p:cNvPr id="35" name="TextBox 34"/>
          <p:cNvSpPr txBox="1"/>
          <p:nvPr/>
        </p:nvSpPr>
        <p:spPr>
          <a:xfrm>
            <a:off x="2834640" y="5266944"/>
            <a:ext cx="8869680" cy="320040"/>
          </a:xfrm>
          <a:prstGeom prst="rect">
            <a:avLst/>
          </a:prstGeom>
          <a:noFill/>
        </p:spPr>
        <p:txBody>
          <a:bodyPr wrap="square">
            <a:spAutoFit/>
          </a:bodyPr>
          <a:lstStyle/>
          <a:p>
            <a:pPr algn="l"/>
            <a:r>
              <a:rPr sz="1050" b="0" i="0">
                <a:solidFill>
                  <a:srgbClr val="ECF0F1"/>
                </a:solidFill>
              </a:rPr>
              <a:t>White bg, 2px border, green focus ring on active</a:t>
            </a:r>
          </a:p>
        </p:txBody>
      </p:sp>
      <p:sp>
        <p:nvSpPr>
          <p:cNvPr id="36" name="TextBox 35"/>
          <p:cNvSpPr txBox="1"/>
          <p:nvPr/>
        </p:nvSpPr>
        <p:spPr>
          <a:xfrm>
            <a:off x="457200" y="5614416"/>
            <a:ext cx="2286000" cy="320040"/>
          </a:xfrm>
          <a:prstGeom prst="rect">
            <a:avLst/>
          </a:prstGeom>
          <a:noFill/>
        </p:spPr>
        <p:txBody>
          <a:bodyPr wrap="square">
            <a:spAutoFit/>
          </a:bodyPr>
          <a:lstStyle/>
          <a:p>
            <a:pPr algn="l"/>
            <a:r>
              <a:rPr sz="1050" b="1" i="0">
                <a:solidFill>
                  <a:srgbClr val="F39C12"/>
                </a:solidFill>
              </a:rPr>
              <a:t>Tabs:</a:t>
            </a:r>
          </a:p>
        </p:txBody>
      </p:sp>
      <p:sp>
        <p:nvSpPr>
          <p:cNvPr id="37" name="TextBox 36"/>
          <p:cNvSpPr txBox="1"/>
          <p:nvPr/>
        </p:nvSpPr>
        <p:spPr>
          <a:xfrm>
            <a:off x="2834640" y="5614416"/>
            <a:ext cx="8869680" cy="320040"/>
          </a:xfrm>
          <a:prstGeom prst="rect">
            <a:avLst/>
          </a:prstGeom>
          <a:noFill/>
        </p:spPr>
        <p:txBody>
          <a:bodyPr wrap="square">
            <a:spAutoFit/>
          </a:bodyPr>
          <a:lstStyle/>
          <a:p>
            <a:pPr algn="l"/>
            <a:r>
              <a:rPr sz="1050" b="0" i="0">
                <a:solidFill>
                  <a:srgbClr val="ECF0F1"/>
                </a:solidFill>
              </a:rPr>
              <a:t>Green active tab, white inactive, smooth transitions</a:t>
            </a:r>
          </a:p>
        </p:txBody>
      </p:sp>
      <p:sp>
        <p:nvSpPr>
          <p:cNvPr id="38" name="TextBox 37"/>
          <p:cNvSpPr txBox="1"/>
          <p:nvPr/>
        </p:nvSpPr>
        <p:spPr>
          <a:xfrm>
            <a:off x="457200" y="5961888"/>
            <a:ext cx="2286000" cy="320040"/>
          </a:xfrm>
          <a:prstGeom prst="rect">
            <a:avLst/>
          </a:prstGeom>
          <a:noFill/>
        </p:spPr>
        <p:txBody>
          <a:bodyPr wrap="square">
            <a:spAutoFit/>
          </a:bodyPr>
          <a:lstStyle/>
          <a:p>
            <a:pPr algn="l"/>
            <a:r>
              <a:rPr sz="1050" b="1" i="0">
                <a:solidFill>
                  <a:srgbClr val="F39C12"/>
                </a:solidFill>
              </a:rPr>
              <a:t>Expanders:</a:t>
            </a:r>
          </a:p>
        </p:txBody>
      </p:sp>
      <p:sp>
        <p:nvSpPr>
          <p:cNvPr id="39" name="TextBox 38"/>
          <p:cNvSpPr txBox="1"/>
          <p:nvPr/>
        </p:nvSpPr>
        <p:spPr>
          <a:xfrm>
            <a:off x="2834640" y="5961888"/>
            <a:ext cx="8869680" cy="320040"/>
          </a:xfrm>
          <a:prstGeom prst="rect">
            <a:avLst/>
          </a:prstGeom>
          <a:noFill/>
        </p:spPr>
        <p:txBody>
          <a:bodyPr wrap="square">
            <a:spAutoFit/>
          </a:bodyPr>
          <a:lstStyle/>
          <a:p>
            <a:pPr algn="l"/>
            <a:r>
              <a:rPr sz="1050" b="0" i="0">
                <a:solidFill>
                  <a:srgbClr val="ECF0F1"/>
                </a:solidFill>
              </a:rPr>
              <a:t>White bg, border, hover bg change for better UX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Project File Structure</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Complete codebase organization</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530352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70432"/>
            <a:ext cx="5029200" cy="384048"/>
          </a:xfrm>
          <a:prstGeom prst="rect">
            <a:avLst/>
          </a:prstGeom>
          <a:noFill/>
        </p:spPr>
        <p:txBody>
          <a:bodyPr wrap="square">
            <a:spAutoFit/>
          </a:bodyPr>
          <a:lstStyle/>
          <a:p>
            <a:pPr algn="l"/>
            <a:r>
              <a:rPr sz="1400" b="1" i="0">
                <a:solidFill>
                  <a:srgbClr val="27AE60"/>
                </a:solidFill>
              </a:rPr>
              <a:t>📁  Core Python Modules</a:t>
            </a:r>
          </a:p>
        </p:txBody>
      </p:sp>
      <p:sp>
        <p:nvSpPr>
          <p:cNvPr id="9" name="TextBox 8"/>
          <p:cNvSpPr txBox="1"/>
          <p:nvPr/>
        </p:nvSpPr>
        <p:spPr>
          <a:xfrm>
            <a:off x="457200" y="1627632"/>
            <a:ext cx="2286000" cy="329184"/>
          </a:xfrm>
          <a:prstGeom prst="rect">
            <a:avLst/>
          </a:prstGeom>
          <a:noFill/>
        </p:spPr>
        <p:txBody>
          <a:bodyPr wrap="square">
            <a:spAutoFit/>
          </a:bodyPr>
          <a:lstStyle/>
          <a:p>
            <a:pPr algn="l"/>
            <a:r>
              <a:rPr sz="1000" b="1" i="0">
                <a:solidFill>
                  <a:srgbClr val="F39C12"/>
                </a:solidFill>
              </a:rPr>
              <a:t>app.py</a:t>
            </a:r>
          </a:p>
        </p:txBody>
      </p:sp>
      <p:sp>
        <p:nvSpPr>
          <p:cNvPr id="10" name="TextBox 9"/>
          <p:cNvSpPr txBox="1"/>
          <p:nvPr/>
        </p:nvSpPr>
        <p:spPr>
          <a:xfrm>
            <a:off x="2834640" y="1627632"/>
            <a:ext cx="2560320" cy="329184"/>
          </a:xfrm>
          <a:prstGeom prst="rect">
            <a:avLst/>
          </a:prstGeom>
          <a:noFill/>
        </p:spPr>
        <p:txBody>
          <a:bodyPr wrap="square">
            <a:spAutoFit/>
          </a:bodyPr>
          <a:lstStyle/>
          <a:p>
            <a:pPr algn="l"/>
            <a:r>
              <a:rPr sz="950" b="0" i="0">
                <a:solidFill>
                  <a:srgbClr val="ECF0F1"/>
                </a:solidFill>
              </a:rPr>
              <a:t>Main Streamlit application — all 7 pages</a:t>
            </a:r>
          </a:p>
        </p:txBody>
      </p:sp>
      <p:sp>
        <p:nvSpPr>
          <p:cNvPr id="11" name="TextBox 10"/>
          <p:cNvSpPr txBox="1"/>
          <p:nvPr/>
        </p:nvSpPr>
        <p:spPr>
          <a:xfrm>
            <a:off x="457200" y="2011680"/>
            <a:ext cx="2286000" cy="329184"/>
          </a:xfrm>
          <a:prstGeom prst="rect">
            <a:avLst/>
          </a:prstGeom>
          <a:noFill/>
        </p:spPr>
        <p:txBody>
          <a:bodyPr wrap="square">
            <a:spAutoFit/>
          </a:bodyPr>
          <a:lstStyle/>
          <a:p>
            <a:pPr algn="l"/>
            <a:r>
              <a:rPr sz="1000" b="1" i="0">
                <a:solidFill>
                  <a:srgbClr val="F39C12"/>
                </a:solidFill>
              </a:rPr>
              <a:t>agent.py</a:t>
            </a:r>
          </a:p>
        </p:txBody>
      </p:sp>
      <p:sp>
        <p:nvSpPr>
          <p:cNvPr id="12" name="TextBox 11"/>
          <p:cNvSpPr txBox="1"/>
          <p:nvPr/>
        </p:nvSpPr>
        <p:spPr>
          <a:xfrm>
            <a:off x="2834640" y="2011680"/>
            <a:ext cx="2560320" cy="329184"/>
          </a:xfrm>
          <a:prstGeom prst="rect">
            <a:avLst/>
          </a:prstGeom>
          <a:noFill/>
        </p:spPr>
        <p:txBody>
          <a:bodyPr wrap="square">
            <a:spAutoFit/>
          </a:bodyPr>
          <a:lstStyle/>
          <a:p>
            <a:pPr algn="l"/>
            <a:r>
              <a:rPr sz="950" b="0" i="0">
                <a:solidFill>
                  <a:srgbClr val="ECF0F1"/>
                </a:solidFill>
              </a:rPr>
              <a:t>ReactAgent class — ReAct loop implementation</a:t>
            </a:r>
          </a:p>
        </p:txBody>
      </p:sp>
      <p:sp>
        <p:nvSpPr>
          <p:cNvPr id="13" name="TextBox 12"/>
          <p:cNvSpPr txBox="1"/>
          <p:nvPr/>
        </p:nvSpPr>
        <p:spPr>
          <a:xfrm>
            <a:off x="457200" y="2395728"/>
            <a:ext cx="2286000" cy="329184"/>
          </a:xfrm>
          <a:prstGeom prst="rect">
            <a:avLst/>
          </a:prstGeom>
          <a:noFill/>
        </p:spPr>
        <p:txBody>
          <a:bodyPr wrap="square">
            <a:spAutoFit/>
          </a:bodyPr>
          <a:lstStyle/>
          <a:p>
            <a:pPr algn="l"/>
            <a:r>
              <a:rPr sz="1000" b="1" i="0">
                <a:solidFill>
                  <a:srgbClr val="F39C12"/>
                </a:solidFill>
              </a:rPr>
              <a:t>llm.py</a:t>
            </a:r>
          </a:p>
        </p:txBody>
      </p:sp>
      <p:sp>
        <p:nvSpPr>
          <p:cNvPr id="14" name="TextBox 13"/>
          <p:cNvSpPr txBox="1"/>
          <p:nvPr/>
        </p:nvSpPr>
        <p:spPr>
          <a:xfrm>
            <a:off x="2834640" y="2395728"/>
            <a:ext cx="2560320" cy="329184"/>
          </a:xfrm>
          <a:prstGeom prst="rect">
            <a:avLst/>
          </a:prstGeom>
          <a:noFill/>
        </p:spPr>
        <p:txBody>
          <a:bodyPr wrap="square">
            <a:spAutoFit/>
          </a:bodyPr>
          <a:lstStyle/>
          <a:p>
            <a:pPr algn="l"/>
            <a:r>
              <a:rPr sz="950" b="0" i="0">
                <a:solidFill>
                  <a:srgbClr val="ECF0F1"/>
                </a:solidFill>
              </a:rPr>
              <a:t>LLMManager — Groq API wrapper</a:t>
            </a:r>
          </a:p>
        </p:txBody>
      </p:sp>
      <p:sp>
        <p:nvSpPr>
          <p:cNvPr id="15" name="TextBox 14"/>
          <p:cNvSpPr txBox="1"/>
          <p:nvPr/>
        </p:nvSpPr>
        <p:spPr>
          <a:xfrm>
            <a:off x="457200" y="2779776"/>
            <a:ext cx="2286000" cy="329184"/>
          </a:xfrm>
          <a:prstGeom prst="rect">
            <a:avLst/>
          </a:prstGeom>
          <a:noFill/>
        </p:spPr>
        <p:txBody>
          <a:bodyPr wrap="square">
            <a:spAutoFit/>
          </a:bodyPr>
          <a:lstStyle/>
          <a:p>
            <a:pPr algn="l"/>
            <a:r>
              <a:rPr sz="1000" b="1" i="0">
                <a:solidFill>
                  <a:srgbClr val="F39C12"/>
                </a:solidFill>
              </a:rPr>
              <a:t>docker_manager.py</a:t>
            </a:r>
          </a:p>
        </p:txBody>
      </p:sp>
      <p:sp>
        <p:nvSpPr>
          <p:cNvPr id="16" name="TextBox 15"/>
          <p:cNvSpPr txBox="1"/>
          <p:nvPr/>
        </p:nvSpPr>
        <p:spPr>
          <a:xfrm>
            <a:off x="2834640" y="2779776"/>
            <a:ext cx="2560320" cy="329184"/>
          </a:xfrm>
          <a:prstGeom prst="rect">
            <a:avLst/>
          </a:prstGeom>
          <a:noFill/>
        </p:spPr>
        <p:txBody>
          <a:bodyPr wrap="square">
            <a:spAutoFit/>
          </a:bodyPr>
          <a:lstStyle/>
          <a:p>
            <a:pPr algn="l"/>
            <a:r>
              <a:rPr sz="950" b="0" i="0">
                <a:solidFill>
                  <a:srgbClr val="ECF0F1"/>
                </a:solidFill>
              </a:rPr>
              <a:t>DockerManager — Docker SDK wrapper</a:t>
            </a:r>
          </a:p>
        </p:txBody>
      </p:sp>
      <p:sp>
        <p:nvSpPr>
          <p:cNvPr id="17" name="TextBox 16"/>
          <p:cNvSpPr txBox="1"/>
          <p:nvPr/>
        </p:nvSpPr>
        <p:spPr>
          <a:xfrm>
            <a:off x="457200" y="3163824"/>
            <a:ext cx="2286000" cy="329184"/>
          </a:xfrm>
          <a:prstGeom prst="rect">
            <a:avLst/>
          </a:prstGeom>
          <a:noFill/>
        </p:spPr>
        <p:txBody>
          <a:bodyPr wrap="square">
            <a:spAutoFit/>
          </a:bodyPr>
          <a:lstStyle/>
          <a:p>
            <a:pPr algn="l"/>
            <a:r>
              <a:rPr sz="1000" b="1" i="0">
                <a:solidFill>
                  <a:srgbClr val="F39C12"/>
                </a:solidFill>
              </a:rPr>
              <a:t>database.py</a:t>
            </a:r>
          </a:p>
        </p:txBody>
      </p:sp>
      <p:sp>
        <p:nvSpPr>
          <p:cNvPr id="18" name="TextBox 17"/>
          <p:cNvSpPr txBox="1"/>
          <p:nvPr/>
        </p:nvSpPr>
        <p:spPr>
          <a:xfrm>
            <a:off x="2834640" y="3163824"/>
            <a:ext cx="2560320" cy="329184"/>
          </a:xfrm>
          <a:prstGeom prst="rect">
            <a:avLst/>
          </a:prstGeom>
          <a:noFill/>
        </p:spPr>
        <p:txBody>
          <a:bodyPr wrap="square">
            <a:spAutoFit/>
          </a:bodyPr>
          <a:lstStyle/>
          <a:p>
            <a:pPr algn="l"/>
            <a:r>
              <a:rPr sz="950" b="0" i="0">
                <a:solidFill>
                  <a:srgbClr val="ECF0F1"/>
                </a:solidFill>
              </a:rPr>
              <a:t>Database — SQLite CRUD operations</a:t>
            </a:r>
          </a:p>
        </p:txBody>
      </p:sp>
      <p:sp>
        <p:nvSpPr>
          <p:cNvPr id="19" name="TextBox 18"/>
          <p:cNvSpPr txBox="1"/>
          <p:nvPr/>
        </p:nvSpPr>
        <p:spPr>
          <a:xfrm>
            <a:off x="457200" y="3547872"/>
            <a:ext cx="2286000" cy="329184"/>
          </a:xfrm>
          <a:prstGeom prst="rect">
            <a:avLst/>
          </a:prstGeom>
          <a:noFill/>
        </p:spPr>
        <p:txBody>
          <a:bodyPr wrap="square">
            <a:spAutoFit/>
          </a:bodyPr>
          <a:lstStyle/>
          <a:p>
            <a:pPr algn="l"/>
            <a:r>
              <a:rPr sz="1000" b="1" i="0">
                <a:solidFill>
                  <a:srgbClr val="F39C12"/>
                </a:solidFill>
              </a:rPr>
              <a:t>github_api.py</a:t>
            </a:r>
          </a:p>
        </p:txBody>
      </p:sp>
      <p:sp>
        <p:nvSpPr>
          <p:cNvPr id="20" name="TextBox 19"/>
          <p:cNvSpPr txBox="1"/>
          <p:nvPr/>
        </p:nvSpPr>
        <p:spPr>
          <a:xfrm>
            <a:off x="2834640" y="3547872"/>
            <a:ext cx="2560320" cy="329184"/>
          </a:xfrm>
          <a:prstGeom prst="rect">
            <a:avLst/>
          </a:prstGeom>
          <a:noFill/>
        </p:spPr>
        <p:txBody>
          <a:bodyPr wrap="square">
            <a:spAutoFit/>
          </a:bodyPr>
          <a:lstStyle/>
          <a:p>
            <a:pPr algn="l"/>
            <a:r>
              <a:rPr sz="950" b="0" i="0">
                <a:solidFill>
                  <a:srgbClr val="ECF0F1"/>
                </a:solidFill>
              </a:rPr>
              <a:t>GitHubAPI — REST API client</a:t>
            </a:r>
          </a:p>
        </p:txBody>
      </p:sp>
      <p:sp>
        <p:nvSpPr>
          <p:cNvPr id="21" name="TextBox 20"/>
          <p:cNvSpPr txBox="1"/>
          <p:nvPr/>
        </p:nvSpPr>
        <p:spPr>
          <a:xfrm>
            <a:off x="457200" y="3931920"/>
            <a:ext cx="2286000" cy="329184"/>
          </a:xfrm>
          <a:prstGeom prst="rect">
            <a:avLst/>
          </a:prstGeom>
          <a:noFill/>
        </p:spPr>
        <p:txBody>
          <a:bodyPr wrap="square">
            <a:spAutoFit/>
          </a:bodyPr>
          <a:lstStyle/>
          <a:p>
            <a:pPr algn="l"/>
            <a:r>
              <a:rPr sz="1000" b="1" i="0">
                <a:solidFill>
                  <a:srgbClr val="F39C12"/>
                </a:solidFill>
              </a:rPr>
              <a:t>test_demo.py</a:t>
            </a:r>
          </a:p>
        </p:txBody>
      </p:sp>
      <p:sp>
        <p:nvSpPr>
          <p:cNvPr id="22" name="TextBox 21"/>
          <p:cNvSpPr txBox="1"/>
          <p:nvPr/>
        </p:nvSpPr>
        <p:spPr>
          <a:xfrm>
            <a:off x="2834640" y="3931920"/>
            <a:ext cx="2560320" cy="329184"/>
          </a:xfrm>
          <a:prstGeom prst="rect">
            <a:avLst/>
          </a:prstGeom>
          <a:noFill/>
        </p:spPr>
        <p:txBody>
          <a:bodyPr wrap="square">
            <a:spAutoFit/>
          </a:bodyPr>
          <a:lstStyle/>
          <a:p>
            <a:pPr algn="l"/>
            <a:r>
              <a:rPr sz="950" b="0" i="0">
                <a:solidFill>
                  <a:srgbClr val="ECF0F1"/>
                </a:solidFill>
              </a:rPr>
              <a:t>Demo/test script for validation</a:t>
            </a:r>
          </a:p>
        </p:txBody>
      </p:sp>
      <p:sp>
        <p:nvSpPr>
          <p:cNvPr id="23" name="TextBox 22"/>
          <p:cNvSpPr txBox="1"/>
          <p:nvPr/>
        </p:nvSpPr>
        <p:spPr>
          <a:xfrm>
            <a:off x="457200" y="4315968"/>
            <a:ext cx="2286000" cy="329184"/>
          </a:xfrm>
          <a:prstGeom prst="rect">
            <a:avLst/>
          </a:prstGeom>
          <a:noFill/>
        </p:spPr>
        <p:txBody>
          <a:bodyPr wrap="square">
            <a:spAutoFit/>
          </a:bodyPr>
          <a:lstStyle/>
          <a:p>
            <a:pPr algn="l"/>
            <a:r>
              <a:rPr sz="1000" b="1" i="0">
                <a:solidFill>
                  <a:srgbClr val="F39C12"/>
                </a:solidFill>
              </a:rPr>
              <a:t>create_ppt.py</a:t>
            </a:r>
          </a:p>
        </p:txBody>
      </p:sp>
      <p:sp>
        <p:nvSpPr>
          <p:cNvPr id="24" name="TextBox 23"/>
          <p:cNvSpPr txBox="1"/>
          <p:nvPr/>
        </p:nvSpPr>
        <p:spPr>
          <a:xfrm>
            <a:off x="2834640" y="4315968"/>
            <a:ext cx="2560320" cy="329184"/>
          </a:xfrm>
          <a:prstGeom prst="rect">
            <a:avLst/>
          </a:prstGeom>
          <a:noFill/>
        </p:spPr>
        <p:txBody>
          <a:bodyPr wrap="square">
            <a:spAutoFit/>
          </a:bodyPr>
          <a:lstStyle/>
          <a:p>
            <a:pPr algn="l"/>
            <a:r>
              <a:rPr sz="950" b="0" i="0">
                <a:solidFill>
                  <a:srgbClr val="ECF0F1"/>
                </a:solidFill>
              </a:rPr>
              <a:t>PPT generation script</a:t>
            </a:r>
          </a:p>
        </p:txBody>
      </p:sp>
      <p:sp>
        <p:nvSpPr>
          <p:cNvPr id="25" name="Rectangle 24"/>
          <p:cNvSpPr/>
          <p:nvPr/>
        </p:nvSpPr>
        <p:spPr>
          <a:xfrm>
            <a:off x="5852160" y="1097280"/>
            <a:ext cx="603504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0" y="1170432"/>
            <a:ext cx="5669280" cy="384048"/>
          </a:xfrm>
          <a:prstGeom prst="rect">
            <a:avLst/>
          </a:prstGeom>
          <a:noFill/>
        </p:spPr>
        <p:txBody>
          <a:bodyPr wrap="square">
            <a:spAutoFit/>
          </a:bodyPr>
          <a:lstStyle/>
          <a:p>
            <a:pPr algn="l"/>
            <a:r>
              <a:rPr sz="1400" b="1" i="0">
                <a:solidFill>
                  <a:srgbClr val="27AE60"/>
                </a:solidFill>
              </a:rPr>
              <a:t>📂  Folders &amp; Config Files</a:t>
            </a:r>
          </a:p>
        </p:txBody>
      </p:sp>
      <p:sp>
        <p:nvSpPr>
          <p:cNvPr id="27" name="TextBox 26"/>
          <p:cNvSpPr txBox="1"/>
          <p:nvPr/>
        </p:nvSpPr>
        <p:spPr>
          <a:xfrm>
            <a:off x="6035040" y="1627632"/>
            <a:ext cx="2743200" cy="301752"/>
          </a:xfrm>
          <a:prstGeom prst="rect">
            <a:avLst/>
          </a:prstGeom>
          <a:noFill/>
        </p:spPr>
        <p:txBody>
          <a:bodyPr wrap="square">
            <a:spAutoFit/>
          </a:bodyPr>
          <a:lstStyle/>
          <a:p>
            <a:pPr algn="l"/>
            <a:r>
              <a:rPr sz="950" b="1" i="0">
                <a:solidFill>
                  <a:srgbClr val="F39C12"/>
                </a:solidFill>
              </a:rPr>
              <a:t>.streamlit/config.toml</a:t>
            </a:r>
          </a:p>
        </p:txBody>
      </p:sp>
      <p:sp>
        <p:nvSpPr>
          <p:cNvPr id="28" name="TextBox 27"/>
          <p:cNvSpPr txBox="1"/>
          <p:nvPr/>
        </p:nvSpPr>
        <p:spPr>
          <a:xfrm>
            <a:off x="8869680" y="1627632"/>
            <a:ext cx="2834640" cy="301752"/>
          </a:xfrm>
          <a:prstGeom prst="rect">
            <a:avLst/>
          </a:prstGeom>
          <a:noFill/>
        </p:spPr>
        <p:txBody>
          <a:bodyPr wrap="square">
            <a:spAutoFit/>
          </a:bodyPr>
          <a:lstStyle/>
          <a:p>
            <a:pPr algn="l"/>
            <a:r>
              <a:rPr sz="950" b="0" i="0">
                <a:solidFill>
                  <a:srgbClr val="ECF0F1"/>
                </a:solidFill>
              </a:rPr>
              <a:t>Theme config — forces light mode</a:t>
            </a:r>
          </a:p>
        </p:txBody>
      </p:sp>
      <p:sp>
        <p:nvSpPr>
          <p:cNvPr id="29" name="TextBox 28"/>
          <p:cNvSpPr txBox="1"/>
          <p:nvPr/>
        </p:nvSpPr>
        <p:spPr>
          <a:xfrm>
            <a:off x="6035040" y="1965960"/>
            <a:ext cx="2743200" cy="301752"/>
          </a:xfrm>
          <a:prstGeom prst="rect">
            <a:avLst/>
          </a:prstGeom>
          <a:noFill/>
        </p:spPr>
        <p:txBody>
          <a:bodyPr wrap="square">
            <a:spAutoFit/>
          </a:bodyPr>
          <a:lstStyle/>
          <a:p>
            <a:pPr algn="l"/>
            <a:r>
              <a:rPr sz="950" b="1" i="0">
                <a:solidFill>
                  <a:srgbClr val="F39C12"/>
                </a:solidFill>
              </a:rPr>
              <a:t>.env</a:t>
            </a:r>
          </a:p>
        </p:txBody>
      </p:sp>
      <p:sp>
        <p:nvSpPr>
          <p:cNvPr id="30" name="TextBox 29"/>
          <p:cNvSpPr txBox="1"/>
          <p:nvPr/>
        </p:nvSpPr>
        <p:spPr>
          <a:xfrm>
            <a:off x="8869680" y="1965960"/>
            <a:ext cx="2834640" cy="301752"/>
          </a:xfrm>
          <a:prstGeom prst="rect">
            <a:avLst/>
          </a:prstGeom>
          <a:noFill/>
        </p:spPr>
        <p:txBody>
          <a:bodyPr wrap="square">
            <a:spAutoFit/>
          </a:bodyPr>
          <a:lstStyle/>
          <a:p>
            <a:pPr algn="l"/>
            <a:r>
              <a:rPr sz="950" b="0" i="0">
                <a:solidFill>
                  <a:srgbClr val="ECF0F1"/>
                </a:solidFill>
              </a:rPr>
              <a:t>Environment variables &amp; API keys</a:t>
            </a:r>
          </a:p>
        </p:txBody>
      </p:sp>
      <p:sp>
        <p:nvSpPr>
          <p:cNvPr id="31" name="TextBox 30"/>
          <p:cNvSpPr txBox="1"/>
          <p:nvPr/>
        </p:nvSpPr>
        <p:spPr>
          <a:xfrm>
            <a:off x="6035040" y="2304288"/>
            <a:ext cx="2743200" cy="301752"/>
          </a:xfrm>
          <a:prstGeom prst="rect">
            <a:avLst/>
          </a:prstGeom>
          <a:noFill/>
        </p:spPr>
        <p:txBody>
          <a:bodyPr wrap="square">
            <a:spAutoFit/>
          </a:bodyPr>
          <a:lstStyle/>
          <a:p>
            <a:pPr algn="l"/>
            <a:r>
              <a:rPr sz="950" b="1" i="0">
                <a:solidFill>
                  <a:srgbClr val="F39C12"/>
                </a:solidFill>
              </a:rPr>
              <a:t>.env.example</a:t>
            </a:r>
          </a:p>
        </p:txBody>
      </p:sp>
      <p:sp>
        <p:nvSpPr>
          <p:cNvPr id="32" name="TextBox 31"/>
          <p:cNvSpPr txBox="1"/>
          <p:nvPr/>
        </p:nvSpPr>
        <p:spPr>
          <a:xfrm>
            <a:off x="8869680" y="2304288"/>
            <a:ext cx="2834640" cy="301752"/>
          </a:xfrm>
          <a:prstGeom prst="rect">
            <a:avLst/>
          </a:prstGeom>
          <a:noFill/>
        </p:spPr>
        <p:txBody>
          <a:bodyPr wrap="square">
            <a:spAutoFit/>
          </a:bodyPr>
          <a:lstStyle/>
          <a:p>
            <a:pPr algn="l"/>
            <a:r>
              <a:rPr sz="950" b="0" i="0">
                <a:solidFill>
                  <a:srgbClr val="ECF0F1"/>
                </a:solidFill>
              </a:rPr>
              <a:t>Template for environment setup</a:t>
            </a:r>
          </a:p>
        </p:txBody>
      </p:sp>
      <p:sp>
        <p:nvSpPr>
          <p:cNvPr id="33" name="TextBox 32"/>
          <p:cNvSpPr txBox="1"/>
          <p:nvPr/>
        </p:nvSpPr>
        <p:spPr>
          <a:xfrm>
            <a:off x="6035040" y="2642616"/>
            <a:ext cx="2743200" cy="301752"/>
          </a:xfrm>
          <a:prstGeom prst="rect">
            <a:avLst/>
          </a:prstGeom>
          <a:noFill/>
        </p:spPr>
        <p:txBody>
          <a:bodyPr wrap="square">
            <a:spAutoFit/>
          </a:bodyPr>
          <a:lstStyle/>
          <a:p>
            <a:pPr algn="l"/>
            <a:r>
              <a:rPr sz="950" b="1" i="0">
                <a:solidFill>
                  <a:srgbClr val="F39C12"/>
                </a:solidFill>
              </a:rPr>
              <a:t>requirements.txt</a:t>
            </a:r>
          </a:p>
        </p:txBody>
      </p:sp>
      <p:sp>
        <p:nvSpPr>
          <p:cNvPr id="34" name="TextBox 33"/>
          <p:cNvSpPr txBox="1"/>
          <p:nvPr/>
        </p:nvSpPr>
        <p:spPr>
          <a:xfrm>
            <a:off x="8869680" y="2642616"/>
            <a:ext cx="2834640" cy="301752"/>
          </a:xfrm>
          <a:prstGeom prst="rect">
            <a:avLst/>
          </a:prstGeom>
          <a:noFill/>
        </p:spPr>
        <p:txBody>
          <a:bodyPr wrap="square">
            <a:spAutoFit/>
          </a:bodyPr>
          <a:lstStyle/>
          <a:p>
            <a:pPr algn="l"/>
            <a:r>
              <a:rPr sz="950" b="0" i="0">
                <a:solidFill>
                  <a:srgbClr val="ECF0F1"/>
                </a:solidFill>
              </a:rPr>
              <a:t>Python package dependencies</a:t>
            </a:r>
          </a:p>
        </p:txBody>
      </p:sp>
      <p:sp>
        <p:nvSpPr>
          <p:cNvPr id="35" name="TextBox 34"/>
          <p:cNvSpPr txBox="1"/>
          <p:nvPr/>
        </p:nvSpPr>
        <p:spPr>
          <a:xfrm>
            <a:off x="6035040" y="2980944"/>
            <a:ext cx="2743200" cy="301752"/>
          </a:xfrm>
          <a:prstGeom prst="rect">
            <a:avLst/>
          </a:prstGeom>
          <a:noFill/>
        </p:spPr>
        <p:txBody>
          <a:bodyPr wrap="square">
            <a:spAutoFit/>
          </a:bodyPr>
          <a:lstStyle/>
          <a:p>
            <a:pPr algn="l"/>
            <a:r>
              <a:rPr sz="950" b="1" i="0">
                <a:solidFill>
                  <a:srgbClr val="F39C12"/>
                </a:solidFill>
              </a:rPr>
              <a:t>Dockerfile</a:t>
            </a:r>
          </a:p>
        </p:txBody>
      </p:sp>
      <p:sp>
        <p:nvSpPr>
          <p:cNvPr id="36" name="TextBox 35"/>
          <p:cNvSpPr txBox="1"/>
          <p:nvPr/>
        </p:nvSpPr>
        <p:spPr>
          <a:xfrm>
            <a:off x="8869680" y="2980944"/>
            <a:ext cx="2834640" cy="301752"/>
          </a:xfrm>
          <a:prstGeom prst="rect">
            <a:avLst/>
          </a:prstGeom>
          <a:noFill/>
        </p:spPr>
        <p:txBody>
          <a:bodyPr wrap="square">
            <a:spAutoFit/>
          </a:bodyPr>
          <a:lstStyle/>
          <a:p>
            <a:pPr algn="l"/>
            <a:r>
              <a:rPr sz="950" b="0" i="0">
                <a:solidFill>
                  <a:srgbClr val="ECF0F1"/>
                </a:solidFill>
              </a:rPr>
              <a:t>Container build instructions</a:t>
            </a:r>
          </a:p>
        </p:txBody>
      </p:sp>
      <p:sp>
        <p:nvSpPr>
          <p:cNvPr id="37" name="TextBox 36"/>
          <p:cNvSpPr txBox="1"/>
          <p:nvPr/>
        </p:nvSpPr>
        <p:spPr>
          <a:xfrm>
            <a:off x="6035040" y="3319272"/>
            <a:ext cx="2743200" cy="301752"/>
          </a:xfrm>
          <a:prstGeom prst="rect">
            <a:avLst/>
          </a:prstGeom>
          <a:noFill/>
        </p:spPr>
        <p:txBody>
          <a:bodyPr wrap="square">
            <a:spAutoFit/>
          </a:bodyPr>
          <a:lstStyle/>
          <a:p>
            <a:pPr algn="l"/>
            <a:r>
              <a:rPr sz="950" b="1" i="0">
                <a:solidFill>
                  <a:srgbClr val="F39C12"/>
                </a:solidFill>
              </a:rPr>
              <a:t>docker-compose.yml</a:t>
            </a:r>
          </a:p>
        </p:txBody>
      </p:sp>
      <p:sp>
        <p:nvSpPr>
          <p:cNvPr id="38" name="TextBox 37"/>
          <p:cNvSpPr txBox="1"/>
          <p:nvPr/>
        </p:nvSpPr>
        <p:spPr>
          <a:xfrm>
            <a:off x="8869680" y="3319272"/>
            <a:ext cx="2834640" cy="301752"/>
          </a:xfrm>
          <a:prstGeom prst="rect">
            <a:avLst/>
          </a:prstGeom>
          <a:noFill/>
        </p:spPr>
        <p:txBody>
          <a:bodyPr wrap="square">
            <a:spAutoFit/>
          </a:bodyPr>
          <a:lstStyle/>
          <a:p>
            <a:pPr algn="l"/>
            <a:r>
              <a:rPr sz="950" b="0" i="0">
                <a:solidFill>
                  <a:srgbClr val="ECF0F1"/>
                </a:solidFill>
              </a:rPr>
              <a:t>Multi-service orchestration</a:t>
            </a:r>
          </a:p>
        </p:txBody>
      </p:sp>
      <p:sp>
        <p:nvSpPr>
          <p:cNvPr id="39" name="TextBox 38"/>
          <p:cNvSpPr txBox="1"/>
          <p:nvPr/>
        </p:nvSpPr>
        <p:spPr>
          <a:xfrm>
            <a:off x="6035040" y="3657600"/>
            <a:ext cx="2743200" cy="301752"/>
          </a:xfrm>
          <a:prstGeom prst="rect">
            <a:avLst/>
          </a:prstGeom>
          <a:noFill/>
        </p:spPr>
        <p:txBody>
          <a:bodyPr wrap="square">
            <a:spAutoFit/>
          </a:bodyPr>
          <a:lstStyle/>
          <a:p>
            <a:pPr algn="l"/>
            <a:r>
              <a:rPr sz="950" b="1" i="0">
                <a:solidFill>
                  <a:srgbClr val="F39C12"/>
                </a:solidFill>
              </a:rPr>
              <a:t>data/dashboard.db</a:t>
            </a:r>
          </a:p>
        </p:txBody>
      </p:sp>
      <p:sp>
        <p:nvSpPr>
          <p:cNvPr id="40" name="TextBox 39"/>
          <p:cNvSpPr txBox="1"/>
          <p:nvPr/>
        </p:nvSpPr>
        <p:spPr>
          <a:xfrm>
            <a:off x="8869680" y="3657600"/>
            <a:ext cx="2834640" cy="301752"/>
          </a:xfrm>
          <a:prstGeom prst="rect">
            <a:avLst/>
          </a:prstGeom>
          <a:noFill/>
        </p:spPr>
        <p:txBody>
          <a:bodyPr wrap="square">
            <a:spAutoFit/>
          </a:bodyPr>
          <a:lstStyle/>
          <a:p>
            <a:pPr algn="l"/>
            <a:r>
              <a:rPr sz="950" b="0" i="0">
                <a:solidFill>
                  <a:srgbClr val="ECF0F1"/>
                </a:solidFill>
              </a:rPr>
              <a:t>SQLite database file</a:t>
            </a:r>
          </a:p>
        </p:txBody>
      </p:sp>
      <p:sp>
        <p:nvSpPr>
          <p:cNvPr id="41" name="TextBox 40"/>
          <p:cNvSpPr txBox="1"/>
          <p:nvPr/>
        </p:nvSpPr>
        <p:spPr>
          <a:xfrm>
            <a:off x="6035040" y="3995928"/>
            <a:ext cx="2743200" cy="301752"/>
          </a:xfrm>
          <a:prstGeom prst="rect">
            <a:avLst/>
          </a:prstGeom>
          <a:noFill/>
        </p:spPr>
        <p:txBody>
          <a:bodyPr wrap="square">
            <a:spAutoFit/>
          </a:bodyPr>
          <a:lstStyle/>
          <a:p>
            <a:pPr algn="l"/>
            <a:r>
              <a:rPr sz="950" b="1" i="0">
                <a:solidFill>
                  <a:srgbClr val="F39C12"/>
                </a:solidFill>
              </a:rPr>
              <a:t>logs/prompt_log.txt</a:t>
            </a:r>
          </a:p>
        </p:txBody>
      </p:sp>
      <p:sp>
        <p:nvSpPr>
          <p:cNvPr id="42" name="TextBox 41"/>
          <p:cNvSpPr txBox="1"/>
          <p:nvPr/>
        </p:nvSpPr>
        <p:spPr>
          <a:xfrm>
            <a:off x="8869680" y="3995928"/>
            <a:ext cx="2834640" cy="301752"/>
          </a:xfrm>
          <a:prstGeom prst="rect">
            <a:avLst/>
          </a:prstGeom>
          <a:noFill/>
        </p:spPr>
        <p:txBody>
          <a:bodyPr wrap="square">
            <a:spAutoFit/>
          </a:bodyPr>
          <a:lstStyle/>
          <a:p>
            <a:pPr algn="l"/>
            <a:r>
              <a:rPr sz="950" b="0" i="0">
                <a:solidFill>
                  <a:srgbClr val="ECF0F1"/>
                </a:solidFill>
              </a:rPr>
              <a:t>Text-based prompt log file</a:t>
            </a:r>
          </a:p>
        </p:txBody>
      </p:sp>
      <p:sp>
        <p:nvSpPr>
          <p:cNvPr id="43" name="TextBox 42"/>
          <p:cNvSpPr txBox="1"/>
          <p:nvPr/>
        </p:nvSpPr>
        <p:spPr>
          <a:xfrm>
            <a:off x="6035040" y="4334256"/>
            <a:ext cx="2743200" cy="301752"/>
          </a:xfrm>
          <a:prstGeom prst="rect">
            <a:avLst/>
          </a:prstGeom>
          <a:noFill/>
        </p:spPr>
        <p:txBody>
          <a:bodyPr wrap="square">
            <a:spAutoFit/>
          </a:bodyPr>
          <a:lstStyle/>
          <a:p>
            <a:pPr algn="l"/>
            <a:r>
              <a:rPr sz="950" b="1" i="0">
                <a:solidFill>
                  <a:srgbClr val="F39C12"/>
                </a:solidFill>
              </a:rPr>
              <a:t>prompts/system_prompt.txt</a:t>
            </a:r>
          </a:p>
        </p:txBody>
      </p:sp>
      <p:sp>
        <p:nvSpPr>
          <p:cNvPr id="44" name="TextBox 43"/>
          <p:cNvSpPr txBox="1"/>
          <p:nvPr/>
        </p:nvSpPr>
        <p:spPr>
          <a:xfrm>
            <a:off x="8869680" y="4334256"/>
            <a:ext cx="2834640" cy="301752"/>
          </a:xfrm>
          <a:prstGeom prst="rect">
            <a:avLst/>
          </a:prstGeom>
          <a:noFill/>
        </p:spPr>
        <p:txBody>
          <a:bodyPr wrap="square">
            <a:spAutoFit/>
          </a:bodyPr>
          <a:lstStyle/>
          <a:p>
            <a:pPr algn="l"/>
            <a:r>
              <a:rPr sz="950" b="0" i="0">
                <a:solidFill>
                  <a:srgbClr val="ECF0F1"/>
                </a:solidFill>
              </a:rPr>
              <a:t>AI system prompt template</a:t>
            </a:r>
          </a:p>
        </p:txBody>
      </p:sp>
      <p:sp>
        <p:nvSpPr>
          <p:cNvPr id="45" name="TextBox 44"/>
          <p:cNvSpPr txBox="1"/>
          <p:nvPr/>
        </p:nvSpPr>
        <p:spPr>
          <a:xfrm>
            <a:off x="6035040" y="4672584"/>
            <a:ext cx="2743200" cy="301752"/>
          </a:xfrm>
          <a:prstGeom prst="rect">
            <a:avLst/>
          </a:prstGeom>
          <a:noFill/>
        </p:spPr>
        <p:txBody>
          <a:bodyPr wrap="square">
            <a:spAutoFit/>
          </a:bodyPr>
          <a:lstStyle/>
          <a:p>
            <a:pPr algn="l"/>
            <a:r>
              <a:rPr sz="950" b="1" i="0">
                <a:solidFill>
                  <a:srgbClr val="F39C12"/>
                </a:solidFill>
              </a:rPr>
              <a:t>start.bat</a:t>
            </a:r>
          </a:p>
        </p:txBody>
      </p:sp>
      <p:sp>
        <p:nvSpPr>
          <p:cNvPr id="46" name="TextBox 45"/>
          <p:cNvSpPr txBox="1"/>
          <p:nvPr/>
        </p:nvSpPr>
        <p:spPr>
          <a:xfrm>
            <a:off x="8869680" y="4672584"/>
            <a:ext cx="2834640" cy="301752"/>
          </a:xfrm>
          <a:prstGeom prst="rect">
            <a:avLst/>
          </a:prstGeom>
          <a:noFill/>
        </p:spPr>
        <p:txBody>
          <a:bodyPr wrap="square">
            <a:spAutoFit/>
          </a:bodyPr>
          <a:lstStyle/>
          <a:p>
            <a:pPr algn="l"/>
            <a:r>
              <a:rPr sz="950" b="0" i="0">
                <a:solidFill>
                  <a:srgbClr val="ECF0F1"/>
                </a:solidFill>
              </a:rPr>
              <a:t>Windows quick-start script</a:t>
            </a:r>
          </a:p>
        </p:txBody>
      </p:sp>
      <p:sp>
        <p:nvSpPr>
          <p:cNvPr id="47" name="TextBox 46"/>
          <p:cNvSpPr txBox="1"/>
          <p:nvPr/>
        </p:nvSpPr>
        <p:spPr>
          <a:xfrm>
            <a:off x="6035040" y="5010912"/>
            <a:ext cx="2743200" cy="301752"/>
          </a:xfrm>
          <a:prstGeom prst="rect">
            <a:avLst/>
          </a:prstGeom>
          <a:noFill/>
        </p:spPr>
        <p:txBody>
          <a:bodyPr wrap="square">
            <a:spAutoFit/>
          </a:bodyPr>
          <a:lstStyle/>
          <a:p>
            <a:pPr algn="l"/>
            <a:r>
              <a:rPr sz="950" b="1" i="0">
                <a:solidFill>
                  <a:srgbClr val="F39C12"/>
                </a:solidFill>
              </a:rPr>
              <a:t>start.sh</a:t>
            </a:r>
          </a:p>
        </p:txBody>
      </p:sp>
      <p:sp>
        <p:nvSpPr>
          <p:cNvPr id="48" name="TextBox 47"/>
          <p:cNvSpPr txBox="1"/>
          <p:nvPr/>
        </p:nvSpPr>
        <p:spPr>
          <a:xfrm>
            <a:off x="8869680" y="5010912"/>
            <a:ext cx="2834640" cy="301752"/>
          </a:xfrm>
          <a:prstGeom prst="rect">
            <a:avLst/>
          </a:prstGeom>
          <a:noFill/>
        </p:spPr>
        <p:txBody>
          <a:bodyPr wrap="square">
            <a:spAutoFit/>
          </a:bodyPr>
          <a:lstStyle/>
          <a:p>
            <a:pPr algn="l"/>
            <a:r>
              <a:rPr sz="950" b="0" i="0">
                <a:solidFill>
                  <a:srgbClr val="ECF0F1"/>
                </a:solidFill>
              </a:rPr>
              <a:t>Linux/Mac quick-start script</a:t>
            </a:r>
          </a:p>
        </p:txBody>
      </p:sp>
      <p:sp>
        <p:nvSpPr>
          <p:cNvPr id="49" name="TextBox 48"/>
          <p:cNvSpPr txBox="1"/>
          <p:nvPr/>
        </p:nvSpPr>
        <p:spPr>
          <a:xfrm>
            <a:off x="6035040" y="5349240"/>
            <a:ext cx="2743200" cy="301752"/>
          </a:xfrm>
          <a:prstGeom prst="rect">
            <a:avLst/>
          </a:prstGeom>
          <a:noFill/>
        </p:spPr>
        <p:txBody>
          <a:bodyPr wrap="square">
            <a:spAutoFit/>
          </a:bodyPr>
          <a:lstStyle/>
          <a:p>
            <a:pPr algn="l"/>
            <a:r>
              <a:rPr sz="950" b="1" i="0">
                <a:solidFill>
                  <a:srgbClr val="F39C12"/>
                </a:solidFill>
              </a:rPr>
              <a:t>README.md</a:t>
            </a:r>
          </a:p>
        </p:txBody>
      </p:sp>
      <p:sp>
        <p:nvSpPr>
          <p:cNvPr id="50" name="TextBox 49"/>
          <p:cNvSpPr txBox="1"/>
          <p:nvPr/>
        </p:nvSpPr>
        <p:spPr>
          <a:xfrm>
            <a:off x="8869680" y="5349240"/>
            <a:ext cx="2834640" cy="301752"/>
          </a:xfrm>
          <a:prstGeom prst="rect">
            <a:avLst/>
          </a:prstGeom>
          <a:noFill/>
        </p:spPr>
        <p:txBody>
          <a:bodyPr wrap="square">
            <a:spAutoFit/>
          </a:bodyPr>
          <a:lstStyle/>
          <a:p>
            <a:pPr algn="l"/>
            <a:r>
              <a:rPr sz="950" b="0" i="0">
                <a:solidFill>
                  <a:srgbClr val="ECF0F1"/>
                </a:solidFill>
              </a:rPr>
              <a:t>Full documentation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Deployment Guide</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Two ways to run the application</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539496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70432"/>
            <a:ext cx="5120640" cy="384048"/>
          </a:xfrm>
          <a:prstGeom prst="rect">
            <a:avLst/>
          </a:prstGeom>
          <a:noFill/>
        </p:spPr>
        <p:txBody>
          <a:bodyPr wrap="square">
            <a:spAutoFit/>
          </a:bodyPr>
          <a:lstStyle/>
          <a:p>
            <a:pPr algn="l"/>
            <a:r>
              <a:rPr sz="1400" b="1" i="0">
                <a:solidFill>
                  <a:srgbClr val="27AE60"/>
                </a:solidFill>
              </a:rPr>
              <a:t>🐍  Option 1: Local Python</a:t>
            </a:r>
          </a:p>
        </p:txBody>
      </p:sp>
      <p:sp>
        <p:nvSpPr>
          <p:cNvPr id="9" name="TextBox 8"/>
          <p:cNvSpPr txBox="1"/>
          <p:nvPr/>
        </p:nvSpPr>
        <p:spPr>
          <a:xfrm>
            <a:off x="457200" y="1600200"/>
            <a:ext cx="5120640" cy="320040"/>
          </a:xfrm>
          <a:prstGeom prst="rect">
            <a:avLst/>
          </a:prstGeom>
          <a:noFill/>
        </p:spPr>
        <p:txBody>
          <a:bodyPr wrap="square">
            <a:spAutoFit/>
          </a:bodyPr>
          <a:lstStyle/>
          <a:p>
            <a:pPr algn="l"/>
            <a:r>
              <a:rPr sz="1100" b="0" i="1">
                <a:solidFill>
                  <a:srgbClr val="7F8C8D"/>
                </a:solidFill>
              </a:rPr>
              <a:t>Recommended for development</a:t>
            </a:r>
          </a:p>
        </p:txBody>
      </p:sp>
      <p:sp>
        <p:nvSpPr>
          <p:cNvPr id="10" name="TextBox 9"/>
          <p:cNvSpPr txBox="1"/>
          <p:nvPr/>
        </p:nvSpPr>
        <p:spPr>
          <a:xfrm>
            <a:off x="457200" y="1965960"/>
            <a:ext cx="5120640" cy="292608"/>
          </a:xfrm>
          <a:prstGeom prst="rect">
            <a:avLst/>
          </a:prstGeom>
          <a:noFill/>
        </p:spPr>
        <p:txBody>
          <a:bodyPr wrap="square">
            <a:spAutoFit/>
          </a:bodyPr>
          <a:lstStyle/>
          <a:p>
            <a:pPr algn="l"/>
            <a:r>
              <a:rPr sz="1000" b="0" i="0">
                <a:solidFill>
                  <a:srgbClr val="F39C12"/>
                </a:solidFill>
              </a:rPr>
              <a:t>Step 1: Install dependencies</a:t>
            </a:r>
          </a:p>
        </p:txBody>
      </p:sp>
      <p:sp>
        <p:nvSpPr>
          <p:cNvPr id="11" name="TextBox 10"/>
          <p:cNvSpPr txBox="1"/>
          <p:nvPr/>
        </p:nvSpPr>
        <p:spPr>
          <a:xfrm>
            <a:off x="457200" y="2258568"/>
            <a:ext cx="5120640" cy="292608"/>
          </a:xfrm>
          <a:prstGeom prst="rect">
            <a:avLst/>
          </a:prstGeom>
          <a:noFill/>
        </p:spPr>
        <p:txBody>
          <a:bodyPr wrap="square">
            <a:spAutoFit/>
          </a:bodyPr>
          <a:lstStyle/>
          <a:p>
            <a:pPr algn="l"/>
            <a:r>
              <a:rPr sz="1000" b="0" i="0">
                <a:solidFill>
                  <a:srgbClr val="F39C12"/>
                </a:solidFill>
              </a:rPr>
              <a:t>  pip install -r requirements.txt</a:t>
            </a:r>
          </a:p>
        </p:txBody>
      </p:sp>
      <p:sp>
        <p:nvSpPr>
          <p:cNvPr id="12" name="TextBox 11"/>
          <p:cNvSpPr txBox="1"/>
          <p:nvPr/>
        </p:nvSpPr>
        <p:spPr>
          <a:xfrm>
            <a:off x="457200" y="2551175"/>
            <a:ext cx="5120640" cy="292608"/>
          </a:xfrm>
          <a:prstGeom prst="rect">
            <a:avLst/>
          </a:prstGeom>
          <a:noFill/>
        </p:spPr>
        <p:txBody>
          <a:bodyPr wrap="square">
            <a:spAutoFit/>
          </a:bodyPr>
          <a:lstStyle/>
          <a:p>
            <a:pPr algn="l"/>
            <a:r>
              <a:rPr sz="1000" b="0" i="0">
                <a:solidFill>
                  <a:srgbClr val="ECF0F1"/>
                </a:solidFill>
              </a:rPr>
              <a:t/>
            </a:r>
          </a:p>
        </p:txBody>
      </p:sp>
      <p:sp>
        <p:nvSpPr>
          <p:cNvPr id="13" name="TextBox 12"/>
          <p:cNvSpPr txBox="1"/>
          <p:nvPr/>
        </p:nvSpPr>
        <p:spPr>
          <a:xfrm>
            <a:off x="457200" y="2843783"/>
            <a:ext cx="5120640" cy="292608"/>
          </a:xfrm>
          <a:prstGeom prst="rect">
            <a:avLst/>
          </a:prstGeom>
          <a:noFill/>
        </p:spPr>
        <p:txBody>
          <a:bodyPr wrap="square">
            <a:spAutoFit/>
          </a:bodyPr>
          <a:lstStyle/>
          <a:p>
            <a:pPr algn="l"/>
            <a:r>
              <a:rPr sz="1000" b="0" i="0">
                <a:solidFill>
                  <a:srgbClr val="F39C12"/>
                </a:solidFill>
              </a:rPr>
              <a:t>Step 2: Set environment variables</a:t>
            </a:r>
          </a:p>
        </p:txBody>
      </p:sp>
      <p:sp>
        <p:nvSpPr>
          <p:cNvPr id="14" name="TextBox 13"/>
          <p:cNvSpPr txBox="1"/>
          <p:nvPr/>
        </p:nvSpPr>
        <p:spPr>
          <a:xfrm>
            <a:off x="457200" y="3136391"/>
            <a:ext cx="5120640" cy="292608"/>
          </a:xfrm>
          <a:prstGeom prst="rect">
            <a:avLst/>
          </a:prstGeom>
          <a:noFill/>
        </p:spPr>
        <p:txBody>
          <a:bodyPr wrap="square">
            <a:spAutoFit/>
          </a:bodyPr>
          <a:lstStyle/>
          <a:p>
            <a:pPr algn="l"/>
            <a:r>
              <a:rPr sz="1000" b="0" i="0">
                <a:solidFill>
                  <a:srgbClr val="F39C12"/>
                </a:solidFill>
              </a:rPr>
              <a:t>  Copy .env.example to .env</a:t>
            </a:r>
          </a:p>
        </p:txBody>
      </p:sp>
      <p:sp>
        <p:nvSpPr>
          <p:cNvPr id="15" name="TextBox 14"/>
          <p:cNvSpPr txBox="1"/>
          <p:nvPr/>
        </p:nvSpPr>
        <p:spPr>
          <a:xfrm>
            <a:off x="457200" y="3428999"/>
            <a:ext cx="5120640" cy="292608"/>
          </a:xfrm>
          <a:prstGeom prst="rect">
            <a:avLst/>
          </a:prstGeom>
          <a:noFill/>
        </p:spPr>
        <p:txBody>
          <a:bodyPr wrap="square">
            <a:spAutoFit/>
          </a:bodyPr>
          <a:lstStyle/>
          <a:p>
            <a:pPr algn="l"/>
            <a:r>
              <a:rPr sz="1000" b="0" i="0">
                <a:solidFill>
                  <a:srgbClr val="F39C12"/>
                </a:solidFill>
              </a:rPr>
              <a:t>  Add your GROQ_API_KEY</a:t>
            </a:r>
          </a:p>
        </p:txBody>
      </p:sp>
      <p:sp>
        <p:nvSpPr>
          <p:cNvPr id="16" name="TextBox 15"/>
          <p:cNvSpPr txBox="1"/>
          <p:nvPr/>
        </p:nvSpPr>
        <p:spPr>
          <a:xfrm>
            <a:off x="457200" y="3721607"/>
            <a:ext cx="5120640" cy="292608"/>
          </a:xfrm>
          <a:prstGeom prst="rect">
            <a:avLst/>
          </a:prstGeom>
          <a:noFill/>
        </p:spPr>
        <p:txBody>
          <a:bodyPr wrap="square">
            <a:spAutoFit/>
          </a:bodyPr>
          <a:lstStyle/>
          <a:p>
            <a:pPr algn="l"/>
            <a:r>
              <a:rPr sz="1000" b="0" i="0">
                <a:solidFill>
                  <a:srgbClr val="ECF0F1"/>
                </a:solidFill>
              </a:rPr>
              <a:t/>
            </a:r>
          </a:p>
        </p:txBody>
      </p:sp>
      <p:sp>
        <p:nvSpPr>
          <p:cNvPr id="17" name="TextBox 16"/>
          <p:cNvSpPr txBox="1"/>
          <p:nvPr/>
        </p:nvSpPr>
        <p:spPr>
          <a:xfrm>
            <a:off x="457200" y="4014215"/>
            <a:ext cx="5120640" cy="292608"/>
          </a:xfrm>
          <a:prstGeom prst="rect">
            <a:avLst/>
          </a:prstGeom>
          <a:noFill/>
        </p:spPr>
        <p:txBody>
          <a:bodyPr wrap="square">
            <a:spAutoFit/>
          </a:bodyPr>
          <a:lstStyle/>
          <a:p>
            <a:pPr algn="l"/>
            <a:r>
              <a:rPr sz="1000" b="0" i="0">
                <a:solidFill>
                  <a:srgbClr val="F39C12"/>
                </a:solidFill>
              </a:rPr>
              <a:t>Step 3: Run the app</a:t>
            </a:r>
          </a:p>
        </p:txBody>
      </p:sp>
      <p:sp>
        <p:nvSpPr>
          <p:cNvPr id="18" name="TextBox 17"/>
          <p:cNvSpPr txBox="1"/>
          <p:nvPr/>
        </p:nvSpPr>
        <p:spPr>
          <a:xfrm>
            <a:off x="457200" y="4306824"/>
            <a:ext cx="5120640" cy="292608"/>
          </a:xfrm>
          <a:prstGeom prst="rect">
            <a:avLst/>
          </a:prstGeom>
          <a:noFill/>
        </p:spPr>
        <p:txBody>
          <a:bodyPr wrap="square">
            <a:spAutoFit/>
          </a:bodyPr>
          <a:lstStyle/>
          <a:p>
            <a:pPr algn="l"/>
            <a:r>
              <a:rPr sz="1000" b="0" i="0">
                <a:solidFill>
                  <a:srgbClr val="F39C12"/>
                </a:solidFill>
              </a:rPr>
              <a:t>  streamlit run app.py</a:t>
            </a:r>
          </a:p>
        </p:txBody>
      </p:sp>
      <p:sp>
        <p:nvSpPr>
          <p:cNvPr id="19" name="TextBox 18"/>
          <p:cNvSpPr txBox="1"/>
          <p:nvPr/>
        </p:nvSpPr>
        <p:spPr>
          <a:xfrm>
            <a:off x="457200" y="4599432"/>
            <a:ext cx="5120640" cy="292608"/>
          </a:xfrm>
          <a:prstGeom prst="rect">
            <a:avLst/>
          </a:prstGeom>
          <a:noFill/>
        </p:spPr>
        <p:txBody>
          <a:bodyPr wrap="square">
            <a:spAutoFit/>
          </a:bodyPr>
          <a:lstStyle/>
          <a:p>
            <a:pPr algn="l"/>
            <a:r>
              <a:rPr sz="1000" b="0" i="0">
                <a:solidFill>
                  <a:srgbClr val="ECF0F1"/>
                </a:solidFill>
              </a:rPr>
              <a:t/>
            </a:r>
          </a:p>
        </p:txBody>
      </p:sp>
      <p:sp>
        <p:nvSpPr>
          <p:cNvPr id="20" name="TextBox 19"/>
          <p:cNvSpPr txBox="1"/>
          <p:nvPr/>
        </p:nvSpPr>
        <p:spPr>
          <a:xfrm>
            <a:off x="457200" y="4892040"/>
            <a:ext cx="5120640" cy="292608"/>
          </a:xfrm>
          <a:prstGeom prst="rect">
            <a:avLst/>
          </a:prstGeom>
          <a:noFill/>
        </p:spPr>
        <p:txBody>
          <a:bodyPr wrap="square">
            <a:spAutoFit/>
          </a:bodyPr>
          <a:lstStyle/>
          <a:p>
            <a:pPr algn="l"/>
            <a:r>
              <a:rPr sz="1000" b="0" i="0">
                <a:solidFill>
                  <a:srgbClr val="F39C12"/>
                </a:solidFill>
              </a:rPr>
              <a:t>Step 4: Open browser</a:t>
            </a:r>
          </a:p>
        </p:txBody>
      </p:sp>
      <p:sp>
        <p:nvSpPr>
          <p:cNvPr id="21" name="TextBox 20"/>
          <p:cNvSpPr txBox="1"/>
          <p:nvPr/>
        </p:nvSpPr>
        <p:spPr>
          <a:xfrm>
            <a:off x="457200" y="5184648"/>
            <a:ext cx="5120640" cy="292608"/>
          </a:xfrm>
          <a:prstGeom prst="rect">
            <a:avLst/>
          </a:prstGeom>
          <a:noFill/>
        </p:spPr>
        <p:txBody>
          <a:bodyPr wrap="square">
            <a:spAutoFit/>
          </a:bodyPr>
          <a:lstStyle/>
          <a:p>
            <a:pPr algn="l"/>
            <a:r>
              <a:rPr sz="1000" b="0" i="0">
                <a:solidFill>
                  <a:srgbClr val="F39C12"/>
                </a:solidFill>
              </a:rPr>
              <a:t>  http://localhost:8501</a:t>
            </a:r>
          </a:p>
        </p:txBody>
      </p:sp>
      <p:sp>
        <p:nvSpPr>
          <p:cNvPr id="22" name="TextBox 21"/>
          <p:cNvSpPr txBox="1"/>
          <p:nvPr/>
        </p:nvSpPr>
        <p:spPr>
          <a:xfrm>
            <a:off x="457200" y="5477256"/>
            <a:ext cx="5120640" cy="292608"/>
          </a:xfrm>
          <a:prstGeom prst="rect">
            <a:avLst/>
          </a:prstGeom>
          <a:noFill/>
        </p:spPr>
        <p:txBody>
          <a:bodyPr wrap="square">
            <a:spAutoFit/>
          </a:bodyPr>
          <a:lstStyle/>
          <a:p>
            <a:pPr algn="l"/>
            <a:r>
              <a:rPr sz="1000" b="0" i="0">
                <a:solidFill>
                  <a:srgbClr val="ECF0F1"/>
                </a:solidFill>
              </a:rPr>
              <a:t/>
            </a:r>
          </a:p>
        </p:txBody>
      </p:sp>
      <p:sp>
        <p:nvSpPr>
          <p:cNvPr id="23" name="TextBox 22"/>
          <p:cNvSpPr txBox="1"/>
          <p:nvPr/>
        </p:nvSpPr>
        <p:spPr>
          <a:xfrm>
            <a:off x="457200" y="5769864"/>
            <a:ext cx="5120640" cy="292608"/>
          </a:xfrm>
          <a:prstGeom prst="rect">
            <a:avLst/>
          </a:prstGeom>
          <a:noFill/>
        </p:spPr>
        <p:txBody>
          <a:bodyPr wrap="square">
            <a:spAutoFit/>
          </a:bodyPr>
          <a:lstStyle/>
          <a:p>
            <a:pPr algn="l"/>
            <a:r>
              <a:rPr sz="1000" b="0" i="0">
                <a:solidFill>
                  <a:srgbClr val="ECF0F1"/>
                </a:solidFill>
              </a:rPr>
              <a:t>Requirements:</a:t>
            </a:r>
          </a:p>
        </p:txBody>
      </p:sp>
      <p:sp>
        <p:nvSpPr>
          <p:cNvPr id="24" name="TextBox 23"/>
          <p:cNvSpPr txBox="1"/>
          <p:nvPr/>
        </p:nvSpPr>
        <p:spPr>
          <a:xfrm>
            <a:off x="457200" y="6062472"/>
            <a:ext cx="5120640" cy="292608"/>
          </a:xfrm>
          <a:prstGeom prst="rect">
            <a:avLst/>
          </a:prstGeom>
          <a:noFill/>
        </p:spPr>
        <p:txBody>
          <a:bodyPr wrap="square">
            <a:spAutoFit/>
          </a:bodyPr>
          <a:lstStyle/>
          <a:p>
            <a:pPr algn="l"/>
            <a:r>
              <a:rPr sz="1000" b="0" i="0">
                <a:solidFill>
                  <a:srgbClr val="ECF0F1"/>
                </a:solidFill>
              </a:rPr>
              <a:t>  • Python 3.12 or 3.13</a:t>
            </a:r>
          </a:p>
        </p:txBody>
      </p:sp>
      <p:sp>
        <p:nvSpPr>
          <p:cNvPr id="25" name="TextBox 24"/>
          <p:cNvSpPr txBox="1"/>
          <p:nvPr/>
        </p:nvSpPr>
        <p:spPr>
          <a:xfrm>
            <a:off x="457200" y="6355080"/>
            <a:ext cx="5120640" cy="292608"/>
          </a:xfrm>
          <a:prstGeom prst="rect">
            <a:avLst/>
          </a:prstGeom>
          <a:noFill/>
        </p:spPr>
        <p:txBody>
          <a:bodyPr wrap="square">
            <a:spAutoFit/>
          </a:bodyPr>
          <a:lstStyle/>
          <a:p>
            <a:pPr algn="l"/>
            <a:r>
              <a:rPr sz="1000" b="0" i="0">
                <a:solidFill>
                  <a:srgbClr val="ECF0F1"/>
                </a:solidFill>
              </a:rPr>
              <a:t>  • Docker Desktop running</a:t>
            </a:r>
          </a:p>
        </p:txBody>
      </p:sp>
      <p:sp>
        <p:nvSpPr>
          <p:cNvPr id="26" name="TextBox 25"/>
          <p:cNvSpPr txBox="1"/>
          <p:nvPr/>
        </p:nvSpPr>
        <p:spPr>
          <a:xfrm>
            <a:off x="457200" y="6647688"/>
            <a:ext cx="5120640" cy="292608"/>
          </a:xfrm>
          <a:prstGeom prst="rect">
            <a:avLst/>
          </a:prstGeom>
          <a:noFill/>
        </p:spPr>
        <p:txBody>
          <a:bodyPr wrap="square">
            <a:spAutoFit/>
          </a:bodyPr>
          <a:lstStyle/>
          <a:p>
            <a:pPr algn="l"/>
            <a:r>
              <a:rPr sz="1000" b="0" i="0">
                <a:solidFill>
                  <a:srgbClr val="ECF0F1"/>
                </a:solidFill>
              </a:rPr>
              <a:t>  • Groq API key (free)</a:t>
            </a:r>
          </a:p>
        </p:txBody>
      </p:sp>
      <p:sp>
        <p:nvSpPr>
          <p:cNvPr id="27" name="Rectangle 26"/>
          <p:cNvSpPr/>
          <p:nvPr/>
        </p:nvSpPr>
        <p:spPr>
          <a:xfrm>
            <a:off x="5943600" y="1097280"/>
            <a:ext cx="594360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0" y="1170432"/>
            <a:ext cx="5577840" cy="384048"/>
          </a:xfrm>
          <a:prstGeom prst="rect">
            <a:avLst/>
          </a:prstGeom>
          <a:noFill/>
        </p:spPr>
        <p:txBody>
          <a:bodyPr wrap="square">
            <a:spAutoFit/>
          </a:bodyPr>
          <a:lstStyle/>
          <a:p>
            <a:pPr algn="l"/>
            <a:r>
              <a:rPr sz="1400" b="1" i="0">
                <a:solidFill>
                  <a:srgbClr val="236FBD"/>
                </a:solidFill>
              </a:rPr>
              <a:t>🐋  Option 2: Docker Compose</a:t>
            </a:r>
          </a:p>
        </p:txBody>
      </p:sp>
      <p:sp>
        <p:nvSpPr>
          <p:cNvPr id="29" name="TextBox 28"/>
          <p:cNvSpPr txBox="1"/>
          <p:nvPr/>
        </p:nvSpPr>
        <p:spPr>
          <a:xfrm>
            <a:off x="6126480" y="1600200"/>
            <a:ext cx="5577840" cy="320040"/>
          </a:xfrm>
          <a:prstGeom prst="rect">
            <a:avLst/>
          </a:prstGeom>
          <a:noFill/>
        </p:spPr>
        <p:txBody>
          <a:bodyPr wrap="square">
            <a:spAutoFit/>
          </a:bodyPr>
          <a:lstStyle/>
          <a:p>
            <a:pPr algn="l"/>
            <a:r>
              <a:rPr sz="1100" b="0" i="1">
                <a:solidFill>
                  <a:srgbClr val="7F8C8D"/>
                </a:solidFill>
              </a:rPr>
              <a:t>Recommended for production</a:t>
            </a:r>
          </a:p>
        </p:txBody>
      </p:sp>
      <p:sp>
        <p:nvSpPr>
          <p:cNvPr id="30" name="TextBox 29"/>
          <p:cNvSpPr txBox="1"/>
          <p:nvPr/>
        </p:nvSpPr>
        <p:spPr>
          <a:xfrm>
            <a:off x="6126480" y="1965960"/>
            <a:ext cx="5577840" cy="292608"/>
          </a:xfrm>
          <a:prstGeom prst="rect">
            <a:avLst/>
          </a:prstGeom>
          <a:noFill/>
        </p:spPr>
        <p:txBody>
          <a:bodyPr wrap="square">
            <a:spAutoFit/>
          </a:bodyPr>
          <a:lstStyle/>
          <a:p>
            <a:pPr algn="l"/>
            <a:r>
              <a:rPr sz="1000" b="0" i="0">
                <a:solidFill>
                  <a:srgbClr val="F39C12"/>
                </a:solidFill>
              </a:rPr>
              <a:t>Step 1: Start all services</a:t>
            </a:r>
          </a:p>
        </p:txBody>
      </p:sp>
      <p:sp>
        <p:nvSpPr>
          <p:cNvPr id="31" name="TextBox 30"/>
          <p:cNvSpPr txBox="1"/>
          <p:nvPr/>
        </p:nvSpPr>
        <p:spPr>
          <a:xfrm>
            <a:off x="6126480" y="2258568"/>
            <a:ext cx="5577840" cy="292608"/>
          </a:xfrm>
          <a:prstGeom prst="rect">
            <a:avLst/>
          </a:prstGeom>
          <a:noFill/>
        </p:spPr>
        <p:txBody>
          <a:bodyPr wrap="square">
            <a:spAutoFit/>
          </a:bodyPr>
          <a:lstStyle/>
          <a:p>
            <a:pPr algn="l"/>
            <a:r>
              <a:rPr sz="1000" b="0" i="0">
                <a:solidFill>
                  <a:srgbClr val="F39C12"/>
                </a:solidFill>
              </a:rPr>
              <a:t>  docker-compose up -d</a:t>
            </a:r>
          </a:p>
        </p:txBody>
      </p:sp>
      <p:sp>
        <p:nvSpPr>
          <p:cNvPr id="32" name="TextBox 31"/>
          <p:cNvSpPr txBox="1"/>
          <p:nvPr/>
        </p:nvSpPr>
        <p:spPr>
          <a:xfrm>
            <a:off x="6126480" y="2551175"/>
            <a:ext cx="5577840" cy="292608"/>
          </a:xfrm>
          <a:prstGeom prst="rect">
            <a:avLst/>
          </a:prstGeom>
          <a:noFill/>
        </p:spPr>
        <p:txBody>
          <a:bodyPr wrap="square">
            <a:spAutoFit/>
          </a:bodyPr>
          <a:lstStyle/>
          <a:p>
            <a:pPr algn="l"/>
            <a:r>
              <a:rPr sz="1000" b="0" i="0">
                <a:solidFill>
                  <a:srgbClr val="ECF0F1"/>
                </a:solidFill>
              </a:rPr>
              <a:t/>
            </a:r>
          </a:p>
        </p:txBody>
      </p:sp>
      <p:sp>
        <p:nvSpPr>
          <p:cNvPr id="33" name="TextBox 32"/>
          <p:cNvSpPr txBox="1"/>
          <p:nvPr/>
        </p:nvSpPr>
        <p:spPr>
          <a:xfrm>
            <a:off x="6126480" y="2843783"/>
            <a:ext cx="5577840" cy="292608"/>
          </a:xfrm>
          <a:prstGeom prst="rect">
            <a:avLst/>
          </a:prstGeom>
          <a:noFill/>
        </p:spPr>
        <p:txBody>
          <a:bodyPr wrap="square">
            <a:spAutoFit/>
          </a:bodyPr>
          <a:lstStyle/>
          <a:p>
            <a:pPr algn="l"/>
            <a:r>
              <a:rPr sz="1000" b="0" i="0">
                <a:solidFill>
                  <a:srgbClr val="F39C12"/>
                </a:solidFill>
              </a:rPr>
              <a:t>Step 2: Open browser</a:t>
            </a:r>
          </a:p>
        </p:txBody>
      </p:sp>
      <p:sp>
        <p:nvSpPr>
          <p:cNvPr id="34" name="TextBox 33"/>
          <p:cNvSpPr txBox="1"/>
          <p:nvPr/>
        </p:nvSpPr>
        <p:spPr>
          <a:xfrm>
            <a:off x="6126480" y="3136391"/>
            <a:ext cx="5577840" cy="292608"/>
          </a:xfrm>
          <a:prstGeom prst="rect">
            <a:avLst/>
          </a:prstGeom>
          <a:noFill/>
        </p:spPr>
        <p:txBody>
          <a:bodyPr wrap="square">
            <a:spAutoFit/>
          </a:bodyPr>
          <a:lstStyle/>
          <a:p>
            <a:pPr algn="l"/>
            <a:r>
              <a:rPr sz="1000" b="0" i="0">
                <a:solidFill>
                  <a:srgbClr val="ECF0F1"/>
                </a:solidFill>
              </a:rPr>
              <a:t>  http://localhost:8501</a:t>
            </a:r>
          </a:p>
        </p:txBody>
      </p:sp>
      <p:sp>
        <p:nvSpPr>
          <p:cNvPr id="35" name="TextBox 34"/>
          <p:cNvSpPr txBox="1"/>
          <p:nvPr/>
        </p:nvSpPr>
        <p:spPr>
          <a:xfrm>
            <a:off x="6126480" y="3428999"/>
            <a:ext cx="5577840" cy="292608"/>
          </a:xfrm>
          <a:prstGeom prst="rect">
            <a:avLst/>
          </a:prstGeom>
          <a:noFill/>
        </p:spPr>
        <p:txBody>
          <a:bodyPr wrap="square">
            <a:spAutoFit/>
          </a:bodyPr>
          <a:lstStyle/>
          <a:p>
            <a:pPr algn="l"/>
            <a:r>
              <a:rPr sz="1000" b="0" i="0">
                <a:solidFill>
                  <a:srgbClr val="ECF0F1"/>
                </a:solidFill>
              </a:rPr>
              <a:t/>
            </a:r>
          </a:p>
        </p:txBody>
      </p:sp>
      <p:sp>
        <p:nvSpPr>
          <p:cNvPr id="36" name="TextBox 35"/>
          <p:cNvSpPr txBox="1"/>
          <p:nvPr/>
        </p:nvSpPr>
        <p:spPr>
          <a:xfrm>
            <a:off x="6126480" y="3721607"/>
            <a:ext cx="5577840" cy="292608"/>
          </a:xfrm>
          <a:prstGeom prst="rect">
            <a:avLst/>
          </a:prstGeom>
          <a:noFill/>
        </p:spPr>
        <p:txBody>
          <a:bodyPr wrap="square">
            <a:spAutoFit/>
          </a:bodyPr>
          <a:lstStyle/>
          <a:p>
            <a:pPr algn="l"/>
            <a:r>
              <a:rPr sz="1000" b="0" i="0">
                <a:solidFill>
                  <a:srgbClr val="ECF0F1"/>
                </a:solidFill>
              </a:rPr>
              <a:t>Services started:</a:t>
            </a:r>
          </a:p>
        </p:txBody>
      </p:sp>
      <p:sp>
        <p:nvSpPr>
          <p:cNvPr id="37" name="TextBox 36"/>
          <p:cNvSpPr txBox="1"/>
          <p:nvPr/>
        </p:nvSpPr>
        <p:spPr>
          <a:xfrm>
            <a:off x="6126480" y="4014215"/>
            <a:ext cx="5577840" cy="292608"/>
          </a:xfrm>
          <a:prstGeom prst="rect">
            <a:avLst/>
          </a:prstGeom>
          <a:noFill/>
        </p:spPr>
        <p:txBody>
          <a:bodyPr wrap="square">
            <a:spAutoFit/>
          </a:bodyPr>
          <a:lstStyle/>
          <a:p>
            <a:pPr algn="l"/>
            <a:r>
              <a:rPr sz="1000" b="0" i="0">
                <a:solidFill>
                  <a:srgbClr val="F39C12"/>
                </a:solidFill>
              </a:rPr>
              <a:t>  • docker-nl-dashboard (port 8501)</a:t>
            </a:r>
          </a:p>
        </p:txBody>
      </p:sp>
      <p:sp>
        <p:nvSpPr>
          <p:cNvPr id="38" name="TextBox 37"/>
          <p:cNvSpPr txBox="1"/>
          <p:nvPr/>
        </p:nvSpPr>
        <p:spPr>
          <a:xfrm>
            <a:off x="6126480" y="4306824"/>
            <a:ext cx="5577840" cy="292608"/>
          </a:xfrm>
          <a:prstGeom prst="rect">
            <a:avLst/>
          </a:prstGeom>
          <a:noFill/>
        </p:spPr>
        <p:txBody>
          <a:bodyPr wrap="square">
            <a:spAutoFit/>
          </a:bodyPr>
          <a:lstStyle/>
          <a:p>
            <a:pPr algn="l"/>
            <a:r>
              <a:rPr sz="1000" b="0" i="0">
                <a:solidFill>
                  <a:srgbClr val="ECF0F1"/>
                </a:solidFill>
              </a:rPr>
              <a:t/>
            </a:r>
          </a:p>
        </p:txBody>
      </p:sp>
      <p:sp>
        <p:nvSpPr>
          <p:cNvPr id="39" name="TextBox 38"/>
          <p:cNvSpPr txBox="1"/>
          <p:nvPr/>
        </p:nvSpPr>
        <p:spPr>
          <a:xfrm>
            <a:off x="6126480" y="4599432"/>
            <a:ext cx="5577840" cy="292608"/>
          </a:xfrm>
          <a:prstGeom prst="rect">
            <a:avLst/>
          </a:prstGeom>
          <a:noFill/>
        </p:spPr>
        <p:txBody>
          <a:bodyPr wrap="square">
            <a:spAutoFit/>
          </a:bodyPr>
          <a:lstStyle/>
          <a:p>
            <a:pPr algn="l"/>
            <a:r>
              <a:rPr sz="1000" b="0" i="0">
                <a:solidFill>
                  <a:srgbClr val="ECF0F1"/>
                </a:solidFill>
              </a:rPr>
              <a:t>Volumes mounted:</a:t>
            </a:r>
          </a:p>
        </p:txBody>
      </p:sp>
      <p:sp>
        <p:nvSpPr>
          <p:cNvPr id="40" name="TextBox 39"/>
          <p:cNvSpPr txBox="1"/>
          <p:nvPr/>
        </p:nvSpPr>
        <p:spPr>
          <a:xfrm>
            <a:off x="6126480" y="4892040"/>
            <a:ext cx="5577840" cy="292608"/>
          </a:xfrm>
          <a:prstGeom prst="rect">
            <a:avLst/>
          </a:prstGeom>
          <a:noFill/>
        </p:spPr>
        <p:txBody>
          <a:bodyPr wrap="square">
            <a:spAutoFit/>
          </a:bodyPr>
          <a:lstStyle/>
          <a:p>
            <a:pPr algn="l"/>
            <a:r>
              <a:rPr sz="1000" b="0" i="0">
                <a:solidFill>
                  <a:srgbClr val="F39C12"/>
                </a:solidFill>
              </a:rPr>
              <a:t>  • /var/run/docker.sock (read-only)</a:t>
            </a:r>
          </a:p>
        </p:txBody>
      </p:sp>
      <p:sp>
        <p:nvSpPr>
          <p:cNvPr id="41" name="TextBox 40"/>
          <p:cNvSpPr txBox="1"/>
          <p:nvPr/>
        </p:nvSpPr>
        <p:spPr>
          <a:xfrm>
            <a:off x="6126480" y="5184648"/>
            <a:ext cx="5577840" cy="292608"/>
          </a:xfrm>
          <a:prstGeom prst="rect">
            <a:avLst/>
          </a:prstGeom>
          <a:noFill/>
        </p:spPr>
        <p:txBody>
          <a:bodyPr wrap="square">
            <a:spAutoFit/>
          </a:bodyPr>
          <a:lstStyle/>
          <a:p>
            <a:pPr algn="l"/>
            <a:r>
              <a:rPr sz="1000" b="0" i="0">
                <a:solidFill>
                  <a:srgbClr val="ECF0F1"/>
                </a:solidFill>
              </a:rPr>
              <a:t>  • ./data → /app/data</a:t>
            </a:r>
          </a:p>
        </p:txBody>
      </p:sp>
      <p:sp>
        <p:nvSpPr>
          <p:cNvPr id="42" name="TextBox 41"/>
          <p:cNvSpPr txBox="1"/>
          <p:nvPr/>
        </p:nvSpPr>
        <p:spPr>
          <a:xfrm>
            <a:off x="6126480" y="5477256"/>
            <a:ext cx="5577840" cy="292608"/>
          </a:xfrm>
          <a:prstGeom prst="rect">
            <a:avLst/>
          </a:prstGeom>
          <a:noFill/>
        </p:spPr>
        <p:txBody>
          <a:bodyPr wrap="square">
            <a:spAutoFit/>
          </a:bodyPr>
          <a:lstStyle/>
          <a:p>
            <a:pPr algn="l"/>
            <a:r>
              <a:rPr sz="1000" b="0" i="0">
                <a:solidFill>
                  <a:srgbClr val="ECF0F1"/>
                </a:solidFill>
              </a:rPr>
              <a:t>  • ./logs → /app/logs</a:t>
            </a:r>
          </a:p>
        </p:txBody>
      </p:sp>
      <p:sp>
        <p:nvSpPr>
          <p:cNvPr id="43" name="TextBox 42"/>
          <p:cNvSpPr txBox="1"/>
          <p:nvPr/>
        </p:nvSpPr>
        <p:spPr>
          <a:xfrm>
            <a:off x="6126480" y="5769864"/>
            <a:ext cx="5577840" cy="292608"/>
          </a:xfrm>
          <a:prstGeom prst="rect">
            <a:avLst/>
          </a:prstGeom>
          <a:noFill/>
        </p:spPr>
        <p:txBody>
          <a:bodyPr wrap="square">
            <a:spAutoFit/>
          </a:bodyPr>
          <a:lstStyle/>
          <a:p>
            <a:pPr algn="l"/>
            <a:r>
              <a:rPr sz="1000" b="0" i="0">
                <a:solidFill>
                  <a:srgbClr val="ECF0F1"/>
                </a:solidFill>
              </a:rPr>
              <a:t/>
            </a:r>
          </a:p>
        </p:txBody>
      </p:sp>
      <p:sp>
        <p:nvSpPr>
          <p:cNvPr id="44" name="TextBox 43"/>
          <p:cNvSpPr txBox="1"/>
          <p:nvPr/>
        </p:nvSpPr>
        <p:spPr>
          <a:xfrm>
            <a:off x="6126480" y="6062472"/>
            <a:ext cx="5577840" cy="292608"/>
          </a:xfrm>
          <a:prstGeom prst="rect">
            <a:avLst/>
          </a:prstGeom>
          <a:noFill/>
        </p:spPr>
        <p:txBody>
          <a:bodyPr wrap="square">
            <a:spAutoFit/>
          </a:bodyPr>
          <a:lstStyle/>
          <a:p>
            <a:pPr algn="l"/>
            <a:r>
              <a:rPr sz="1000" b="0" i="0">
                <a:solidFill>
                  <a:srgbClr val="ECF0F1"/>
                </a:solidFill>
              </a:rPr>
              <a:t>Stop everything:</a:t>
            </a:r>
          </a:p>
        </p:txBody>
      </p:sp>
      <p:sp>
        <p:nvSpPr>
          <p:cNvPr id="45" name="TextBox 44"/>
          <p:cNvSpPr txBox="1"/>
          <p:nvPr/>
        </p:nvSpPr>
        <p:spPr>
          <a:xfrm>
            <a:off x="6126480" y="6355080"/>
            <a:ext cx="5577840" cy="292608"/>
          </a:xfrm>
          <a:prstGeom prst="rect">
            <a:avLst/>
          </a:prstGeom>
          <a:noFill/>
        </p:spPr>
        <p:txBody>
          <a:bodyPr wrap="square">
            <a:spAutoFit/>
          </a:bodyPr>
          <a:lstStyle/>
          <a:p>
            <a:pPr algn="l"/>
            <a:r>
              <a:rPr sz="1000" b="0" i="0">
                <a:solidFill>
                  <a:srgbClr val="F39C12"/>
                </a:solidFill>
              </a:rPr>
              <a:t>  docker-compose down</a:t>
            </a:r>
          </a:p>
        </p:txBody>
      </p:sp>
      <p:sp>
        <p:nvSpPr>
          <p:cNvPr id="46" name="TextBox 45"/>
          <p:cNvSpPr txBox="1"/>
          <p:nvPr/>
        </p:nvSpPr>
        <p:spPr>
          <a:xfrm>
            <a:off x="6126480" y="6647688"/>
            <a:ext cx="5577840" cy="292608"/>
          </a:xfrm>
          <a:prstGeom prst="rect">
            <a:avLst/>
          </a:prstGeom>
          <a:noFill/>
        </p:spPr>
        <p:txBody>
          <a:bodyPr wrap="square">
            <a:spAutoFit/>
          </a:bodyPr>
          <a:lstStyle/>
          <a:p>
            <a:pPr algn="l"/>
            <a:r>
              <a:rPr sz="1000" b="0" i="0">
                <a:solidFill>
                  <a:srgbClr val="ECF0F1"/>
                </a:solidFill>
              </a:rPr>
              <a:t/>
            </a:r>
          </a:p>
        </p:txBody>
      </p:sp>
      <p:sp>
        <p:nvSpPr>
          <p:cNvPr id="47" name="TextBox 46"/>
          <p:cNvSpPr txBox="1"/>
          <p:nvPr/>
        </p:nvSpPr>
        <p:spPr>
          <a:xfrm>
            <a:off x="6126480" y="6940296"/>
            <a:ext cx="5577840" cy="292608"/>
          </a:xfrm>
          <a:prstGeom prst="rect">
            <a:avLst/>
          </a:prstGeom>
          <a:noFill/>
        </p:spPr>
        <p:txBody>
          <a:bodyPr wrap="square">
            <a:spAutoFit/>
          </a:bodyPr>
          <a:lstStyle/>
          <a:p>
            <a:pPr algn="l"/>
            <a:r>
              <a:rPr sz="1000" b="0" i="0">
                <a:solidFill>
                  <a:srgbClr val="ECF0F1"/>
                </a:solidFill>
              </a:rPr>
              <a:t>Full cleanup:</a:t>
            </a:r>
          </a:p>
        </p:txBody>
      </p:sp>
      <p:sp>
        <p:nvSpPr>
          <p:cNvPr id="48" name="TextBox 47"/>
          <p:cNvSpPr txBox="1"/>
          <p:nvPr/>
        </p:nvSpPr>
        <p:spPr>
          <a:xfrm>
            <a:off x="6126480" y="7232904"/>
            <a:ext cx="5577840" cy="292608"/>
          </a:xfrm>
          <a:prstGeom prst="rect">
            <a:avLst/>
          </a:prstGeom>
          <a:noFill/>
        </p:spPr>
        <p:txBody>
          <a:bodyPr wrap="square">
            <a:spAutoFit/>
          </a:bodyPr>
          <a:lstStyle/>
          <a:p>
            <a:pPr algn="l"/>
            <a:r>
              <a:rPr sz="1000" b="0" i="0">
                <a:solidFill>
                  <a:srgbClr val="F39C12"/>
                </a:solidFill>
              </a:rPr>
              <a:t>  docker-compose down -v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Security &amp; Best Practices</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How the project handles sensitive data safely</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356616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356616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52144"/>
            <a:ext cx="3346704" cy="411480"/>
          </a:xfrm>
          <a:prstGeom prst="rect">
            <a:avLst/>
          </a:prstGeom>
          <a:noFill/>
        </p:spPr>
        <p:txBody>
          <a:bodyPr wrap="square">
            <a:spAutoFit/>
          </a:bodyPr>
          <a:lstStyle/>
          <a:p>
            <a:pPr algn="l"/>
            <a:r>
              <a:rPr sz="1200" b="1" i="0">
                <a:solidFill>
                  <a:srgbClr val="FFFFFF"/>
                </a:solidFill>
              </a:rPr>
              <a:t>🔒  API Key Security</a:t>
            </a:r>
          </a:p>
        </p:txBody>
      </p:sp>
      <p:sp>
        <p:nvSpPr>
          <p:cNvPr id="10" name="TextBox 9"/>
          <p:cNvSpPr txBox="1"/>
          <p:nvPr/>
        </p:nvSpPr>
        <p:spPr>
          <a:xfrm>
            <a:off x="384048" y="1664207"/>
            <a:ext cx="3346704" cy="347472"/>
          </a:xfrm>
          <a:prstGeom prst="rect">
            <a:avLst/>
          </a:prstGeom>
          <a:noFill/>
        </p:spPr>
        <p:txBody>
          <a:bodyPr wrap="square">
            <a:spAutoFit/>
          </a:bodyPr>
          <a:lstStyle/>
          <a:p>
            <a:pPr algn="l"/>
            <a:r>
              <a:rPr sz="1000" b="0" i="0">
                <a:solidFill>
                  <a:srgbClr val="ECF0F1"/>
                </a:solidFill>
              </a:rPr>
              <a:t>▸  .env file excluded from git</a:t>
            </a:r>
          </a:p>
        </p:txBody>
      </p:sp>
      <p:sp>
        <p:nvSpPr>
          <p:cNvPr id="11" name="TextBox 10"/>
          <p:cNvSpPr txBox="1"/>
          <p:nvPr/>
        </p:nvSpPr>
        <p:spPr>
          <a:xfrm>
            <a:off x="384048" y="2011679"/>
            <a:ext cx="3346704" cy="347472"/>
          </a:xfrm>
          <a:prstGeom prst="rect">
            <a:avLst/>
          </a:prstGeom>
          <a:noFill/>
        </p:spPr>
        <p:txBody>
          <a:bodyPr wrap="square">
            <a:spAutoFit/>
          </a:bodyPr>
          <a:lstStyle/>
          <a:p>
            <a:pPr algn="l"/>
            <a:r>
              <a:rPr sz="1000" b="0" i="0">
                <a:solidFill>
                  <a:srgbClr val="ECF0F1"/>
                </a:solidFill>
              </a:rPr>
              <a:t>▸  .gitignore covers .env</a:t>
            </a:r>
          </a:p>
        </p:txBody>
      </p:sp>
      <p:sp>
        <p:nvSpPr>
          <p:cNvPr id="12" name="TextBox 11"/>
          <p:cNvSpPr txBox="1"/>
          <p:nvPr/>
        </p:nvSpPr>
        <p:spPr>
          <a:xfrm>
            <a:off x="384048" y="2359151"/>
            <a:ext cx="3346704" cy="347472"/>
          </a:xfrm>
          <a:prstGeom prst="rect">
            <a:avLst/>
          </a:prstGeom>
          <a:noFill/>
        </p:spPr>
        <p:txBody>
          <a:bodyPr wrap="square">
            <a:spAutoFit/>
          </a:bodyPr>
          <a:lstStyle/>
          <a:p>
            <a:pPr algn="l"/>
            <a:r>
              <a:rPr sz="1000" b="0" i="0">
                <a:solidFill>
                  <a:srgbClr val="ECF0F1"/>
                </a:solidFill>
              </a:rPr>
              <a:t>▸  Password field in UI</a:t>
            </a:r>
          </a:p>
        </p:txBody>
      </p:sp>
      <p:sp>
        <p:nvSpPr>
          <p:cNvPr id="13" name="TextBox 12"/>
          <p:cNvSpPr txBox="1"/>
          <p:nvPr/>
        </p:nvSpPr>
        <p:spPr>
          <a:xfrm>
            <a:off x="384048" y="2706623"/>
            <a:ext cx="3346704" cy="347472"/>
          </a:xfrm>
          <a:prstGeom prst="rect">
            <a:avLst/>
          </a:prstGeom>
          <a:noFill/>
        </p:spPr>
        <p:txBody>
          <a:bodyPr wrap="square">
            <a:spAutoFit/>
          </a:bodyPr>
          <a:lstStyle/>
          <a:p>
            <a:pPr algn="l"/>
            <a:r>
              <a:rPr sz="1000" b="0" i="0">
                <a:solidFill>
                  <a:srgbClr val="ECF0F1"/>
                </a:solidFill>
              </a:rPr>
              <a:t>▸  Session-only key storage</a:t>
            </a:r>
          </a:p>
        </p:txBody>
      </p:sp>
      <p:sp>
        <p:nvSpPr>
          <p:cNvPr id="14" name="TextBox 13"/>
          <p:cNvSpPr txBox="1"/>
          <p:nvPr/>
        </p:nvSpPr>
        <p:spPr>
          <a:xfrm>
            <a:off x="384048" y="3054095"/>
            <a:ext cx="3346704" cy="347472"/>
          </a:xfrm>
          <a:prstGeom prst="rect">
            <a:avLst/>
          </a:prstGeom>
          <a:noFill/>
        </p:spPr>
        <p:txBody>
          <a:bodyPr wrap="square">
            <a:spAutoFit/>
          </a:bodyPr>
          <a:lstStyle/>
          <a:p>
            <a:pPr algn="l"/>
            <a:r>
              <a:rPr sz="1000" b="0" i="0">
                <a:solidFill>
                  <a:srgbClr val="ECF0F1"/>
                </a:solidFill>
              </a:rPr>
              <a:t>▸  Never logged or printed</a:t>
            </a:r>
          </a:p>
        </p:txBody>
      </p:sp>
      <p:sp>
        <p:nvSpPr>
          <p:cNvPr id="15" name="TextBox 14"/>
          <p:cNvSpPr txBox="1"/>
          <p:nvPr/>
        </p:nvSpPr>
        <p:spPr>
          <a:xfrm>
            <a:off x="384048" y="3401567"/>
            <a:ext cx="3346704" cy="347472"/>
          </a:xfrm>
          <a:prstGeom prst="rect">
            <a:avLst/>
          </a:prstGeom>
          <a:noFill/>
        </p:spPr>
        <p:txBody>
          <a:bodyPr wrap="square">
            <a:spAutoFit/>
          </a:bodyPr>
          <a:lstStyle/>
          <a:p>
            <a:pPr algn="l"/>
            <a:r>
              <a:rPr sz="1000" b="0" i="0">
                <a:solidFill>
                  <a:srgbClr val="ECF0F1"/>
                </a:solidFill>
              </a:rPr>
              <a:t>▸  os.getenv() for access</a:t>
            </a:r>
          </a:p>
        </p:txBody>
      </p:sp>
      <p:sp>
        <p:nvSpPr>
          <p:cNvPr id="16" name="TextBox 15"/>
          <p:cNvSpPr txBox="1"/>
          <p:nvPr/>
        </p:nvSpPr>
        <p:spPr>
          <a:xfrm>
            <a:off x="384048" y="3749039"/>
            <a:ext cx="3346704" cy="347472"/>
          </a:xfrm>
          <a:prstGeom prst="rect">
            <a:avLst/>
          </a:prstGeom>
          <a:noFill/>
        </p:spPr>
        <p:txBody>
          <a:bodyPr wrap="square">
            <a:spAutoFit/>
          </a:bodyPr>
          <a:lstStyle/>
          <a:p>
            <a:pPr algn="l"/>
            <a:r>
              <a:rPr sz="1000" b="0" i="0">
                <a:solidFill>
                  <a:srgbClr val="ECF0F1"/>
                </a:solidFill>
              </a:rPr>
              <a:t>▸  Example file provided</a:t>
            </a:r>
          </a:p>
        </p:txBody>
      </p:sp>
      <p:sp>
        <p:nvSpPr>
          <p:cNvPr id="17" name="TextBox 16"/>
          <p:cNvSpPr txBox="1"/>
          <p:nvPr/>
        </p:nvSpPr>
        <p:spPr>
          <a:xfrm>
            <a:off x="384048" y="4096511"/>
            <a:ext cx="3346704" cy="347472"/>
          </a:xfrm>
          <a:prstGeom prst="rect">
            <a:avLst/>
          </a:prstGeom>
          <a:noFill/>
        </p:spPr>
        <p:txBody>
          <a:bodyPr wrap="square">
            <a:spAutoFit/>
          </a:bodyPr>
          <a:lstStyle/>
          <a:p>
            <a:pPr algn="l"/>
            <a:r>
              <a:rPr sz="1000" b="0" i="0">
                <a:solidFill>
                  <a:srgbClr val="ECF0F1"/>
                </a:solidFill>
              </a:rPr>
              <a:t>▸  Token in URL cleared after</a:t>
            </a:r>
          </a:p>
        </p:txBody>
      </p:sp>
      <p:sp>
        <p:nvSpPr>
          <p:cNvPr id="18" name="TextBox 17"/>
          <p:cNvSpPr txBox="1"/>
          <p:nvPr/>
        </p:nvSpPr>
        <p:spPr>
          <a:xfrm>
            <a:off x="384048" y="4443983"/>
            <a:ext cx="3346704" cy="347472"/>
          </a:xfrm>
          <a:prstGeom prst="rect">
            <a:avLst/>
          </a:prstGeom>
          <a:noFill/>
        </p:spPr>
        <p:txBody>
          <a:bodyPr wrap="square">
            <a:spAutoFit/>
          </a:bodyPr>
          <a:lstStyle/>
          <a:p>
            <a:pPr algn="l"/>
            <a:r>
              <a:rPr sz="1000" b="0" i="0">
                <a:solidFill>
                  <a:srgbClr val="ECF0F1"/>
                </a:solidFill>
              </a:rPr>
              <a:t>▸  Regenerate if exposed</a:t>
            </a:r>
          </a:p>
        </p:txBody>
      </p:sp>
      <p:sp>
        <p:nvSpPr>
          <p:cNvPr id="19" name="Rectangle 18"/>
          <p:cNvSpPr/>
          <p:nvPr/>
        </p:nvSpPr>
        <p:spPr>
          <a:xfrm>
            <a:off x="4069080" y="1097280"/>
            <a:ext cx="365760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69080" y="1097280"/>
            <a:ext cx="3657600"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78808" y="1152144"/>
            <a:ext cx="3438144" cy="411480"/>
          </a:xfrm>
          <a:prstGeom prst="rect">
            <a:avLst/>
          </a:prstGeom>
          <a:noFill/>
        </p:spPr>
        <p:txBody>
          <a:bodyPr wrap="square">
            <a:spAutoFit/>
          </a:bodyPr>
          <a:lstStyle/>
          <a:p>
            <a:pPr algn="l"/>
            <a:r>
              <a:rPr sz="1200" b="1" i="0">
                <a:solidFill>
                  <a:srgbClr val="FFFFFF"/>
                </a:solidFill>
              </a:rPr>
              <a:t>🐋  Docker Security</a:t>
            </a:r>
          </a:p>
        </p:txBody>
      </p:sp>
      <p:sp>
        <p:nvSpPr>
          <p:cNvPr id="22" name="TextBox 21"/>
          <p:cNvSpPr txBox="1"/>
          <p:nvPr/>
        </p:nvSpPr>
        <p:spPr>
          <a:xfrm>
            <a:off x="4178808" y="1664207"/>
            <a:ext cx="3438144" cy="347472"/>
          </a:xfrm>
          <a:prstGeom prst="rect">
            <a:avLst/>
          </a:prstGeom>
          <a:noFill/>
        </p:spPr>
        <p:txBody>
          <a:bodyPr wrap="square">
            <a:spAutoFit/>
          </a:bodyPr>
          <a:lstStyle/>
          <a:p>
            <a:pPr algn="l"/>
            <a:r>
              <a:rPr sz="1000" b="0" i="0">
                <a:solidFill>
                  <a:srgbClr val="ECF0F1"/>
                </a:solidFill>
              </a:rPr>
              <a:t>▸  Socket mounted read-only</a:t>
            </a:r>
          </a:p>
        </p:txBody>
      </p:sp>
      <p:sp>
        <p:nvSpPr>
          <p:cNvPr id="23" name="TextBox 22"/>
          <p:cNvSpPr txBox="1"/>
          <p:nvPr/>
        </p:nvSpPr>
        <p:spPr>
          <a:xfrm>
            <a:off x="4178808" y="2011679"/>
            <a:ext cx="3438144" cy="347472"/>
          </a:xfrm>
          <a:prstGeom prst="rect">
            <a:avLst/>
          </a:prstGeom>
          <a:noFill/>
        </p:spPr>
        <p:txBody>
          <a:bodyPr wrap="square">
            <a:spAutoFit/>
          </a:bodyPr>
          <a:lstStyle/>
          <a:p>
            <a:pPr algn="l"/>
            <a:r>
              <a:rPr sz="1000" b="0" i="0">
                <a:solidFill>
                  <a:srgbClr val="ECF0F1"/>
                </a:solidFill>
              </a:rPr>
              <a:t>▸    :ro flag in compose</a:t>
            </a:r>
          </a:p>
        </p:txBody>
      </p:sp>
      <p:sp>
        <p:nvSpPr>
          <p:cNvPr id="24" name="TextBox 23"/>
          <p:cNvSpPr txBox="1"/>
          <p:nvPr/>
        </p:nvSpPr>
        <p:spPr>
          <a:xfrm>
            <a:off x="4178808" y="2359151"/>
            <a:ext cx="3438144" cy="347472"/>
          </a:xfrm>
          <a:prstGeom prst="rect">
            <a:avLst/>
          </a:prstGeom>
          <a:noFill/>
        </p:spPr>
        <p:txBody>
          <a:bodyPr wrap="square">
            <a:spAutoFit/>
          </a:bodyPr>
          <a:lstStyle/>
          <a:p>
            <a:pPr algn="l"/>
            <a:r>
              <a:rPr sz="1000" b="0" i="0">
                <a:solidFill>
                  <a:srgbClr val="ECF0F1"/>
                </a:solidFill>
              </a:rPr>
              <a:t>▸  No privileged mode</a:t>
            </a:r>
          </a:p>
        </p:txBody>
      </p:sp>
      <p:sp>
        <p:nvSpPr>
          <p:cNvPr id="25" name="TextBox 24"/>
          <p:cNvSpPr txBox="1"/>
          <p:nvPr/>
        </p:nvSpPr>
        <p:spPr>
          <a:xfrm>
            <a:off x="4178808" y="2706623"/>
            <a:ext cx="3438144" cy="347472"/>
          </a:xfrm>
          <a:prstGeom prst="rect">
            <a:avLst/>
          </a:prstGeom>
          <a:noFill/>
        </p:spPr>
        <p:txBody>
          <a:bodyPr wrap="square">
            <a:spAutoFit/>
          </a:bodyPr>
          <a:lstStyle/>
          <a:p>
            <a:pPr algn="l"/>
            <a:r>
              <a:rPr sz="1000" b="0" i="0">
                <a:solidFill>
                  <a:srgbClr val="ECF0F1"/>
                </a:solidFill>
              </a:rPr>
              <a:t>▸  Minimal base image</a:t>
            </a:r>
          </a:p>
        </p:txBody>
      </p:sp>
      <p:sp>
        <p:nvSpPr>
          <p:cNvPr id="26" name="TextBox 25"/>
          <p:cNvSpPr txBox="1"/>
          <p:nvPr/>
        </p:nvSpPr>
        <p:spPr>
          <a:xfrm>
            <a:off x="4178808" y="3054095"/>
            <a:ext cx="3438144" cy="347472"/>
          </a:xfrm>
          <a:prstGeom prst="rect">
            <a:avLst/>
          </a:prstGeom>
          <a:noFill/>
        </p:spPr>
        <p:txBody>
          <a:bodyPr wrap="square">
            <a:spAutoFit/>
          </a:bodyPr>
          <a:lstStyle/>
          <a:p>
            <a:pPr algn="l"/>
            <a:r>
              <a:rPr sz="1000" b="0" i="0">
                <a:solidFill>
                  <a:srgbClr val="ECF0F1"/>
                </a:solidFill>
              </a:rPr>
              <a:t>▸  Non-root user in container</a:t>
            </a:r>
          </a:p>
        </p:txBody>
      </p:sp>
      <p:sp>
        <p:nvSpPr>
          <p:cNvPr id="27" name="TextBox 26"/>
          <p:cNvSpPr txBox="1"/>
          <p:nvPr/>
        </p:nvSpPr>
        <p:spPr>
          <a:xfrm>
            <a:off x="4178808" y="3401567"/>
            <a:ext cx="3438144" cy="347472"/>
          </a:xfrm>
          <a:prstGeom prst="rect">
            <a:avLst/>
          </a:prstGeom>
          <a:noFill/>
        </p:spPr>
        <p:txBody>
          <a:bodyPr wrap="square">
            <a:spAutoFit/>
          </a:bodyPr>
          <a:lstStyle/>
          <a:p>
            <a:pPr algn="l"/>
            <a:r>
              <a:rPr sz="1000" b="0" i="0">
                <a:solidFill>
                  <a:srgbClr val="ECF0F1"/>
                </a:solidFill>
              </a:rPr>
              <a:t>▸  Resource limits optional</a:t>
            </a:r>
          </a:p>
        </p:txBody>
      </p:sp>
      <p:sp>
        <p:nvSpPr>
          <p:cNvPr id="28" name="TextBox 27"/>
          <p:cNvSpPr txBox="1"/>
          <p:nvPr/>
        </p:nvSpPr>
        <p:spPr>
          <a:xfrm>
            <a:off x="4178808" y="3749039"/>
            <a:ext cx="3438144" cy="347472"/>
          </a:xfrm>
          <a:prstGeom prst="rect">
            <a:avLst/>
          </a:prstGeom>
          <a:noFill/>
        </p:spPr>
        <p:txBody>
          <a:bodyPr wrap="square">
            <a:spAutoFit/>
          </a:bodyPr>
          <a:lstStyle/>
          <a:p>
            <a:pPr algn="l"/>
            <a:r>
              <a:rPr sz="1000" b="0" i="0">
                <a:solidFill>
                  <a:srgbClr val="ECF0F1"/>
                </a:solidFill>
              </a:rPr>
              <a:t>▸  Network isolation via</a:t>
            </a:r>
          </a:p>
        </p:txBody>
      </p:sp>
      <p:sp>
        <p:nvSpPr>
          <p:cNvPr id="29" name="TextBox 28"/>
          <p:cNvSpPr txBox="1"/>
          <p:nvPr/>
        </p:nvSpPr>
        <p:spPr>
          <a:xfrm>
            <a:off x="4178808" y="4096511"/>
            <a:ext cx="3438144" cy="347472"/>
          </a:xfrm>
          <a:prstGeom prst="rect">
            <a:avLst/>
          </a:prstGeom>
          <a:noFill/>
        </p:spPr>
        <p:txBody>
          <a:bodyPr wrap="square">
            <a:spAutoFit/>
          </a:bodyPr>
          <a:lstStyle/>
          <a:p>
            <a:pPr algn="l"/>
            <a:r>
              <a:rPr sz="1000" b="0" i="0">
                <a:solidFill>
                  <a:srgbClr val="ECF0F1"/>
                </a:solidFill>
              </a:rPr>
              <a:t>▸    bridge network</a:t>
            </a:r>
          </a:p>
        </p:txBody>
      </p:sp>
      <p:sp>
        <p:nvSpPr>
          <p:cNvPr id="30" name="TextBox 29"/>
          <p:cNvSpPr txBox="1"/>
          <p:nvPr/>
        </p:nvSpPr>
        <p:spPr>
          <a:xfrm>
            <a:off x="4178808" y="4443983"/>
            <a:ext cx="3438144" cy="347472"/>
          </a:xfrm>
          <a:prstGeom prst="rect">
            <a:avLst/>
          </a:prstGeom>
          <a:noFill/>
        </p:spPr>
        <p:txBody>
          <a:bodyPr wrap="square">
            <a:spAutoFit/>
          </a:bodyPr>
          <a:lstStyle/>
          <a:p>
            <a:pPr algn="l"/>
            <a:r>
              <a:rPr sz="1000" b="0" i="0">
                <a:solidFill>
                  <a:srgbClr val="ECF0F1"/>
                </a:solidFill>
              </a:rPr>
              <a:t>▸  Health checks enabled</a:t>
            </a:r>
          </a:p>
        </p:txBody>
      </p:sp>
      <p:sp>
        <p:nvSpPr>
          <p:cNvPr id="31" name="Rectangle 30"/>
          <p:cNvSpPr/>
          <p:nvPr/>
        </p:nvSpPr>
        <p:spPr>
          <a:xfrm>
            <a:off x="8001000" y="1097280"/>
            <a:ext cx="3886200" cy="53035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01000" y="1097280"/>
            <a:ext cx="3886200" cy="502920"/>
          </a:xfrm>
          <a:prstGeom prst="rect">
            <a:avLst/>
          </a:prstGeom>
          <a:solidFill>
            <a:srgbClr val="236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0727" y="1152144"/>
            <a:ext cx="3666744" cy="411480"/>
          </a:xfrm>
          <a:prstGeom prst="rect">
            <a:avLst/>
          </a:prstGeom>
          <a:noFill/>
        </p:spPr>
        <p:txBody>
          <a:bodyPr wrap="square">
            <a:spAutoFit/>
          </a:bodyPr>
          <a:lstStyle/>
          <a:p>
            <a:pPr algn="l"/>
            <a:r>
              <a:rPr sz="1200" b="1" i="0">
                <a:solidFill>
                  <a:srgbClr val="FFFFFF"/>
                </a:solidFill>
              </a:rPr>
              <a:t>📋  Code Best Practices</a:t>
            </a:r>
          </a:p>
        </p:txBody>
      </p:sp>
      <p:sp>
        <p:nvSpPr>
          <p:cNvPr id="34" name="TextBox 33"/>
          <p:cNvSpPr txBox="1"/>
          <p:nvPr/>
        </p:nvSpPr>
        <p:spPr>
          <a:xfrm>
            <a:off x="8110727" y="1664207"/>
            <a:ext cx="3666744" cy="347472"/>
          </a:xfrm>
          <a:prstGeom prst="rect">
            <a:avLst/>
          </a:prstGeom>
          <a:noFill/>
        </p:spPr>
        <p:txBody>
          <a:bodyPr wrap="square">
            <a:spAutoFit/>
          </a:bodyPr>
          <a:lstStyle/>
          <a:p>
            <a:pPr algn="l"/>
            <a:r>
              <a:rPr sz="1000" b="0" i="0">
                <a:solidFill>
                  <a:srgbClr val="ECF0F1"/>
                </a:solidFill>
              </a:rPr>
              <a:t>▸  Modular architecture</a:t>
            </a:r>
          </a:p>
        </p:txBody>
      </p:sp>
      <p:sp>
        <p:nvSpPr>
          <p:cNvPr id="35" name="TextBox 34"/>
          <p:cNvSpPr txBox="1"/>
          <p:nvPr/>
        </p:nvSpPr>
        <p:spPr>
          <a:xfrm>
            <a:off x="8110727" y="2011679"/>
            <a:ext cx="3666744" cy="347472"/>
          </a:xfrm>
          <a:prstGeom prst="rect">
            <a:avLst/>
          </a:prstGeom>
          <a:noFill/>
        </p:spPr>
        <p:txBody>
          <a:bodyPr wrap="square">
            <a:spAutoFit/>
          </a:bodyPr>
          <a:lstStyle/>
          <a:p>
            <a:pPr algn="l"/>
            <a:r>
              <a:rPr sz="1000" b="0" i="0">
                <a:solidFill>
                  <a:srgbClr val="ECF0F1"/>
                </a:solidFill>
              </a:rPr>
              <a:t>▸  Separation of concerns</a:t>
            </a:r>
          </a:p>
        </p:txBody>
      </p:sp>
      <p:sp>
        <p:nvSpPr>
          <p:cNvPr id="36" name="TextBox 35"/>
          <p:cNvSpPr txBox="1"/>
          <p:nvPr/>
        </p:nvSpPr>
        <p:spPr>
          <a:xfrm>
            <a:off x="8110727" y="2359151"/>
            <a:ext cx="3666744" cy="347472"/>
          </a:xfrm>
          <a:prstGeom prst="rect">
            <a:avLst/>
          </a:prstGeom>
          <a:noFill/>
        </p:spPr>
        <p:txBody>
          <a:bodyPr wrap="square">
            <a:spAutoFit/>
          </a:bodyPr>
          <a:lstStyle/>
          <a:p>
            <a:pPr algn="l"/>
            <a:r>
              <a:rPr sz="1000" b="0" i="0">
                <a:solidFill>
                  <a:srgbClr val="ECF0F1"/>
                </a:solidFill>
              </a:rPr>
              <a:t>▸  Error handling everywhere</a:t>
            </a:r>
          </a:p>
        </p:txBody>
      </p:sp>
      <p:sp>
        <p:nvSpPr>
          <p:cNvPr id="37" name="TextBox 36"/>
          <p:cNvSpPr txBox="1"/>
          <p:nvPr/>
        </p:nvSpPr>
        <p:spPr>
          <a:xfrm>
            <a:off x="8110727" y="2706623"/>
            <a:ext cx="3666744" cy="347472"/>
          </a:xfrm>
          <a:prstGeom prst="rect">
            <a:avLst/>
          </a:prstGeom>
          <a:noFill/>
        </p:spPr>
        <p:txBody>
          <a:bodyPr wrap="square">
            <a:spAutoFit/>
          </a:bodyPr>
          <a:lstStyle/>
          <a:p>
            <a:pPr algn="l"/>
            <a:r>
              <a:rPr sz="1000" b="0" i="0">
                <a:solidFill>
                  <a:srgbClr val="ECF0F1"/>
                </a:solidFill>
              </a:rPr>
              <a:t>▸  try/except in all API calls</a:t>
            </a:r>
          </a:p>
        </p:txBody>
      </p:sp>
      <p:sp>
        <p:nvSpPr>
          <p:cNvPr id="38" name="TextBox 37"/>
          <p:cNvSpPr txBox="1"/>
          <p:nvPr/>
        </p:nvSpPr>
        <p:spPr>
          <a:xfrm>
            <a:off x="8110727" y="3054095"/>
            <a:ext cx="3666744" cy="347472"/>
          </a:xfrm>
          <a:prstGeom prst="rect">
            <a:avLst/>
          </a:prstGeom>
          <a:noFill/>
        </p:spPr>
        <p:txBody>
          <a:bodyPr wrap="square">
            <a:spAutoFit/>
          </a:bodyPr>
          <a:lstStyle/>
          <a:p>
            <a:pPr algn="l"/>
            <a:r>
              <a:rPr sz="1000" b="0" i="0">
                <a:solidFill>
                  <a:srgbClr val="ECF0F1"/>
                </a:solidFill>
              </a:rPr>
              <a:t>▸  Graceful failure messages</a:t>
            </a:r>
          </a:p>
        </p:txBody>
      </p:sp>
      <p:sp>
        <p:nvSpPr>
          <p:cNvPr id="39" name="TextBox 38"/>
          <p:cNvSpPr txBox="1"/>
          <p:nvPr/>
        </p:nvSpPr>
        <p:spPr>
          <a:xfrm>
            <a:off x="8110727" y="3401567"/>
            <a:ext cx="3666744" cy="347472"/>
          </a:xfrm>
          <a:prstGeom prst="rect">
            <a:avLst/>
          </a:prstGeom>
          <a:noFill/>
        </p:spPr>
        <p:txBody>
          <a:bodyPr wrap="square">
            <a:spAutoFit/>
          </a:bodyPr>
          <a:lstStyle/>
          <a:p>
            <a:pPr algn="l"/>
            <a:r>
              <a:rPr sz="1000" b="0" i="0">
                <a:solidFill>
                  <a:srgbClr val="ECF0F1"/>
                </a:solidFill>
              </a:rPr>
              <a:t>▸  Cache with @st.cache_resource</a:t>
            </a:r>
          </a:p>
        </p:txBody>
      </p:sp>
      <p:sp>
        <p:nvSpPr>
          <p:cNvPr id="40" name="TextBox 39"/>
          <p:cNvSpPr txBox="1"/>
          <p:nvPr/>
        </p:nvSpPr>
        <p:spPr>
          <a:xfrm>
            <a:off x="8110727" y="3749039"/>
            <a:ext cx="3666744" cy="347472"/>
          </a:xfrm>
          <a:prstGeom prst="rect">
            <a:avLst/>
          </a:prstGeom>
          <a:noFill/>
        </p:spPr>
        <p:txBody>
          <a:bodyPr wrap="square">
            <a:spAutoFit/>
          </a:bodyPr>
          <a:lstStyle/>
          <a:p>
            <a:pPr algn="l"/>
            <a:r>
              <a:rPr sz="1000" b="0" i="0">
                <a:solidFill>
                  <a:srgbClr val="ECF0F1"/>
                </a:solidFill>
              </a:rPr>
              <a:t>▸  Type hints in functions</a:t>
            </a:r>
          </a:p>
        </p:txBody>
      </p:sp>
      <p:sp>
        <p:nvSpPr>
          <p:cNvPr id="41" name="TextBox 40"/>
          <p:cNvSpPr txBox="1"/>
          <p:nvPr/>
        </p:nvSpPr>
        <p:spPr>
          <a:xfrm>
            <a:off x="8110727" y="4096511"/>
            <a:ext cx="3666744" cy="347472"/>
          </a:xfrm>
          <a:prstGeom prst="rect">
            <a:avLst/>
          </a:prstGeom>
          <a:noFill/>
        </p:spPr>
        <p:txBody>
          <a:bodyPr wrap="square">
            <a:spAutoFit/>
          </a:bodyPr>
          <a:lstStyle/>
          <a:p>
            <a:pPr algn="l"/>
            <a:r>
              <a:rPr sz="1000" b="0" i="0">
                <a:solidFill>
                  <a:srgbClr val="ECF0F1"/>
                </a:solidFill>
              </a:rPr>
              <a:t>▸  Consistent naming convention</a:t>
            </a:r>
          </a:p>
        </p:txBody>
      </p:sp>
      <p:sp>
        <p:nvSpPr>
          <p:cNvPr id="42" name="TextBox 41"/>
          <p:cNvSpPr txBox="1"/>
          <p:nvPr/>
        </p:nvSpPr>
        <p:spPr>
          <a:xfrm>
            <a:off x="8110727" y="4443983"/>
            <a:ext cx="3666744" cy="347472"/>
          </a:xfrm>
          <a:prstGeom prst="rect">
            <a:avLst/>
          </a:prstGeom>
          <a:noFill/>
        </p:spPr>
        <p:txBody>
          <a:bodyPr wrap="square">
            <a:spAutoFit/>
          </a:bodyPr>
          <a:lstStyle/>
          <a:p>
            <a:pPr algn="l"/>
            <a:r>
              <a:rPr sz="1000" b="0" i="0">
                <a:solidFill>
                  <a:srgbClr val="ECF0F1"/>
                </a:solidFill>
              </a:rPr>
              <a:t>▸  Docstrings on all classes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960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640080"/>
          </a:xfrm>
          <a:prstGeom prst="rect">
            <a:avLst/>
          </a:prstGeom>
          <a:noFill/>
        </p:spPr>
        <p:txBody>
          <a:bodyPr wrap="square">
            <a:spAutoFit/>
          </a:bodyPr>
          <a:lstStyle/>
          <a:p>
            <a:pPr algn="l"/>
            <a:r>
              <a:rPr sz="2800" b="1" i="0">
                <a:solidFill>
                  <a:srgbClr val="FFFFFF"/>
                </a:solidFill>
              </a:rPr>
              <a:t>Future Scope &amp; Roadmap</a:t>
            </a:r>
          </a:p>
        </p:txBody>
      </p:sp>
      <p:sp>
        <p:nvSpPr>
          <p:cNvPr id="5" name="TextBox 4"/>
          <p:cNvSpPr txBox="1"/>
          <p:nvPr/>
        </p:nvSpPr>
        <p:spPr>
          <a:xfrm>
            <a:off x="365760" y="749808"/>
            <a:ext cx="11430000" cy="320040"/>
          </a:xfrm>
          <a:prstGeom prst="rect">
            <a:avLst/>
          </a:prstGeom>
          <a:noFill/>
        </p:spPr>
        <p:txBody>
          <a:bodyPr wrap="square">
            <a:spAutoFit/>
          </a:bodyPr>
          <a:lstStyle/>
          <a:p>
            <a:pPr algn="l"/>
            <a:r>
              <a:rPr sz="1300" b="0" i="1">
                <a:solidFill>
                  <a:srgbClr val="27AE60"/>
                </a:solidFill>
              </a:rPr>
              <a:t>Planned enhancements and upcoming features</a:t>
            </a:r>
          </a:p>
        </p:txBody>
      </p:sp>
      <p:sp>
        <p:nvSpPr>
          <p:cNvPr id="6" name="Rectangle 5"/>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11612880" cy="16916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137160" cy="1691640"/>
          </a:xfrm>
          <a:prstGeom prst="rect">
            <a:avLst/>
          </a:prstGeom>
          <a:solidFill>
            <a:srgbClr val="236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70432"/>
            <a:ext cx="7315200" cy="384048"/>
          </a:xfrm>
          <a:prstGeom prst="rect">
            <a:avLst/>
          </a:prstGeom>
          <a:noFill/>
        </p:spPr>
        <p:txBody>
          <a:bodyPr wrap="square">
            <a:spAutoFit/>
          </a:bodyPr>
          <a:lstStyle/>
          <a:p>
            <a:pPr algn="l"/>
            <a:r>
              <a:rPr sz="1300" b="1" i="0">
                <a:solidFill>
                  <a:srgbClr val="236FBD"/>
                </a:solidFill>
              </a:rPr>
              <a:t>🔵  Phase 1 — Short Term (3 months)</a:t>
            </a:r>
          </a:p>
        </p:txBody>
      </p:sp>
      <p:sp>
        <p:nvSpPr>
          <p:cNvPr id="10" name="TextBox 9"/>
          <p:cNvSpPr txBox="1"/>
          <p:nvPr/>
        </p:nvSpPr>
        <p:spPr>
          <a:xfrm>
            <a:off x="502920" y="1600200"/>
            <a:ext cx="5486400" cy="329184"/>
          </a:xfrm>
          <a:prstGeom prst="rect">
            <a:avLst/>
          </a:prstGeom>
          <a:noFill/>
        </p:spPr>
        <p:txBody>
          <a:bodyPr wrap="square">
            <a:spAutoFit/>
          </a:bodyPr>
          <a:lstStyle/>
          <a:p>
            <a:pPr algn="l"/>
            <a:r>
              <a:rPr sz="1000" b="0" i="0">
                <a:solidFill>
                  <a:srgbClr val="ECF0F1"/>
                </a:solidFill>
              </a:rPr>
              <a:t>▸  Email &amp; Slack alert notifications for container failures</a:t>
            </a:r>
          </a:p>
        </p:txBody>
      </p:sp>
      <p:sp>
        <p:nvSpPr>
          <p:cNvPr id="11" name="TextBox 10"/>
          <p:cNvSpPr txBox="1"/>
          <p:nvPr/>
        </p:nvSpPr>
        <p:spPr>
          <a:xfrm>
            <a:off x="502920" y="1947672"/>
            <a:ext cx="5486400" cy="329184"/>
          </a:xfrm>
          <a:prstGeom prst="rect">
            <a:avLst/>
          </a:prstGeom>
          <a:noFill/>
        </p:spPr>
        <p:txBody>
          <a:bodyPr wrap="square">
            <a:spAutoFit/>
          </a:bodyPr>
          <a:lstStyle/>
          <a:p>
            <a:pPr algn="l"/>
            <a:r>
              <a:rPr sz="1000" b="0" i="0">
                <a:solidFill>
                  <a:srgbClr val="ECF0F1"/>
                </a:solidFill>
              </a:rPr>
              <a:t>▸  User authentication with login/logout system</a:t>
            </a:r>
          </a:p>
        </p:txBody>
      </p:sp>
      <p:sp>
        <p:nvSpPr>
          <p:cNvPr id="12" name="TextBox 11"/>
          <p:cNvSpPr txBox="1"/>
          <p:nvPr/>
        </p:nvSpPr>
        <p:spPr>
          <a:xfrm>
            <a:off x="502920" y="2295144"/>
            <a:ext cx="5486400" cy="329184"/>
          </a:xfrm>
          <a:prstGeom prst="rect">
            <a:avLst/>
          </a:prstGeom>
          <a:noFill/>
        </p:spPr>
        <p:txBody>
          <a:bodyPr wrap="square">
            <a:spAutoFit/>
          </a:bodyPr>
          <a:lstStyle/>
          <a:p>
            <a:pPr algn="l"/>
            <a:r>
              <a:rPr sz="1000" b="0" i="0">
                <a:solidFill>
                  <a:srgbClr val="ECF0F1"/>
                </a:solidFill>
              </a:rPr>
              <a:t>▸  Export logs as CSV / PDF reports</a:t>
            </a:r>
          </a:p>
        </p:txBody>
      </p:sp>
      <p:sp>
        <p:nvSpPr>
          <p:cNvPr id="13" name="TextBox 12"/>
          <p:cNvSpPr txBox="1"/>
          <p:nvPr/>
        </p:nvSpPr>
        <p:spPr>
          <a:xfrm>
            <a:off x="6217920" y="1600200"/>
            <a:ext cx="5486400" cy="329184"/>
          </a:xfrm>
          <a:prstGeom prst="rect">
            <a:avLst/>
          </a:prstGeom>
          <a:noFill/>
        </p:spPr>
        <p:txBody>
          <a:bodyPr wrap="square">
            <a:spAutoFit/>
          </a:bodyPr>
          <a:lstStyle/>
          <a:p>
            <a:pPr algn="l"/>
            <a:r>
              <a:rPr sz="1000" b="0" i="0">
                <a:solidFill>
                  <a:srgbClr val="ECF0F1"/>
                </a:solidFill>
              </a:rPr>
              <a:t>▸  Dark / Light theme toggle in UI</a:t>
            </a:r>
          </a:p>
        </p:txBody>
      </p:sp>
      <p:sp>
        <p:nvSpPr>
          <p:cNvPr id="14" name="TextBox 13"/>
          <p:cNvSpPr txBox="1"/>
          <p:nvPr/>
        </p:nvSpPr>
        <p:spPr>
          <a:xfrm>
            <a:off x="6217920" y="1947672"/>
            <a:ext cx="5486400" cy="329184"/>
          </a:xfrm>
          <a:prstGeom prst="rect">
            <a:avLst/>
          </a:prstGeom>
          <a:noFill/>
        </p:spPr>
        <p:txBody>
          <a:bodyPr wrap="square">
            <a:spAutoFit/>
          </a:bodyPr>
          <a:lstStyle/>
          <a:p>
            <a:pPr algn="l"/>
            <a:r>
              <a:rPr sz="1000" b="0" i="0">
                <a:solidFill>
                  <a:srgbClr val="ECF0F1"/>
                </a:solidFill>
              </a:rPr>
              <a:t>▸  Container resource usage history graphs</a:t>
            </a:r>
          </a:p>
        </p:txBody>
      </p:sp>
      <p:sp>
        <p:nvSpPr>
          <p:cNvPr id="15" name="Rectangle 14"/>
          <p:cNvSpPr/>
          <p:nvPr/>
        </p:nvSpPr>
        <p:spPr>
          <a:xfrm>
            <a:off x="274320" y="2926080"/>
            <a:ext cx="11612880" cy="16916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2926080"/>
            <a:ext cx="137160" cy="169164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999232"/>
            <a:ext cx="7315200" cy="384048"/>
          </a:xfrm>
          <a:prstGeom prst="rect">
            <a:avLst/>
          </a:prstGeom>
          <a:noFill/>
        </p:spPr>
        <p:txBody>
          <a:bodyPr wrap="square">
            <a:spAutoFit/>
          </a:bodyPr>
          <a:lstStyle/>
          <a:p>
            <a:pPr algn="l"/>
            <a:r>
              <a:rPr sz="1300" b="1" i="0">
                <a:solidFill>
                  <a:srgbClr val="F39C12"/>
                </a:solidFill>
              </a:rPr>
              <a:t>🟡  Phase 2 — Medium Term (6 months)</a:t>
            </a:r>
          </a:p>
        </p:txBody>
      </p:sp>
      <p:sp>
        <p:nvSpPr>
          <p:cNvPr id="18" name="TextBox 17"/>
          <p:cNvSpPr txBox="1"/>
          <p:nvPr/>
        </p:nvSpPr>
        <p:spPr>
          <a:xfrm>
            <a:off x="502920" y="3429000"/>
            <a:ext cx="5486400" cy="329184"/>
          </a:xfrm>
          <a:prstGeom prst="rect">
            <a:avLst/>
          </a:prstGeom>
          <a:noFill/>
        </p:spPr>
        <p:txBody>
          <a:bodyPr wrap="square">
            <a:spAutoFit/>
          </a:bodyPr>
          <a:lstStyle/>
          <a:p>
            <a:pPr algn="l"/>
            <a:r>
              <a:rPr sz="1000" b="0" i="0">
                <a:solidFill>
                  <a:srgbClr val="ECF0F1"/>
                </a:solidFill>
              </a:rPr>
              <a:t>▸  Docker Swarm multi-host support</a:t>
            </a:r>
          </a:p>
        </p:txBody>
      </p:sp>
      <p:sp>
        <p:nvSpPr>
          <p:cNvPr id="19" name="TextBox 18"/>
          <p:cNvSpPr txBox="1"/>
          <p:nvPr/>
        </p:nvSpPr>
        <p:spPr>
          <a:xfrm>
            <a:off x="502920" y="3776472"/>
            <a:ext cx="5486400" cy="329184"/>
          </a:xfrm>
          <a:prstGeom prst="rect">
            <a:avLst/>
          </a:prstGeom>
          <a:noFill/>
        </p:spPr>
        <p:txBody>
          <a:bodyPr wrap="square">
            <a:spAutoFit/>
          </a:bodyPr>
          <a:lstStyle/>
          <a:p>
            <a:pPr algn="l"/>
            <a:r>
              <a:rPr sz="1000" b="0" i="0">
                <a:solidFill>
                  <a:srgbClr val="ECF0F1"/>
                </a:solidFill>
              </a:rPr>
              <a:t>▸  Kubernetes cluster integration (kubectl via AI)</a:t>
            </a:r>
          </a:p>
        </p:txBody>
      </p:sp>
      <p:sp>
        <p:nvSpPr>
          <p:cNvPr id="20" name="TextBox 19"/>
          <p:cNvSpPr txBox="1"/>
          <p:nvPr/>
        </p:nvSpPr>
        <p:spPr>
          <a:xfrm>
            <a:off x="502920" y="4123944"/>
            <a:ext cx="5486400" cy="329184"/>
          </a:xfrm>
          <a:prstGeom prst="rect">
            <a:avLst/>
          </a:prstGeom>
          <a:noFill/>
        </p:spPr>
        <p:txBody>
          <a:bodyPr wrap="square">
            <a:spAutoFit/>
          </a:bodyPr>
          <a:lstStyle/>
          <a:p>
            <a:pPr algn="l"/>
            <a:r>
              <a:rPr sz="1000" b="0" i="0">
                <a:solidFill>
                  <a:srgbClr val="ECF0F1"/>
                </a:solidFill>
              </a:rPr>
              <a:t>▸  Role-based access control (Admin / Viewer)</a:t>
            </a:r>
          </a:p>
        </p:txBody>
      </p:sp>
      <p:sp>
        <p:nvSpPr>
          <p:cNvPr id="21" name="TextBox 20"/>
          <p:cNvSpPr txBox="1"/>
          <p:nvPr/>
        </p:nvSpPr>
        <p:spPr>
          <a:xfrm>
            <a:off x="6217920" y="3429000"/>
            <a:ext cx="5486400" cy="329184"/>
          </a:xfrm>
          <a:prstGeom prst="rect">
            <a:avLst/>
          </a:prstGeom>
          <a:noFill/>
        </p:spPr>
        <p:txBody>
          <a:bodyPr wrap="square">
            <a:spAutoFit/>
          </a:bodyPr>
          <a:lstStyle/>
          <a:p>
            <a:pPr algn="l"/>
            <a:r>
              <a:rPr sz="1000" b="0" i="0">
                <a:solidFill>
                  <a:srgbClr val="ECF0F1"/>
                </a:solidFill>
              </a:rPr>
              <a:t>▸  AI-powered auto-healing (restart on crash)</a:t>
            </a:r>
          </a:p>
        </p:txBody>
      </p:sp>
      <p:sp>
        <p:nvSpPr>
          <p:cNvPr id="22" name="TextBox 21"/>
          <p:cNvSpPr txBox="1"/>
          <p:nvPr/>
        </p:nvSpPr>
        <p:spPr>
          <a:xfrm>
            <a:off x="6217920" y="3776472"/>
            <a:ext cx="5486400" cy="329184"/>
          </a:xfrm>
          <a:prstGeom prst="rect">
            <a:avLst/>
          </a:prstGeom>
          <a:noFill/>
        </p:spPr>
        <p:txBody>
          <a:bodyPr wrap="square">
            <a:spAutoFit/>
          </a:bodyPr>
          <a:lstStyle/>
          <a:p>
            <a:pPr algn="l"/>
            <a:r>
              <a:rPr sz="1000" b="0" i="0">
                <a:solidFill>
                  <a:srgbClr val="ECF0F1"/>
                </a:solidFill>
              </a:rPr>
              <a:t>▸  Custom alert thresholds per container</a:t>
            </a:r>
          </a:p>
        </p:txBody>
      </p:sp>
      <p:sp>
        <p:nvSpPr>
          <p:cNvPr id="23" name="Rectangle 22"/>
          <p:cNvSpPr/>
          <p:nvPr/>
        </p:nvSpPr>
        <p:spPr>
          <a:xfrm>
            <a:off x="274320" y="4754880"/>
            <a:ext cx="11612880" cy="16916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4754880"/>
            <a:ext cx="137160" cy="16916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828032"/>
            <a:ext cx="7315200" cy="384048"/>
          </a:xfrm>
          <a:prstGeom prst="rect">
            <a:avLst/>
          </a:prstGeom>
          <a:noFill/>
        </p:spPr>
        <p:txBody>
          <a:bodyPr wrap="square">
            <a:spAutoFit/>
          </a:bodyPr>
          <a:lstStyle/>
          <a:p>
            <a:pPr algn="l"/>
            <a:r>
              <a:rPr sz="1300" b="1" i="0">
                <a:solidFill>
                  <a:srgbClr val="27AE60"/>
                </a:solidFill>
              </a:rPr>
              <a:t>🟢  Phase 3 — Long Term (12 months)</a:t>
            </a:r>
          </a:p>
        </p:txBody>
      </p:sp>
      <p:sp>
        <p:nvSpPr>
          <p:cNvPr id="26" name="TextBox 25"/>
          <p:cNvSpPr txBox="1"/>
          <p:nvPr/>
        </p:nvSpPr>
        <p:spPr>
          <a:xfrm>
            <a:off x="502920" y="5257800"/>
            <a:ext cx="5486400" cy="329184"/>
          </a:xfrm>
          <a:prstGeom prst="rect">
            <a:avLst/>
          </a:prstGeom>
          <a:noFill/>
        </p:spPr>
        <p:txBody>
          <a:bodyPr wrap="square">
            <a:spAutoFit/>
          </a:bodyPr>
          <a:lstStyle/>
          <a:p>
            <a:pPr algn="l"/>
            <a:r>
              <a:rPr sz="1000" b="0" i="0">
                <a:solidFill>
                  <a:srgbClr val="ECF0F1"/>
                </a:solidFill>
              </a:rPr>
              <a:t>▸  Mobile-responsive PWA version</a:t>
            </a:r>
          </a:p>
        </p:txBody>
      </p:sp>
      <p:sp>
        <p:nvSpPr>
          <p:cNvPr id="27" name="TextBox 26"/>
          <p:cNvSpPr txBox="1"/>
          <p:nvPr/>
        </p:nvSpPr>
        <p:spPr>
          <a:xfrm>
            <a:off x="502920" y="5605272"/>
            <a:ext cx="5486400" cy="329184"/>
          </a:xfrm>
          <a:prstGeom prst="rect">
            <a:avLst/>
          </a:prstGeom>
          <a:noFill/>
        </p:spPr>
        <p:txBody>
          <a:bodyPr wrap="square">
            <a:spAutoFit/>
          </a:bodyPr>
          <a:lstStyle/>
          <a:p>
            <a:pPr algn="l"/>
            <a:r>
              <a:rPr sz="1000" b="0" i="0">
                <a:solidFill>
                  <a:srgbClr val="ECF0F1"/>
                </a:solidFill>
              </a:rPr>
              <a:t>▸  CI/CD pipeline integration (GitHub Actions)</a:t>
            </a:r>
          </a:p>
        </p:txBody>
      </p:sp>
      <p:sp>
        <p:nvSpPr>
          <p:cNvPr id="28" name="TextBox 27"/>
          <p:cNvSpPr txBox="1"/>
          <p:nvPr/>
        </p:nvSpPr>
        <p:spPr>
          <a:xfrm>
            <a:off x="502920" y="5952744"/>
            <a:ext cx="5486400" cy="329184"/>
          </a:xfrm>
          <a:prstGeom prst="rect">
            <a:avLst/>
          </a:prstGeom>
          <a:noFill/>
        </p:spPr>
        <p:txBody>
          <a:bodyPr wrap="square">
            <a:spAutoFit/>
          </a:bodyPr>
          <a:lstStyle/>
          <a:p>
            <a:pPr algn="l"/>
            <a:r>
              <a:rPr sz="1000" b="0" i="0">
                <a:solidFill>
                  <a:srgbClr val="ECF0F1"/>
                </a:solidFill>
              </a:rPr>
              <a:t>▸  Multi-cloud support (AWS ECS, GCP, Azure)</a:t>
            </a:r>
          </a:p>
        </p:txBody>
      </p:sp>
      <p:sp>
        <p:nvSpPr>
          <p:cNvPr id="29" name="TextBox 28"/>
          <p:cNvSpPr txBox="1"/>
          <p:nvPr/>
        </p:nvSpPr>
        <p:spPr>
          <a:xfrm>
            <a:off x="6217920" y="5257800"/>
            <a:ext cx="5486400" cy="329184"/>
          </a:xfrm>
          <a:prstGeom prst="rect">
            <a:avLst/>
          </a:prstGeom>
          <a:noFill/>
        </p:spPr>
        <p:txBody>
          <a:bodyPr wrap="square">
            <a:spAutoFit/>
          </a:bodyPr>
          <a:lstStyle/>
          <a:p>
            <a:pPr algn="l"/>
            <a:r>
              <a:rPr sz="1000" b="0" i="0">
                <a:solidFill>
                  <a:srgbClr val="ECF0F1"/>
                </a:solidFill>
              </a:rPr>
              <a:t>▸  AI-powered capacity planning recommendations</a:t>
            </a:r>
          </a:p>
        </p:txBody>
      </p:sp>
      <p:sp>
        <p:nvSpPr>
          <p:cNvPr id="30" name="TextBox 29"/>
          <p:cNvSpPr txBox="1"/>
          <p:nvPr/>
        </p:nvSpPr>
        <p:spPr>
          <a:xfrm>
            <a:off x="6217920" y="5605272"/>
            <a:ext cx="5486400" cy="329184"/>
          </a:xfrm>
          <a:prstGeom prst="rect">
            <a:avLst/>
          </a:prstGeom>
          <a:noFill/>
        </p:spPr>
        <p:txBody>
          <a:bodyPr wrap="square">
            <a:spAutoFit/>
          </a:bodyPr>
          <a:lstStyle/>
          <a:p>
            <a:pPr algn="l"/>
            <a:r>
              <a:rPr sz="1000" b="0" i="0">
                <a:solidFill>
                  <a:srgbClr val="ECF0F1"/>
                </a:solidFill>
              </a:rPr>
              <a:t>▸  Enterprise SSO and audit compliance reports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430000" cy="548640"/>
          </a:xfrm>
          <a:prstGeom prst="rect">
            <a:avLst/>
          </a:prstGeom>
          <a:noFill/>
        </p:spPr>
        <p:txBody>
          <a:bodyPr wrap="square">
            <a:spAutoFit/>
          </a:bodyPr>
          <a:lstStyle/>
          <a:p>
            <a:pPr algn="l"/>
            <a:r>
              <a:rPr sz="2600" b="1" i="0">
                <a:solidFill>
                  <a:srgbClr val="FFFFFF"/>
                </a:solidFill>
              </a:rPr>
              <a:t>🏆  Conclusion</a:t>
            </a:r>
          </a:p>
        </p:txBody>
      </p:sp>
      <p:sp>
        <p:nvSpPr>
          <p:cNvPr id="5" name="Rectangle 4"/>
          <p:cNvSpPr/>
          <p:nvPr/>
        </p:nvSpPr>
        <p:spPr>
          <a:xfrm>
            <a:off x="274320" y="868680"/>
            <a:ext cx="5394960" cy="320040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32688"/>
            <a:ext cx="5120640" cy="384048"/>
          </a:xfrm>
          <a:prstGeom prst="rect">
            <a:avLst/>
          </a:prstGeom>
          <a:noFill/>
        </p:spPr>
        <p:txBody>
          <a:bodyPr wrap="square">
            <a:spAutoFit/>
          </a:bodyPr>
          <a:lstStyle/>
          <a:p>
            <a:pPr algn="l"/>
            <a:r>
              <a:rPr sz="1300" b="1" i="0">
                <a:solidFill>
                  <a:srgbClr val="27AE60"/>
                </a:solidFill>
              </a:rPr>
              <a:t>✅  What We Built</a:t>
            </a:r>
          </a:p>
        </p:txBody>
      </p:sp>
      <p:sp>
        <p:nvSpPr>
          <p:cNvPr id="7" name="TextBox 6"/>
          <p:cNvSpPr txBox="1"/>
          <p:nvPr/>
        </p:nvSpPr>
        <p:spPr>
          <a:xfrm>
            <a:off x="457200" y="1371600"/>
            <a:ext cx="5120640" cy="329184"/>
          </a:xfrm>
          <a:prstGeom prst="rect">
            <a:avLst/>
          </a:prstGeom>
          <a:noFill/>
        </p:spPr>
        <p:txBody>
          <a:bodyPr wrap="square">
            <a:spAutoFit/>
          </a:bodyPr>
          <a:lstStyle/>
          <a:p>
            <a:pPr algn="l"/>
            <a:r>
              <a:rPr sz="1050" b="0" i="0">
                <a:solidFill>
                  <a:srgbClr val="ECF0F1"/>
                </a:solidFill>
              </a:rPr>
              <a:t>✓  Full-stack AI Docker dashboard</a:t>
            </a:r>
          </a:p>
        </p:txBody>
      </p:sp>
      <p:sp>
        <p:nvSpPr>
          <p:cNvPr id="8" name="TextBox 7"/>
          <p:cNvSpPr txBox="1"/>
          <p:nvPr/>
        </p:nvSpPr>
        <p:spPr>
          <a:xfrm>
            <a:off x="457200" y="1709928"/>
            <a:ext cx="5120640" cy="329184"/>
          </a:xfrm>
          <a:prstGeom prst="rect">
            <a:avLst/>
          </a:prstGeom>
          <a:noFill/>
        </p:spPr>
        <p:txBody>
          <a:bodyPr wrap="square">
            <a:spAutoFit/>
          </a:bodyPr>
          <a:lstStyle/>
          <a:p>
            <a:pPr algn="l"/>
            <a:r>
              <a:rPr sz="1050" b="0" i="0">
                <a:solidFill>
                  <a:srgbClr val="ECF0F1"/>
                </a:solidFill>
              </a:rPr>
              <a:t>✓  Natural language container control</a:t>
            </a:r>
          </a:p>
        </p:txBody>
      </p:sp>
      <p:sp>
        <p:nvSpPr>
          <p:cNvPr id="9" name="TextBox 8"/>
          <p:cNvSpPr txBox="1"/>
          <p:nvPr/>
        </p:nvSpPr>
        <p:spPr>
          <a:xfrm>
            <a:off x="457200" y="2048256"/>
            <a:ext cx="5120640" cy="329184"/>
          </a:xfrm>
          <a:prstGeom prst="rect">
            <a:avLst/>
          </a:prstGeom>
          <a:noFill/>
        </p:spPr>
        <p:txBody>
          <a:bodyPr wrap="square">
            <a:spAutoFit/>
          </a:bodyPr>
          <a:lstStyle/>
          <a:p>
            <a:pPr algn="l"/>
            <a:r>
              <a:rPr sz="1050" b="0" i="0">
                <a:solidFill>
                  <a:srgbClr val="ECF0F1"/>
                </a:solidFill>
              </a:rPr>
              <a:t>✓  7-page Streamlit web application</a:t>
            </a:r>
          </a:p>
        </p:txBody>
      </p:sp>
      <p:sp>
        <p:nvSpPr>
          <p:cNvPr id="10" name="TextBox 9"/>
          <p:cNvSpPr txBox="1"/>
          <p:nvPr/>
        </p:nvSpPr>
        <p:spPr>
          <a:xfrm>
            <a:off x="457200" y="2386584"/>
            <a:ext cx="5120640" cy="329184"/>
          </a:xfrm>
          <a:prstGeom prst="rect">
            <a:avLst/>
          </a:prstGeom>
          <a:noFill/>
        </p:spPr>
        <p:txBody>
          <a:bodyPr wrap="square">
            <a:spAutoFit/>
          </a:bodyPr>
          <a:lstStyle/>
          <a:p>
            <a:pPr algn="l"/>
            <a:r>
              <a:rPr sz="1050" b="0" i="0">
                <a:solidFill>
                  <a:srgbClr val="ECF0F1"/>
                </a:solidFill>
              </a:rPr>
              <a:t>✓  ReAct AI agent with step visibility</a:t>
            </a:r>
          </a:p>
        </p:txBody>
      </p:sp>
      <p:sp>
        <p:nvSpPr>
          <p:cNvPr id="11" name="TextBox 10"/>
          <p:cNvSpPr txBox="1"/>
          <p:nvPr/>
        </p:nvSpPr>
        <p:spPr>
          <a:xfrm>
            <a:off x="457200" y="2724912"/>
            <a:ext cx="5120640" cy="329184"/>
          </a:xfrm>
          <a:prstGeom prst="rect">
            <a:avLst/>
          </a:prstGeom>
          <a:noFill/>
        </p:spPr>
        <p:txBody>
          <a:bodyPr wrap="square">
            <a:spAutoFit/>
          </a:bodyPr>
          <a:lstStyle/>
          <a:p>
            <a:pPr algn="l"/>
            <a:r>
              <a:rPr sz="1050" b="0" i="0">
                <a:solidFill>
                  <a:srgbClr val="ECF0F1"/>
                </a:solidFill>
              </a:rPr>
              <a:t>✓  Real-time health monitoring KPIs</a:t>
            </a:r>
          </a:p>
        </p:txBody>
      </p:sp>
      <p:sp>
        <p:nvSpPr>
          <p:cNvPr id="12" name="TextBox 11"/>
          <p:cNvSpPr txBox="1"/>
          <p:nvPr/>
        </p:nvSpPr>
        <p:spPr>
          <a:xfrm>
            <a:off x="457200" y="3063240"/>
            <a:ext cx="5120640" cy="329184"/>
          </a:xfrm>
          <a:prstGeom prst="rect">
            <a:avLst/>
          </a:prstGeom>
          <a:noFill/>
        </p:spPr>
        <p:txBody>
          <a:bodyPr wrap="square">
            <a:spAutoFit/>
          </a:bodyPr>
          <a:lstStyle/>
          <a:p>
            <a:pPr algn="l"/>
            <a:r>
              <a:rPr sz="1050" b="0" i="0">
                <a:solidFill>
                  <a:srgbClr val="ECF0F1"/>
                </a:solidFill>
              </a:rPr>
              <a:t>✓  Plotly analytics &amp; visualizations</a:t>
            </a:r>
          </a:p>
        </p:txBody>
      </p:sp>
      <p:sp>
        <p:nvSpPr>
          <p:cNvPr id="13" name="TextBox 12"/>
          <p:cNvSpPr txBox="1"/>
          <p:nvPr/>
        </p:nvSpPr>
        <p:spPr>
          <a:xfrm>
            <a:off x="457200" y="3401568"/>
            <a:ext cx="5120640" cy="329184"/>
          </a:xfrm>
          <a:prstGeom prst="rect">
            <a:avLst/>
          </a:prstGeom>
          <a:noFill/>
        </p:spPr>
        <p:txBody>
          <a:bodyPr wrap="square">
            <a:spAutoFit/>
          </a:bodyPr>
          <a:lstStyle/>
          <a:p>
            <a:pPr algn="l"/>
            <a:r>
              <a:rPr sz="1050" b="0" i="0">
                <a:solidFill>
                  <a:srgbClr val="ECF0F1"/>
                </a:solidFill>
              </a:rPr>
              <a:t>✓  SQLite audit trail &amp; logging</a:t>
            </a:r>
          </a:p>
        </p:txBody>
      </p:sp>
      <p:sp>
        <p:nvSpPr>
          <p:cNvPr id="14" name="TextBox 13"/>
          <p:cNvSpPr txBox="1"/>
          <p:nvPr/>
        </p:nvSpPr>
        <p:spPr>
          <a:xfrm>
            <a:off x="457200" y="3739896"/>
            <a:ext cx="5120640" cy="329184"/>
          </a:xfrm>
          <a:prstGeom prst="rect">
            <a:avLst/>
          </a:prstGeom>
          <a:noFill/>
        </p:spPr>
        <p:txBody>
          <a:bodyPr wrap="square">
            <a:spAutoFit/>
          </a:bodyPr>
          <a:lstStyle/>
          <a:p>
            <a:pPr algn="l"/>
            <a:r>
              <a:rPr sz="1050" b="0" i="0">
                <a:solidFill>
                  <a:srgbClr val="ECF0F1"/>
                </a:solidFill>
              </a:rPr>
              <a:t>✓  Docker Compose deployment</a:t>
            </a:r>
          </a:p>
        </p:txBody>
      </p:sp>
      <p:sp>
        <p:nvSpPr>
          <p:cNvPr id="15" name="Rectangle 14"/>
          <p:cNvSpPr/>
          <p:nvPr/>
        </p:nvSpPr>
        <p:spPr>
          <a:xfrm>
            <a:off x="5943600" y="868680"/>
            <a:ext cx="5943600" cy="320040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932688"/>
            <a:ext cx="5577840" cy="384048"/>
          </a:xfrm>
          <a:prstGeom prst="rect">
            <a:avLst/>
          </a:prstGeom>
          <a:noFill/>
        </p:spPr>
        <p:txBody>
          <a:bodyPr wrap="square">
            <a:spAutoFit/>
          </a:bodyPr>
          <a:lstStyle/>
          <a:p>
            <a:pPr algn="l"/>
            <a:r>
              <a:rPr sz="1300" b="1" i="0">
                <a:solidFill>
                  <a:srgbClr val="F39C12"/>
                </a:solidFill>
              </a:rPr>
              <a:t>💡  Key Learnings</a:t>
            </a:r>
          </a:p>
        </p:txBody>
      </p:sp>
      <p:sp>
        <p:nvSpPr>
          <p:cNvPr id="17" name="TextBox 16"/>
          <p:cNvSpPr txBox="1"/>
          <p:nvPr/>
        </p:nvSpPr>
        <p:spPr>
          <a:xfrm>
            <a:off x="6126480" y="1371600"/>
            <a:ext cx="5577840" cy="329184"/>
          </a:xfrm>
          <a:prstGeom prst="rect">
            <a:avLst/>
          </a:prstGeom>
          <a:noFill/>
        </p:spPr>
        <p:txBody>
          <a:bodyPr wrap="square">
            <a:spAutoFit/>
          </a:bodyPr>
          <a:lstStyle/>
          <a:p>
            <a:pPr algn="l"/>
            <a:r>
              <a:rPr sz="1050" b="0" i="0">
                <a:solidFill>
                  <a:srgbClr val="ECF0F1"/>
                </a:solidFill>
              </a:rPr>
              <a:t>→  LLMs can bridge technical gaps</a:t>
            </a:r>
          </a:p>
        </p:txBody>
      </p:sp>
      <p:sp>
        <p:nvSpPr>
          <p:cNvPr id="18" name="TextBox 17"/>
          <p:cNvSpPr txBox="1"/>
          <p:nvPr/>
        </p:nvSpPr>
        <p:spPr>
          <a:xfrm>
            <a:off x="6126480" y="1709928"/>
            <a:ext cx="5577840" cy="329184"/>
          </a:xfrm>
          <a:prstGeom prst="rect">
            <a:avLst/>
          </a:prstGeom>
          <a:noFill/>
        </p:spPr>
        <p:txBody>
          <a:bodyPr wrap="square">
            <a:spAutoFit/>
          </a:bodyPr>
          <a:lstStyle/>
          <a:p>
            <a:pPr algn="l"/>
            <a:r>
              <a:rPr sz="1050" b="0" i="0">
                <a:solidFill>
                  <a:srgbClr val="ECF0F1"/>
                </a:solidFill>
              </a:rPr>
              <a:t>→  ReAct agents improve transparency</a:t>
            </a:r>
          </a:p>
        </p:txBody>
      </p:sp>
      <p:sp>
        <p:nvSpPr>
          <p:cNvPr id="19" name="TextBox 18"/>
          <p:cNvSpPr txBox="1"/>
          <p:nvPr/>
        </p:nvSpPr>
        <p:spPr>
          <a:xfrm>
            <a:off x="6126480" y="2048256"/>
            <a:ext cx="5577840" cy="329184"/>
          </a:xfrm>
          <a:prstGeom prst="rect">
            <a:avLst/>
          </a:prstGeom>
          <a:noFill/>
        </p:spPr>
        <p:txBody>
          <a:bodyPr wrap="square">
            <a:spAutoFit/>
          </a:bodyPr>
          <a:lstStyle/>
          <a:p>
            <a:pPr algn="l"/>
            <a:r>
              <a:rPr sz="1050" b="0" i="0">
                <a:solidFill>
                  <a:srgbClr val="ECF0F1"/>
                </a:solidFill>
              </a:rPr>
              <a:t>→  Streamlit enables rapid UI building</a:t>
            </a:r>
          </a:p>
        </p:txBody>
      </p:sp>
      <p:sp>
        <p:nvSpPr>
          <p:cNvPr id="20" name="TextBox 19"/>
          <p:cNvSpPr txBox="1"/>
          <p:nvPr/>
        </p:nvSpPr>
        <p:spPr>
          <a:xfrm>
            <a:off x="6126480" y="2386584"/>
            <a:ext cx="5577840" cy="329184"/>
          </a:xfrm>
          <a:prstGeom prst="rect">
            <a:avLst/>
          </a:prstGeom>
          <a:noFill/>
        </p:spPr>
        <p:txBody>
          <a:bodyPr wrap="square">
            <a:spAutoFit/>
          </a:bodyPr>
          <a:lstStyle/>
          <a:p>
            <a:pPr algn="l"/>
            <a:r>
              <a:rPr sz="1050" b="0" i="0">
                <a:solidFill>
                  <a:srgbClr val="ECF0F1"/>
                </a:solidFill>
              </a:rPr>
              <a:t>→  Docker SDK is powerful &amp; easy</a:t>
            </a:r>
          </a:p>
        </p:txBody>
      </p:sp>
      <p:sp>
        <p:nvSpPr>
          <p:cNvPr id="21" name="TextBox 20"/>
          <p:cNvSpPr txBox="1"/>
          <p:nvPr/>
        </p:nvSpPr>
        <p:spPr>
          <a:xfrm>
            <a:off x="6126480" y="2724912"/>
            <a:ext cx="5577840" cy="329184"/>
          </a:xfrm>
          <a:prstGeom prst="rect">
            <a:avLst/>
          </a:prstGeom>
          <a:noFill/>
        </p:spPr>
        <p:txBody>
          <a:bodyPr wrap="square">
            <a:spAutoFit/>
          </a:bodyPr>
          <a:lstStyle/>
          <a:p>
            <a:pPr algn="l"/>
            <a:r>
              <a:rPr sz="1050" b="0" i="0">
                <a:solidFill>
                  <a:srgbClr val="ECF0F1"/>
                </a:solidFill>
              </a:rPr>
              <a:t>→  Groq provides fast free inference</a:t>
            </a:r>
          </a:p>
        </p:txBody>
      </p:sp>
      <p:sp>
        <p:nvSpPr>
          <p:cNvPr id="22" name="TextBox 21"/>
          <p:cNvSpPr txBox="1"/>
          <p:nvPr/>
        </p:nvSpPr>
        <p:spPr>
          <a:xfrm>
            <a:off x="6126480" y="3063240"/>
            <a:ext cx="5577840" cy="329184"/>
          </a:xfrm>
          <a:prstGeom prst="rect">
            <a:avLst/>
          </a:prstGeom>
          <a:noFill/>
        </p:spPr>
        <p:txBody>
          <a:bodyPr wrap="square">
            <a:spAutoFit/>
          </a:bodyPr>
          <a:lstStyle/>
          <a:p>
            <a:pPr algn="l"/>
            <a:r>
              <a:rPr sz="1050" b="0" i="0">
                <a:solidFill>
                  <a:srgbClr val="ECF0F1"/>
                </a:solidFill>
              </a:rPr>
              <a:t>→  Audit logging is critical for trust</a:t>
            </a:r>
          </a:p>
        </p:txBody>
      </p:sp>
      <p:sp>
        <p:nvSpPr>
          <p:cNvPr id="23" name="TextBox 22"/>
          <p:cNvSpPr txBox="1"/>
          <p:nvPr/>
        </p:nvSpPr>
        <p:spPr>
          <a:xfrm>
            <a:off x="6126480" y="3401568"/>
            <a:ext cx="5577840" cy="329184"/>
          </a:xfrm>
          <a:prstGeom prst="rect">
            <a:avLst/>
          </a:prstGeom>
          <a:noFill/>
        </p:spPr>
        <p:txBody>
          <a:bodyPr wrap="square">
            <a:spAutoFit/>
          </a:bodyPr>
          <a:lstStyle/>
          <a:p>
            <a:pPr algn="l"/>
            <a:r>
              <a:rPr sz="1050" b="0" i="0">
                <a:solidFill>
                  <a:srgbClr val="ECF0F1"/>
                </a:solidFill>
              </a:rPr>
              <a:t>→  Light theme improves usability</a:t>
            </a:r>
          </a:p>
        </p:txBody>
      </p:sp>
      <p:sp>
        <p:nvSpPr>
          <p:cNvPr id="24" name="TextBox 23"/>
          <p:cNvSpPr txBox="1"/>
          <p:nvPr/>
        </p:nvSpPr>
        <p:spPr>
          <a:xfrm>
            <a:off x="6126480" y="3739896"/>
            <a:ext cx="5577840" cy="329184"/>
          </a:xfrm>
          <a:prstGeom prst="rect">
            <a:avLst/>
          </a:prstGeom>
          <a:noFill/>
        </p:spPr>
        <p:txBody>
          <a:bodyPr wrap="square">
            <a:spAutoFit/>
          </a:bodyPr>
          <a:lstStyle/>
          <a:p>
            <a:pPr algn="l"/>
            <a:r>
              <a:rPr sz="1050" b="0" i="0">
                <a:solidFill>
                  <a:srgbClr val="ECF0F1"/>
                </a:solidFill>
              </a:rPr>
              <a:t>→  Modular code scales easily</a:t>
            </a:r>
          </a:p>
        </p:txBody>
      </p:sp>
      <p:sp>
        <p:nvSpPr>
          <p:cNvPr id="25" name="Rectangle 24"/>
          <p:cNvSpPr/>
          <p:nvPr/>
        </p:nvSpPr>
        <p:spPr>
          <a:xfrm>
            <a:off x="274320" y="4206240"/>
            <a:ext cx="11612880" cy="182880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279392"/>
            <a:ext cx="11247120" cy="548640"/>
          </a:xfrm>
          <a:prstGeom prst="rect">
            <a:avLst/>
          </a:prstGeom>
          <a:noFill/>
        </p:spPr>
        <p:txBody>
          <a:bodyPr wrap="square">
            <a:spAutoFit/>
          </a:bodyPr>
          <a:lstStyle/>
          <a:p>
            <a:pPr algn="ctr"/>
            <a:r>
              <a:rPr sz="2600" b="1" i="0">
                <a:solidFill>
                  <a:srgbClr val="FFFFFF"/>
                </a:solidFill>
              </a:rPr>
              <a:t>🐳  Thank You!</a:t>
            </a:r>
          </a:p>
        </p:txBody>
      </p:sp>
      <p:sp>
        <p:nvSpPr>
          <p:cNvPr id="27" name="TextBox 26"/>
          <p:cNvSpPr txBox="1"/>
          <p:nvPr/>
        </p:nvSpPr>
        <p:spPr>
          <a:xfrm>
            <a:off x="457200" y="4846320"/>
            <a:ext cx="11247120" cy="457200"/>
          </a:xfrm>
          <a:prstGeom prst="rect">
            <a:avLst/>
          </a:prstGeom>
          <a:noFill/>
        </p:spPr>
        <p:txBody>
          <a:bodyPr wrap="square">
            <a:spAutoFit/>
          </a:bodyPr>
          <a:lstStyle/>
          <a:p>
            <a:pPr algn="ctr"/>
            <a:r>
              <a:rPr sz="1400" b="0" i="1">
                <a:solidFill>
                  <a:srgbClr val="27AE60"/>
                </a:solidFill>
              </a:rPr>
              <a:t>AI Docker NL Health Dashboard — Making Docker accessible to everyone through AI</a:t>
            </a:r>
          </a:p>
        </p:txBody>
      </p:sp>
      <p:sp>
        <p:nvSpPr>
          <p:cNvPr id="28" name="Rectangle 27"/>
          <p:cNvSpPr/>
          <p:nvPr/>
        </p:nvSpPr>
        <p:spPr>
          <a:xfrm>
            <a:off x="274320" y="5623560"/>
            <a:ext cx="5394960" cy="8229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669280"/>
            <a:ext cx="5120640" cy="320040"/>
          </a:xfrm>
          <a:prstGeom prst="rect">
            <a:avLst/>
          </a:prstGeom>
          <a:noFill/>
        </p:spPr>
        <p:txBody>
          <a:bodyPr wrap="square">
            <a:spAutoFit/>
          </a:bodyPr>
          <a:lstStyle/>
          <a:p>
            <a:pPr algn="l"/>
            <a:r>
              <a:rPr sz="1100" b="1" i="0">
                <a:solidFill>
                  <a:srgbClr val="27AE60"/>
                </a:solidFill>
              </a:rPr>
              <a:t>📁  GitHub Repository</a:t>
            </a:r>
          </a:p>
        </p:txBody>
      </p:sp>
      <p:sp>
        <p:nvSpPr>
          <p:cNvPr id="30" name="TextBox 29"/>
          <p:cNvSpPr txBox="1"/>
          <p:nvPr/>
        </p:nvSpPr>
        <p:spPr>
          <a:xfrm>
            <a:off x="457200" y="5989320"/>
            <a:ext cx="5120640" cy="320040"/>
          </a:xfrm>
          <a:prstGeom prst="rect">
            <a:avLst/>
          </a:prstGeom>
          <a:noFill/>
        </p:spPr>
        <p:txBody>
          <a:bodyPr wrap="square">
            <a:spAutoFit/>
          </a:bodyPr>
          <a:lstStyle/>
          <a:p>
            <a:pPr algn="l"/>
            <a:r>
              <a:rPr sz="1000" b="0" i="0">
                <a:solidFill>
                  <a:srgbClr val="ECF0F1"/>
                </a:solidFill>
              </a:rPr>
              <a:t>github.com/Naveen-300/Docker_NL_Health_Dashboard</a:t>
            </a:r>
          </a:p>
        </p:txBody>
      </p:sp>
      <p:sp>
        <p:nvSpPr>
          <p:cNvPr id="31" name="Rectangle 30"/>
          <p:cNvSpPr/>
          <p:nvPr/>
        </p:nvSpPr>
        <p:spPr>
          <a:xfrm>
            <a:off x="5943600" y="5623560"/>
            <a:ext cx="5943600" cy="8229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26480" y="5669280"/>
            <a:ext cx="5577840" cy="320040"/>
          </a:xfrm>
          <a:prstGeom prst="rect">
            <a:avLst/>
          </a:prstGeom>
          <a:noFill/>
        </p:spPr>
        <p:txBody>
          <a:bodyPr wrap="square">
            <a:spAutoFit/>
          </a:bodyPr>
          <a:lstStyle/>
          <a:p>
            <a:pPr algn="l"/>
            <a:r>
              <a:rPr sz="1100" b="1" i="0">
                <a:solidFill>
                  <a:srgbClr val="27AE60"/>
                </a:solidFill>
              </a:rPr>
              <a:t>🌐  Live App</a:t>
            </a:r>
          </a:p>
        </p:txBody>
      </p:sp>
      <p:sp>
        <p:nvSpPr>
          <p:cNvPr id="33" name="TextBox 32"/>
          <p:cNvSpPr txBox="1"/>
          <p:nvPr/>
        </p:nvSpPr>
        <p:spPr>
          <a:xfrm>
            <a:off x="6126480" y="5989320"/>
            <a:ext cx="5577840" cy="320040"/>
          </a:xfrm>
          <a:prstGeom prst="rect">
            <a:avLst/>
          </a:prstGeom>
          <a:noFill/>
        </p:spPr>
        <p:txBody>
          <a:bodyPr wrap="square">
            <a:spAutoFit/>
          </a:bodyPr>
          <a:lstStyle/>
          <a:p>
            <a:pPr algn="l"/>
            <a:r>
              <a:rPr sz="1000" b="0" i="0">
                <a:solidFill>
                  <a:srgbClr val="ECF0F1"/>
                </a:solidFill>
              </a:rPr>
              <a:t>http://localhost:8501  •  Powered by Groq AI + Streamlit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